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352648" y="3429000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7512" y="3483864"/>
            <a:ext cx="537667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정수기 옆에 펭귄이 지키고 선 이미지 ]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생애가치가 높다. 한번 선택하면 오래 이어지기 때문에, 첫 구매를 잡으려면 이들이 관심 있어 하는 제품으로 청호나이스에 진입시켜야 한다.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만들어야 할 전환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요약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번거로운 준비 과정을 없애는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‘매니저 펭귄’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캐릭터 브랜딩 전략.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· 준비의 문제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268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커피에 반복 지출하는 독립 2030 — 생수를 사고 아이스커피를 매일 마시는 1~2인 가구.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3268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물, 얼음, 커피를 각각 사서 만들어야 하는 번거로운 준비 루틴.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통합한 에스프레카페 — 세 가지 준비를 한 기기로 끝낸다.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546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459736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 · 아아 준비를 없애는 매니저, 펭귄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3048" y="2907792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35928" y="281635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캐릭터 중심의 광고·SNS·팝업스토어.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53048" y="3474720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35928" y="33832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다른 콘텐츠가 하나의 캐릭터 서사로 쌓인다.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53048" y="4041648"/>
            <a:ext cx="64008" cy="64008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35928" y="395020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청호나이스가 만든 캐릭터 자산을 다시 활용한다.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0" y="4626864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61208" y="4956048"/>
            <a:ext cx="5669280" cy="548640"/>
          </a:xfrm>
          <a:prstGeom prst="roundRect">
            <a:avLst>
              <a:gd name="adj" fmla="val 16667"/>
            </a:avLst>
          </a:prstGeom>
          <a:solidFill>
            <a:srgbClr val="0057FF"/>
          </a:solidFill>
          <a:ln/>
        </p:spPr>
      </p:sp>
      <p:sp>
        <p:nvSpPr>
          <p:cNvPr id="23" name="Text 21"/>
          <p:cNvSpPr/>
          <p:nvPr/>
        </p:nvSpPr>
        <p:spPr>
          <a:xfrm>
            <a:off x="3261208" y="495604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렌탈 브랜드의 적합도와 구매 유도 확대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 광고는 다르지만,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코OO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SKOO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쿠OO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LGOO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콘텐츠의 방향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01 ]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41116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5980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02 ]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23864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78728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03 ]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06611" y="2148840"/>
            <a:ext cx="2526716" cy="2194560"/>
          </a:xfrm>
          <a:prstGeom prst="roundRect">
            <a:avLst>
              <a:gd name="adj" fmla="val 3750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061475" y="2203704"/>
            <a:ext cx="241698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영상 04 ]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4617720"/>
            <a:ext cx="10874959" cy="914400"/>
          </a:xfrm>
          <a:prstGeom prst="roundRect">
            <a:avLst>
              <a:gd name="adj" fmla="val 9000"/>
            </a:avLst>
          </a:prstGeom>
          <a:solidFill>
            <a:srgbClr val="F5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886968" y="4764024"/>
            <a:ext cx="104177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청호나이스는 숏폼과 AI 콘텐츠를 적극적으로 만들고 있다. 문제는 형식이 아니라 축적이다. 콘텐츠마다 말이 달라, 2030이 제품을 선택해야 할 이유가 하나의 브랜드 인상으로 남지 않는다.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41116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23864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06611" y="1828800"/>
            <a:ext cx="2526716" cy="2377440"/>
          </a:xfrm>
          <a:prstGeom prst="roundRect">
            <a:avLst>
              <a:gd name="adj" fmla="val 3462"/>
            </a:avLst>
          </a:prstGeom>
          <a:solidFill>
            <a:srgbClr val="E7E7EA"/>
          </a:solidFill>
          <a:ln w="12700">
            <a:solidFill>
              <a:srgbClr val="DEDE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만들기 전에,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것을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묶을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수 있다.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788920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5572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광고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3360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70564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4800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역사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08352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45556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9792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커피얼음정수기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83344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0547" y="2738628"/>
            <a:ext cx="100584" cy="100584"/>
          </a:xfrm>
          <a:prstGeom prst="ellipse">
            <a:avLst/>
          </a:prstGeom>
          <a:solidFill>
            <a:srgbClr val="0057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74784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58335" y="2404872"/>
            <a:ext cx="217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395539" y="2738628"/>
            <a:ext cx="100584" cy="100584"/>
          </a:xfrm>
          <a:prstGeom prst="ellipse">
            <a:avLst/>
          </a:prstGeom>
          <a:solidFill>
            <a:srgbClr val="1E9BE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49775" y="2935224"/>
            <a:ext cx="199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마스코트 시스템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4160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이미 가진 자산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정수·얼음·커피 올인원 제품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75888" y="4526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자동 세척과 위생 관리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과거 펭귄 광고 캐릭터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75888" y="48554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휘카페·캡슐·멤버십 접점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601407" y="4160520"/>
            <a:ext cx="182880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656271" y="4215384"/>
            <a:ext cx="17190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펭귄 캐릭터 ]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13087" y="4160520"/>
            <a:ext cx="1920240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67951" y="4215384"/>
            <a:ext cx="18105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에스프레카페 제품 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최초’·판매량·렌탈료 표현은 최종 제출 전 공식 자료와 날짜로 재확인.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볼 사람은 ‘2030’이 아니라,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생활자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생산성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커피를 마시는 데보다,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준비하는 데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더 많은 행동을 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10874959" cy="0"/>
          </a:xfrm>
          <a:prstGeom prst="line">
            <a:avLst/>
          </a:prstGeom>
          <a:noFill/>
          <a:ln w="25400">
            <a:solidFill>
              <a:srgbClr val="0057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물·영양제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491463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9" name="Text 7"/>
          <p:cNvSpPr/>
          <p:nvPr/>
        </p:nvSpPr>
        <p:spPr>
          <a:xfrm>
            <a:off x="247086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출근길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47086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테이크아웃 커피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03956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/>
          <p:nvPr/>
        </p:nvSpPr>
        <p:spPr>
          <a:xfrm>
            <a:off x="428335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8335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 중 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5848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아이스커피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5790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002094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8" name="Text 16"/>
          <p:cNvSpPr/>
          <p:nvPr/>
        </p:nvSpPr>
        <p:spPr>
          <a:xfrm>
            <a:off x="7908341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908341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운동 후 냉수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741435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20834" y="2642616"/>
            <a:ext cx="18124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주말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720834" y="2843784"/>
            <a:ext cx="18124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주문·재활용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80777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27081" y="322783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0690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행동에서 반복되는 마찰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4408" y="4123944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주문·운반·보관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카페 방문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836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얼음 트레이 관리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767328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캡슐·머신 세척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필터·위생 걱정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767328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여러 기기의 공간 점유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59168" y="4069080"/>
            <a:ext cx="4474159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4251960"/>
            <a:ext cx="4016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“집에서 마시려고 머신은 샀는데, 얼음 없으면 결국 편의점에 가요.”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종료 후 팀 문장을 실제 응답자 발화로 교체. 마찰 지점 개수는 관찰 기록 반영.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브랜드가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캐릭터 마케팅의 효과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현대화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펭귄을 선택한 이유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재정의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주목을 </a:t>
            </a:r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빌리고</a:t>
            </a:r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</a:t>
            </a:r>
            <a:endParaRPr lang="en-US" sz="25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캐릭터는 자산을 </a:t>
            </a:r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쌓는다</a:t>
            </a:r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408176" y="2395728"/>
            <a:ext cx="15224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· 빌린다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930652" y="2395728"/>
            <a:ext cx="15224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 · 가진다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58368" y="2670048"/>
            <a:ext cx="379476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기간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08176" y="2761488"/>
            <a:ext cx="14310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기간에만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30652" y="2761488"/>
            <a:ext cx="14310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끝나는 계약이 없다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" y="3163824"/>
            <a:ext cx="3794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2644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독점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08176" y="3218688"/>
            <a:ext cx="14310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브랜드에도 나온다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30652" y="3218688"/>
            <a:ext cx="14310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우리만 쓴다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8368" y="3621024"/>
            <a:ext cx="3794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7216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것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08176" y="3675888"/>
            <a:ext cx="14310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주목이 그 사람에게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930652" y="3675888"/>
            <a:ext cx="14310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주목이 브랜드에 쌓인다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01768" y="2084832"/>
            <a:ext cx="6531559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202936" y="2212848"/>
            <a:ext cx="61292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조사는 무엇인가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02936" y="2450592"/>
            <a:ext cx="61292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효과 조사기관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01768" y="319125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611112" y="3218688"/>
            <a:ext cx="4410151" cy="256032"/>
          </a:xfrm>
          <a:prstGeom prst="roundRect">
            <a:avLst>
              <a:gd name="adj" fmla="val 19643"/>
            </a:avLst>
          </a:prstGeom>
          <a:solidFill>
            <a:srgbClr val="F0F0F0"/>
          </a:solidFill>
          <a:ln/>
        </p:spPr>
      </p:sp>
      <p:sp>
        <p:nvSpPr>
          <p:cNvPr id="24" name="Shape 22"/>
          <p:cNvSpPr/>
          <p:nvPr/>
        </p:nvSpPr>
        <p:spPr>
          <a:xfrm>
            <a:off x="6611112" y="3218688"/>
            <a:ext cx="1620056" cy="256032"/>
          </a:xfrm>
          <a:prstGeom prst="roundRect">
            <a:avLst>
              <a:gd name="adj" fmla="val 19643"/>
            </a:avLst>
          </a:prstGeom>
          <a:solidFill>
            <a:srgbClr val="BFC0C4"/>
          </a:solidFill>
          <a:ln/>
        </p:spPr>
      </p:sp>
      <p:sp>
        <p:nvSpPr>
          <p:cNvPr id="25" name="Text 23"/>
          <p:cNvSpPr/>
          <p:nvPr/>
        </p:nvSpPr>
        <p:spPr>
          <a:xfrm>
            <a:off x="11094415" y="32186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01768" y="357530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11112" y="3602736"/>
            <a:ext cx="4410151" cy="256032"/>
          </a:xfrm>
          <a:prstGeom prst="roundRect">
            <a:avLst>
              <a:gd name="adj" fmla="val 19643"/>
            </a:avLst>
          </a:prstGeom>
          <a:solidFill>
            <a:srgbClr val="F0F0F0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1112" y="3602736"/>
            <a:ext cx="1620056" cy="256032"/>
          </a:xfrm>
          <a:prstGeom prst="roundRect">
            <a:avLst>
              <a:gd name="adj" fmla="val 19643"/>
            </a:avLst>
          </a:prstGeom>
          <a:solidFill>
            <a:srgbClr val="BFC0C4"/>
          </a:solidFill>
          <a:ln/>
        </p:spPr>
      </p:sp>
      <p:sp>
        <p:nvSpPr>
          <p:cNvPr id="29" name="Text 27"/>
          <p:cNvSpPr/>
          <p:nvPr/>
        </p:nvSpPr>
        <p:spPr>
          <a:xfrm>
            <a:off x="11094415" y="360273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001768" y="3959352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11112" y="3986784"/>
            <a:ext cx="4410151" cy="256032"/>
          </a:xfrm>
          <a:prstGeom prst="roundRect">
            <a:avLst>
              <a:gd name="adj" fmla="val 19643"/>
            </a:avLst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6611112" y="3986784"/>
            <a:ext cx="2430083" cy="256032"/>
          </a:xfrm>
          <a:prstGeom prst="roundRect">
            <a:avLst>
              <a:gd name="adj" fmla="val 19643"/>
            </a:avLst>
          </a:prstGeom>
          <a:solidFill>
            <a:srgbClr val="0057FF"/>
          </a:solidFill>
          <a:ln/>
        </p:spPr>
      </p:sp>
      <p:sp>
        <p:nvSpPr>
          <p:cNvPr id="33" name="Text 31"/>
          <p:cNvSpPr/>
          <p:nvPr/>
        </p:nvSpPr>
        <p:spPr>
          <a:xfrm>
            <a:off x="11094415" y="398678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611112" y="431596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510783" y="431596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410454" y="431596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310125" y="431596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12553" y="431596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58368" y="4956048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쓴다는 사실만으로는 차이가 없었다. 차이를 만든 건 브랜드가 반복해서 쓰는 캐릭터였다.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58368" y="54132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이 카테고리는 연예인 모델 중심이다 — 소유된 캐릭터 자산은 아직 비어 있다.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58368" y="590702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 · 미국 슈퍼볼 광고 2020~2023 분석. 캐릭터는 통상 3년 정도 일관되게 써야 효과가 측정된다.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모범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두꺼비는 복원된 것이 아니라,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지금의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다시 배치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됐다.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연구가 말하는 성공 조건 —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‘과거의 의미 + 지금의 기능’의 결합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두꺼비는 이 조건을 그대로 밟았다.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944368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F5F5F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0266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99616" y="3017520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진로 상표의 두꺼비. 장수와 복을 뜻하는 상징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3566160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F5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4845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1990년대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99616" y="3639312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‘골드’ 시대를 지나며 사용 중단. 사실상 잠든 자산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4187952"/>
            <a:ext cx="2788920" cy="530352"/>
          </a:xfrm>
          <a:prstGeom prst="roundRect">
            <a:avLst>
              <a:gd name="adj" fmla="val 15517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427024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2019.4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499616" y="4261104"/>
            <a:ext cx="1801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‘진로 이즈백’으로 부활 — 겨냥한 세대는 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41" name="Text 39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187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가지고 있는 자산이다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246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3651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기능과 의미가 맞는다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6187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기능을 하나의 역할로 번역한다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246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3651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이후에도 계속 쓸 수 있다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7824" y="2340864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캐릭터를 빌리거나 새로 만드는 것보다, 청호나이스의 얼음정수기 역사와 연결할 수 있다.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7824" y="2834640"/>
            <a:ext cx="486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인지도는 조사 전이므로 “2030이 모두 기억하는 캐릭터”가 아니라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“청호나이스가 보유한 과거 광고 자산 후보”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말한다.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52464" y="2340864"/>
            <a:ext cx="486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52464" y="2651760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2464" y="2651760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91960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1960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45756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45756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99552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99552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52464" y="3035808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캐릭터를 가져온 것이 아니라, 얼음정수기의 핵심 기능과 자연스럽게 연결되는 캐릭터다.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77824" y="4306824"/>
            <a:ext cx="486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기능별로 설명하면 복잡하다. 펭귄의 역할 하나로 압축한다.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" y="4745736"/>
            <a:ext cx="4861408" cy="329184"/>
          </a:xfrm>
          <a:prstGeom prst="roundRect">
            <a:avLst>
              <a:gd name="adj" fmla="val 16667"/>
            </a:avLst>
          </a:prstGeom>
          <a:solidFill>
            <a:srgbClr val="EA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877824" y="4745736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" y="5129784"/>
            <a:ext cx="486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별개인 장식이 아니라, 에스프레카페의 올인원 기능을 의인화한 존재다.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52464" y="4306824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주목도를 만들지만, 마스코트는 여러 채널에 축적된다.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52464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52464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광고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34860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4860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 숏폼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331556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1556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계산기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328252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8252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안내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210648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10648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가이드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52464" y="4965192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52464" y="4965192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4860" y="4965192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4860" y="4965192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988656" y="4965192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88656" y="4965192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58368" y="5742432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" y="574243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926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과거 펭귄 광고 스틸 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32688" y="41788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08813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32688" y="450799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8813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" y="483717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8813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44388" y="34290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347308" y="2194560"/>
            <a:ext cx="5186020" cy="2926080"/>
          </a:xfrm>
          <a:prstGeom prst="roundRect">
            <a:avLst>
              <a:gd name="adj" fmla="val 2813"/>
            </a:avLst>
          </a:prstGeom>
          <a:solidFill>
            <a:srgbClr val="191919"/>
          </a:solidFill>
          <a:ln/>
        </p:spPr>
      </p:sp>
      <p:sp>
        <p:nvSpPr>
          <p:cNvPr id="17" name="Text 15"/>
          <p:cNvSpPr/>
          <p:nvPr/>
        </p:nvSpPr>
        <p:spPr>
          <a:xfrm>
            <a:off x="6603340" y="2377440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03340" y="2697480"/>
            <a:ext cx="4673956" cy="1234440"/>
          </a:xfrm>
          <a:prstGeom prst="roundRect">
            <a:avLst>
              <a:gd name="adj" fmla="val 6667"/>
            </a:avLst>
          </a:prstGeom>
          <a:solidFill>
            <a:srgbClr val="26262B"/>
          </a:solidFill>
          <a:ln w="12700">
            <a:solidFill>
              <a:srgbClr val="303036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8204" y="2752344"/>
            <a:ext cx="45642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6D7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현대화 펭귄 시안 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1628" y="4178808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77076" y="4096512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1628" y="450799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21"/>
          <p:cNvSpPr/>
          <p:nvPr/>
        </p:nvSpPr>
        <p:spPr>
          <a:xfrm>
            <a:off x="6777076" y="442569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21628" y="483717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77076" y="475488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5340096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5440680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0" y="5650992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기억되는가보다 중요한 건,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청호나이스답게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작동하는가.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쓰는 근거는 ‘기억’이 아니라 ‘적합’이다. 그래서 조사 결과가 어느 쪽이든 실행은 멈추지 않는다.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2542032"/>
            <a:ext cx="10874959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66090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조사에서 확인할 것 · 1문항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8895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청호나이스의 과거 펭귄 광고를 기억하는가?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0" y="340156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3950208"/>
            <a:ext cx="1431036" cy="25603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14310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A · 기억한다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77824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77824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 세운다. ‘그 펭귄이 돌아왔다’를 캠페인 진입 후크로 쓴다.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2152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1608" y="3950208"/>
            <a:ext cx="1851660" cy="256032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1608" y="3950208"/>
            <a:ext cx="18516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B · 기억하지 못한다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61608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1608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헤리티지는 브랜드 스토리로만 남기고, 지금의 역할(준비 매니저)로 처음 소개한다.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532180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4315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결과는 표현 방식을 정할 뿐,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전략의 방향을 바꾸지 않는다.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13248" y="5541264"/>
            <a:ext cx="5845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경우 모두 그대로 간다 — 펭귄의 역할 정의 · 캠페인 구조(발견 → 관계) · 제품 메시지(준비를 끝내주는 가전)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측정은 구별 자산(Distinctive Brand Assets)의 두 축 — 인지도와 고유성 — 을 따른다(Romaniuk, Ehrenberg-Bass). 지표: 비보조 펭귄 회상률 · 청호나이스 연결률 · 얼음정수기 연상 · 현대화 시안 선호 · 노출 전후 제품 관심 · 프리미엄 이미지 훼손 우려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2026-07-27T06:05:56Z</dcterms:created>
  <dcterms:modified xsi:type="dcterms:W3CDTF">2026-07-27T06:05:56Z</dcterms:modified>
</cp:coreProperties>
</file>