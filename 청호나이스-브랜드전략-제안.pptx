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Default Extension="fntdata" ContentType="application/x-fontdata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0" embedTrueType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embeddedFontLst>
    <p:embeddedFont>
      <p:font typeface="Pretendard"/>
      <p:regular r:id="rId35"/>
      <p:bold r:id="rId36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Relationship Id="rId35" Type="http://schemas.openxmlformats.org/officeDocument/2006/relationships/font" Target="fonts/font1.fntdata"/><Relationship Id="rId36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오준상 · 이민욱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961327" y="6583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· 브랜드 커뮤니케이션 전략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0" y="1417320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0" y="1783080"/>
            <a:ext cx="1219169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54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루틴은 내가,</a:t>
            </a:r>
            <a:endParaRPr lang="en-US" sz="4600" dirty="0"/>
          </a:p>
          <a:p>
            <a:pPr algn="ctr" indent="0" marL="0">
              <a:lnSpc>
                <a:spcPts val="54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준비는 </a:t>
            </a:r>
            <a:pPr algn="ctr" indent="0" marL="0">
              <a:lnSpc>
                <a:spcPts val="5400"/>
              </a:lnSpc>
              <a:buNone/>
            </a:pPr>
            <a:r>
              <a:rPr lang="en-US" sz="4600" b="1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</a:t>
            </a:r>
            <a:pPr algn="ctr" indent="0" marL="0">
              <a:lnSpc>
                <a:spcPts val="54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가.</a:t>
            </a:r>
            <a:endParaRPr lang="en-US" sz="4600" dirty="0"/>
          </a:p>
        </p:txBody>
      </p:sp>
      <p:sp>
        <p:nvSpPr>
          <p:cNvPr id="6" name="Shape 4"/>
          <p:cNvSpPr/>
          <p:nvPr/>
        </p:nvSpPr>
        <p:spPr>
          <a:xfrm>
            <a:off x="3352648" y="3429000"/>
            <a:ext cx="5486400" cy="2148840"/>
          </a:xfrm>
          <a:prstGeom prst="roundRect">
            <a:avLst>
              <a:gd name="adj" fmla="val 3830"/>
            </a:avLst>
          </a:prstGeom>
          <a:solidFill>
            <a:srgbClr val="26262B"/>
          </a:solidFill>
          <a:ln w="12700">
            <a:solidFill>
              <a:srgbClr val="303036"/>
            </a:solidFill>
            <a:prstDash val="solid"/>
          </a:ln>
          <a:effectLst>
            <a:outerShdw sx="100000" sy="100000" kx="0" ky="0" algn="bl" rotWithShape="0" blurRad="203200" dist="63500" dir="5400000">
              <a:srgbClr val="191919">
                <a:alpha val="24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3407512" y="3483864"/>
            <a:ext cx="5376672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C6D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에스프레카페 정수기 옆에 펭귄이 지키고 선 이미지 ]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58368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© 2026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961327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Brand Communication Strategy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과제 정의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42416"/>
            <a:ext cx="1087495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27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젊은 고객의 </a:t>
            </a:r>
            <a:pPr indent="0" marL="0">
              <a:lnSpc>
                <a:spcPts val="3400"/>
              </a:lnSpc>
              <a:buNone/>
            </a:pPr>
            <a:r>
              <a:rPr lang="en-US" sz="27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첫번째 정수기</a:t>
            </a:r>
            <a:pPr indent="0" marL="0">
              <a:lnSpc>
                <a:spcPts val="3400"/>
              </a:lnSpc>
              <a:buNone/>
            </a:pPr>
            <a:r>
              <a:rPr lang="en-US" sz="27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</a:t>
            </a:r>
            <a:endParaRPr lang="en-US" sz="27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27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되기 위해.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58368" y="2148840"/>
            <a:ext cx="1087495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2030은 생애가치가 높다. 한번 선택하면 오래 이어지기 때문에, 첫 구매를 잡으려면 이들이 관심 있어 하는 제품으로 청호나이스에 진입시켜야 한다.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58368" y="2788920"/>
            <a:ext cx="5254600" cy="1325880"/>
          </a:xfrm>
          <a:prstGeom prst="roundRect">
            <a:avLst>
              <a:gd name="adj" fmla="val 6207"/>
            </a:avLst>
          </a:prstGeom>
          <a:solidFill>
            <a:srgbClr val="F5F5F7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990088"/>
            <a:ext cx="479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현재 과제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14400" y="3337560"/>
            <a:ext cx="4742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신제품과 브랜드를 2030에게 효과적으로 알리는 것.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278728" y="2788920"/>
            <a:ext cx="5254600" cy="1325880"/>
          </a:xfrm>
          <a:prstGeom prst="roundRect">
            <a:avLst>
              <a:gd name="adj" fmla="val 6207"/>
            </a:avLst>
          </a:prstGeom>
          <a:solidFill>
            <a:srgbClr val="EAF1FF"/>
          </a:solidFill>
          <a:ln w="19050">
            <a:solidFill>
              <a:srgbClr val="0057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34760" y="2990088"/>
            <a:ext cx="479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우리의 재해석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534760" y="3337560"/>
            <a:ext cx="47425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청호나이스를 부모님 집에서 보던 정수기에서, 내가 처음 고려하는 생활가전으로 전환하는 것.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0" y="4663440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우리가 만들어야 할 전환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465680" y="5047488"/>
            <a:ext cx="118872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E8E8E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465680" y="5047488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 노출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654400" y="5047488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4020160" y="5047488"/>
            <a:ext cx="1481328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E8E8E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020160" y="5047488"/>
            <a:ext cx="1481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 관련성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501488" y="5047488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5867248" y="5047488"/>
            <a:ext cx="118872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E8E8E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867248" y="5047488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 이해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055968" y="5047488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7421728" y="5047488"/>
            <a:ext cx="749808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E8E8E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21728" y="5047488"/>
            <a:ext cx="749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체험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171536" y="5047488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8537296" y="5047488"/>
            <a:ext cx="1188720" cy="457200"/>
          </a:xfrm>
          <a:prstGeom prst="roundRect">
            <a:avLst>
              <a:gd name="adj" fmla="val 50000"/>
            </a:avLst>
          </a:prstGeom>
          <a:solidFill>
            <a:srgbClr val="0057FF"/>
          </a:solidFill>
          <a:ln/>
        </p:spPr>
      </p:sp>
      <p:sp>
        <p:nvSpPr>
          <p:cNvPr id="26" name="Text 24"/>
          <p:cNvSpPr/>
          <p:nvPr/>
        </p:nvSpPr>
        <p:spPr>
          <a:xfrm>
            <a:off x="8537296" y="5047488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렌탈 고려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전략 요약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24128"/>
            <a:ext cx="1087495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번거로운 준비 과정을 없애는</a:t>
            </a:r>
            <a:endParaRPr lang="en-US" sz="23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‘매니저 펭귄’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캐릭터 브랜딩 전략.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658368" y="2240280"/>
            <a:ext cx="5254600" cy="233172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459736"/>
            <a:ext cx="479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 · 준비의 문제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32688" y="2907792"/>
            <a:ext cx="64008" cy="64008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8" name="Text 6"/>
          <p:cNvSpPr/>
          <p:nvPr/>
        </p:nvSpPr>
        <p:spPr>
          <a:xfrm>
            <a:off x="1115568" y="2816352"/>
            <a:ext cx="45413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물과 커피에 반복 지출하는 독립 2030 — 생수를 사고 아이스커피를 매일 마시는 1~2인 가구.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932688" y="3474720"/>
            <a:ext cx="64008" cy="64008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10" name="Text 8"/>
          <p:cNvSpPr/>
          <p:nvPr/>
        </p:nvSpPr>
        <p:spPr>
          <a:xfrm>
            <a:off x="1115568" y="3383280"/>
            <a:ext cx="45413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물, 얼음, 커피를 각각 사서 만들어야 하는 번거로운 준비 루틴.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932688" y="4041648"/>
            <a:ext cx="64008" cy="64008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12" name="Text 10"/>
          <p:cNvSpPr/>
          <p:nvPr/>
        </p:nvSpPr>
        <p:spPr>
          <a:xfrm>
            <a:off x="1115568" y="3950208"/>
            <a:ext cx="45413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정수·얼음·커피를 통합한 에스프레카페 — 세 가지 준비를 한 기기로 끝낸다.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278728" y="2240280"/>
            <a:ext cx="5254600" cy="233172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9050">
            <a:solidFill>
              <a:srgbClr val="0057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34760" y="2459736"/>
            <a:ext cx="479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 · 아아 준비를 없애는 매니저, 펭귄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553048" y="2907792"/>
            <a:ext cx="64008" cy="64008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16" name="Text 14"/>
          <p:cNvSpPr/>
          <p:nvPr/>
        </p:nvSpPr>
        <p:spPr>
          <a:xfrm>
            <a:off x="6735928" y="2816352"/>
            <a:ext cx="45413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 캐릭터 중심의 광고·SNS·팝업스토어.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553048" y="3474720"/>
            <a:ext cx="64008" cy="64008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18" name="Text 16"/>
          <p:cNvSpPr/>
          <p:nvPr/>
        </p:nvSpPr>
        <p:spPr>
          <a:xfrm>
            <a:off x="6735928" y="3383280"/>
            <a:ext cx="45413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매번 다른 콘텐츠가 하나의 캐릭터 서사로 쌓인다.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553048" y="4041648"/>
            <a:ext cx="64008" cy="64008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20" name="Text 18"/>
          <p:cNvSpPr/>
          <p:nvPr/>
        </p:nvSpPr>
        <p:spPr>
          <a:xfrm>
            <a:off x="6735928" y="3950208"/>
            <a:ext cx="45413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과거 청호나이스가 만든 캐릭터 자산을 다시 활용한다.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0" y="4626864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↓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3261208" y="4956048"/>
            <a:ext cx="5669280" cy="548640"/>
          </a:xfrm>
          <a:prstGeom prst="roundRect">
            <a:avLst>
              <a:gd name="adj" fmla="val 16667"/>
            </a:avLst>
          </a:prstGeom>
          <a:solidFill>
            <a:srgbClr val="0057FF"/>
          </a:solidFill>
          <a:ln/>
        </p:spPr>
      </p:sp>
      <p:sp>
        <p:nvSpPr>
          <p:cNvPr id="23" name="Text 21"/>
          <p:cNvSpPr/>
          <p:nvPr/>
        </p:nvSpPr>
        <p:spPr>
          <a:xfrm>
            <a:off x="3261208" y="4956048"/>
            <a:ext cx="5669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정수기 렌탈 브랜드의 적합도와 구매 유도 확대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1965960"/>
            <a:ext cx="4572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0" b="1" dirty="0">
                <a:solidFill>
                  <a:srgbClr val="2B2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3000" dirty="0"/>
          </a:p>
        </p:txBody>
      </p:sp>
      <p:sp>
        <p:nvSpPr>
          <p:cNvPr id="4" name="Text 2"/>
          <p:cNvSpPr/>
          <p:nvPr/>
        </p:nvSpPr>
        <p:spPr>
          <a:xfrm>
            <a:off x="658368" y="416052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 진단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7327087" y="3977640"/>
            <a:ext cx="4206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· 카테고리 커뮤니케이션</a:t>
            </a:r>
            <a:endParaRPr lang="en-US" sz="1200" dirty="0"/>
          </a:p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· 청호나이스의 현재 커뮤니케이션</a:t>
            </a:r>
            <a:endParaRPr lang="en-US" sz="1200" dirty="0"/>
          </a:p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· 청호나이스만의 자산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· 브랜드 진단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24128"/>
            <a:ext cx="1087495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얼음정수기 광고는 다르지만,</a:t>
            </a:r>
            <a:endParaRPr lang="en-US" sz="23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기억에는 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비슷하게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남는다.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658368" y="2423160"/>
            <a:ext cx="3273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코OO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58368" y="2752344"/>
            <a:ext cx="3273552" cy="617220"/>
          </a:xfrm>
          <a:prstGeom prst="roundRect">
            <a:avLst>
              <a:gd name="adj" fmla="val 13333"/>
            </a:avLst>
          </a:prstGeom>
          <a:solidFill>
            <a:srgbClr val="F5F5F7"/>
          </a:solidFill>
          <a:ln/>
        </p:spPr>
      </p:sp>
      <p:sp>
        <p:nvSpPr>
          <p:cNvPr id="7" name="Text 5"/>
          <p:cNvSpPr/>
          <p:nvPr/>
        </p:nvSpPr>
        <p:spPr>
          <a:xfrm>
            <a:off x="841248" y="2843784"/>
            <a:ext cx="2907792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아이콘 얼음정수기, 슬림한 크기와 풍부한 제빙, IoT 맞춤 기능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151376" y="2423160"/>
            <a:ext cx="3273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SKOO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151376" y="2752344"/>
            <a:ext cx="3273552" cy="617220"/>
          </a:xfrm>
          <a:prstGeom prst="roundRect">
            <a:avLst>
              <a:gd name="adj" fmla="val 13333"/>
            </a:avLst>
          </a:prstGeom>
          <a:solidFill>
            <a:srgbClr val="F5F5F7"/>
          </a:solidFill>
          <a:ln/>
        </p:spPr>
      </p:sp>
      <p:sp>
        <p:nvSpPr>
          <p:cNvPr id="10" name="Text 8"/>
          <p:cNvSpPr/>
          <p:nvPr/>
        </p:nvSpPr>
        <p:spPr>
          <a:xfrm>
            <a:off x="4334256" y="2843784"/>
            <a:ext cx="2907792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크고 단단한 얼음, 쉽게 녹지 않는 빙질과 위생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58368" y="3497580"/>
            <a:ext cx="3273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쿠OO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58368" y="3826764"/>
            <a:ext cx="3273552" cy="617220"/>
          </a:xfrm>
          <a:prstGeom prst="roundRect">
            <a:avLst>
              <a:gd name="adj" fmla="val 13333"/>
            </a:avLst>
          </a:prstGeom>
          <a:solidFill>
            <a:srgbClr val="F5F5F7"/>
          </a:solidFill>
          <a:ln/>
        </p:spPr>
      </p:sp>
      <p:sp>
        <p:nvSpPr>
          <p:cNvPr id="13" name="Text 11"/>
          <p:cNvSpPr/>
          <p:nvPr/>
        </p:nvSpPr>
        <p:spPr>
          <a:xfrm>
            <a:off x="841248" y="3918204"/>
            <a:ext cx="2907792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100도 물맛과 드립커피 기능, 끓인 물 위생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4151376" y="3497580"/>
            <a:ext cx="3273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LGOO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151376" y="3826764"/>
            <a:ext cx="3273552" cy="617220"/>
          </a:xfrm>
          <a:prstGeom prst="roundRect">
            <a:avLst>
              <a:gd name="adj" fmla="val 13333"/>
            </a:avLst>
          </a:prstGeom>
          <a:solidFill>
            <a:srgbClr val="F5F5F7"/>
          </a:solidFill>
          <a:ln/>
        </p:spPr>
      </p:sp>
      <p:sp>
        <p:nvSpPr>
          <p:cNvPr id="16" name="Text 14"/>
          <p:cNvSpPr/>
          <p:nvPr/>
        </p:nvSpPr>
        <p:spPr>
          <a:xfrm>
            <a:off x="4334256" y="3918204"/>
            <a:ext cx="2907792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음성제어, 맞춤 출수, 전 구간 고온 살균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7836408" y="2423160"/>
            <a:ext cx="369691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반복되는 공통 언어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836408" y="2752344"/>
            <a:ext cx="90525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E8E8E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836408" y="2752344"/>
            <a:ext cx="9052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얼음 용량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8833104" y="2752344"/>
            <a:ext cx="1261872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E8E8E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833104" y="2752344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제빙 속도·빙질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10186416" y="2752344"/>
            <a:ext cx="90525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E8E8E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186416" y="2752344"/>
            <a:ext cx="9052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살균·위생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836408" y="3136392"/>
            <a:ext cx="1024128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E8E8E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836408" y="3136392"/>
            <a:ext cx="1024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슬림한 크기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8951976" y="3136392"/>
            <a:ext cx="1024128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E8E8E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951976" y="3136392"/>
            <a:ext cx="1024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컬러·디자인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10067544" y="3136392"/>
            <a:ext cx="114300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E8E8E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0067544" y="3136392"/>
            <a:ext cx="1143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앱·AI 기능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7836408" y="3666744"/>
            <a:ext cx="3696919" cy="996696"/>
          </a:xfrm>
          <a:prstGeom prst="roundRect">
            <a:avLst>
              <a:gd name="adj" fmla="val 8257"/>
            </a:avLst>
          </a:prstGeom>
          <a:solidFill>
            <a:srgbClr val="F5F5F7"/>
          </a:solidFill>
          <a:ln/>
        </p:spPr>
      </p:sp>
      <p:sp>
        <p:nvSpPr>
          <p:cNvPr id="31" name="Text 29"/>
          <p:cNvSpPr/>
          <p:nvPr/>
        </p:nvSpPr>
        <p:spPr>
          <a:xfrm>
            <a:off x="8037576" y="3831336"/>
            <a:ext cx="3294583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치열한 경쟁 속에서도 브랜드들의 카피는 여전히 기능에 치중되어 있다. 청호나이스의 카피 역시 비슷해서, 소비자 입장에서는 뾰족한 차별점을 느끼기 어렵다.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658368" y="6291072"/>
            <a:ext cx="108749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출처: 각 사 2025 공식 캠페인·제품 페이지 종합. 브랜드명은 비교 목적상 익명 처리.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· 브랜드 진단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24128"/>
            <a:ext cx="1087495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944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각기 다른 </a:t>
            </a:r>
            <a:pPr indent="0" marL="0">
              <a:lnSpc>
                <a:spcPts val="2944"/>
              </a:lnSpc>
              <a:buNone/>
            </a:pPr>
            <a:r>
              <a:rPr lang="en-US" sz="23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콘텐츠의 방향</a:t>
            </a:r>
            <a:pPr indent="0" marL="0">
              <a:lnSpc>
                <a:spcPts val="2944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.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658368" y="2148840"/>
            <a:ext cx="2526716" cy="2194560"/>
          </a:xfrm>
          <a:prstGeom prst="roundRect">
            <a:avLst>
              <a:gd name="adj" fmla="val 3750"/>
            </a:avLst>
          </a:prstGeom>
          <a:solidFill>
            <a:srgbClr val="ECEEF2"/>
          </a:solidFill>
          <a:ln w="12700">
            <a:solidFill>
              <a:srgbClr val="E8E8E8"/>
            </a:solidFill>
            <a:prstDash val="solid"/>
          </a:ln>
          <a:effectLst>
            <a:outerShdw sx="100000" sy="100000" kx="0" ky="0" algn="bl" rotWithShape="0" blurRad="203200" dist="63500" dir="5400000">
              <a:srgbClr val="191919">
                <a:alpha val="24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13232" y="2203704"/>
            <a:ext cx="2416988" cy="2084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영상 01 ]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441116" y="2148840"/>
            <a:ext cx="2526716" cy="2194560"/>
          </a:xfrm>
          <a:prstGeom prst="roundRect">
            <a:avLst>
              <a:gd name="adj" fmla="val 3750"/>
            </a:avLst>
          </a:prstGeom>
          <a:solidFill>
            <a:srgbClr val="ECEEF2"/>
          </a:solidFill>
          <a:ln w="12700">
            <a:solidFill>
              <a:srgbClr val="E8E8E8"/>
            </a:solidFill>
            <a:prstDash val="solid"/>
          </a:ln>
          <a:effectLst>
            <a:outerShdw sx="100000" sy="100000" kx="0" ky="0" algn="bl" rotWithShape="0" blurRad="203200" dist="63500" dir="5400000">
              <a:srgbClr val="191919">
                <a:alpha val="24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495980" y="2203704"/>
            <a:ext cx="2416988" cy="2084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영상 02 ]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23864" y="2148840"/>
            <a:ext cx="2526716" cy="2194560"/>
          </a:xfrm>
          <a:prstGeom prst="roundRect">
            <a:avLst>
              <a:gd name="adj" fmla="val 3750"/>
            </a:avLst>
          </a:prstGeom>
          <a:solidFill>
            <a:srgbClr val="ECEEF2"/>
          </a:solidFill>
          <a:ln w="12700">
            <a:solidFill>
              <a:srgbClr val="E8E8E8"/>
            </a:solidFill>
            <a:prstDash val="solid"/>
          </a:ln>
          <a:effectLst>
            <a:outerShdw sx="100000" sy="100000" kx="0" ky="0" algn="bl" rotWithShape="0" blurRad="203200" dist="63500" dir="5400000">
              <a:srgbClr val="191919">
                <a:alpha val="24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278728" y="2203704"/>
            <a:ext cx="2416988" cy="2084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영상 03 ]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9006611" y="2148840"/>
            <a:ext cx="2526716" cy="2194560"/>
          </a:xfrm>
          <a:prstGeom prst="roundRect">
            <a:avLst>
              <a:gd name="adj" fmla="val 3750"/>
            </a:avLst>
          </a:prstGeom>
          <a:solidFill>
            <a:srgbClr val="ECEEF2"/>
          </a:solidFill>
          <a:ln w="12700">
            <a:solidFill>
              <a:srgbClr val="E8E8E8"/>
            </a:solidFill>
            <a:prstDash val="solid"/>
          </a:ln>
          <a:effectLst>
            <a:outerShdw sx="100000" sy="100000" kx="0" ky="0" algn="bl" rotWithShape="0" blurRad="203200" dist="63500" dir="5400000">
              <a:srgbClr val="191919">
                <a:alpha val="24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9061475" y="2203704"/>
            <a:ext cx="2416988" cy="2084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영상 04 ]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58368" y="4617720"/>
            <a:ext cx="10874959" cy="914400"/>
          </a:xfrm>
          <a:prstGeom prst="roundRect">
            <a:avLst>
              <a:gd name="adj" fmla="val 9000"/>
            </a:avLst>
          </a:prstGeom>
          <a:solidFill>
            <a:srgbClr val="F5F5F7"/>
          </a:solidFill>
          <a:ln/>
        </p:spPr>
      </p:sp>
      <p:sp>
        <p:nvSpPr>
          <p:cNvPr id="14" name="Text 12"/>
          <p:cNvSpPr/>
          <p:nvPr/>
        </p:nvSpPr>
        <p:spPr>
          <a:xfrm>
            <a:off x="886968" y="4764024"/>
            <a:ext cx="1041775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청호나이스는 숏폼과 AI 콘텐츠를 적극적으로 만들고 있다. 문제는 형식이 아니라 축적이다. 콘텐츠마다 말이 달라, 2030이 제품을 선택해야 할 이유가 하나의 브랜드 인상으로 남지 않는다.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1828800"/>
            <a:ext cx="2526716" cy="2377440"/>
          </a:xfrm>
          <a:prstGeom prst="roundRect">
            <a:avLst>
              <a:gd name="adj" fmla="val 3462"/>
            </a:avLst>
          </a:prstGeom>
          <a:solidFill>
            <a:srgbClr val="E7E7EA"/>
          </a:solidFill>
          <a:ln w="12700">
            <a:solidFill>
              <a:srgbClr val="DEDEE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441116" y="1828800"/>
            <a:ext cx="2526716" cy="2377440"/>
          </a:xfrm>
          <a:prstGeom prst="roundRect">
            <a:avLst>
              <a:gd name="adj" fmla="val 3462"/>
            </a:avLst>
          </a:prstGeom>
          <a:solidFill>
            <a:srgbClr val="E7E7EA"/>
          </a:solidFill>
          <a:ln w="12700">
            <a:solidFill>
              <a:srgbClr val="DEDEE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23864" y="1828800"/>
            <a:ext cx="2526716" cy="2377440"/>
          </a:xfrm>
          <a:prstGeom prst="roundRect">
            <a:avLst>
              <a:gd name="adj" fmla="val 3462"/>
            </a:avLst>
          </a:prstGeom>
          <a:solidFill>
            <a:srgbClr val="E7E7EA"/>
          </a:solidFill>
          <a:ln w="12700">
            <a:solidFill>
              <a:srgbClr val="DEDE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006611" y="1828800"/>
            <a:ext cx="2526716" cy="2377440"/>
          </a:xfrm>
          <a:prstGeom prst="roundRect">
            <a:avLst>
              <a:gd name="adj" fmla="val 3462"/>
            </a:avLst>
          </a:prstGeom>
          <a:solidFill>
            <a:srgbClr val="E7E7EA"/>
          </a:solidFill>
          <a:ln w="12700">
            <a:solidFill>
              <a:srgbClr val="DEDE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7">
              <a:alpha val="74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0" y="2468880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Insight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0" y="2834640"/>
            <a:ext cx="121916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4000"/>
              </a:lnSpc>
              <a:buNone/>
            </a:pPr>
            <a:r>
              <a:rPr lang="en-US" sz="30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2030이 제품을 선택할 이유가,</a:t>
            </a:r>
            <a:endParaRPr lang="en-US" sz="3000" dirty="0"/>
          </a:p>
          <a:p>
            <a:pPr algn="ctr" indent="0" marL="0">
              <a:lnSpc>
                <a:spcPts val="4000"/>
              </a:lnSpc>
              <a:buNone/>
            </a:pPr>
            <a:r>
              <a:rPr lang="en-US" sz="3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하나의 브랜드 인상</a:t>
            </a:r>
            <a:pPr algn="ctr" indent="0" marL="0">
              <a:lnSpc>
                <a:spcPts val="4000"/>
              </a:lnSpc>
              <a:buNone/>
            </a:pPr>
            <a:r>
              <a:rPr lang="en-US" sz="30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으로 남지 않는다.</a:t>
            </a:r>
            <a:endParaRPr lang="en-US" sz="3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· 브랜드 진단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24128"/>
            <a:ext cx="1087495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새로 만들기 전에,</a:t>
            </a:r>
            <a:endParaRPr lang="en-US" sz="23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 가진 것을 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다시 묶을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수 있다.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658368" y="2788920"/>
            <a:ext cx="10874959" cy="0"/>
          </a:xfrm>
          <a:prstGeom prst="line">
            <a:avLst/>
          </a:prstGeom>
          <a:noFill/>
          <a:ln w="19050">
            <a:solidFill>
              <a:srgbClr val="E8E8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2404872"/>
            <a:ext cx="21749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과거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695572" y="2738628"/>
            <a:ext cx="100584" cy="100584"/>
          </a:xfrm>
          <a:prstGeom prst="ellipse">
            <a:avLst/>
          </a:prstGeom>
          <a:solidFill>
            <a:srgbClr val="0057F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2935224"/>
            <a:ext cx="1992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얼음정수기를 알린</a:t>
            </a:r>
            <a:endParaRPr lang="en-US" sz="110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 광고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833360" y="2404872"/>
            <a:ext cx="21749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얼음정수기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870564" y="2738628"/>
            <a:ext cx="100584" cy="100584"/>
          </a:xfrm>
          <a:prstGeom prst="ellipse">
            <a:avLst/>
          </a:prstGeom>
          <a:solidFill>
            <a:srgbClr val="0057F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924800" y="2935224"/>
            <a:ext cx="1992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얼음정수기</a:t>
            </a:r>
            <a:endParaRPr lang="en-US" sz="110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기술과 역사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008352" y="2404872"/>
            <a:ext cx="21749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커피얼음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45556" y="2738628"/>
            <a:ext cx="100584" cy="100584"/>
          </a:xfrm>
          <a:prstGeom prst="ellipse">
            <a:avLst/>
          </a:prstGeom>
          <a:solidFill>
            <a:srgbClr val="0057F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99792" y="2935224"/>
            <a:ext cx="1992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커피얼음정수기</a:t>
            </a:r>
            <a:endParaRPr lang="en-US" sz="110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경험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183344" y="2404872"/>
            <a:ext cx="21749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디지털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220547" y="2738628"/>
            <a:ext cx="100584" cy="100584"/>
          </a:xfrm>
          <a:prstGeom prst="ellipse">
            <a:avLst/>
          </a:prstGeom>
          <a:solidFill>
            <a:srgbClr val="0057F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274784" y="2935224"/>
            <a:ext cx="1992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디지털 콘텐츠·</a:t>
            </a:r>
            <a:endParaRPr lang="en-US" sz="110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휘카페 멤버십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9358335" y="2404872"/>
            <a:ext cx="21749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10395539" y="2738628"/>
            <a:ext cx="100584" cy="100584"/>
          </a:xfrm>
          <a:prstGeom prst="ellipse">
            <a:avLst/>
          </a:prstGeom>
          <a:solidFill>
            <a:srgbClr val="1E9BE6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449775" y="2935224"/>
            <a:ext cx="1992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새로운</a:t>
            </a:r>
            <a:endParaRPr lang="en-US" sz="110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마스코트 시스템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58368" y="416052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청호나이스가 이미 가진 자산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58368" y="452628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정수·얼음·커피 올인원 제품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3675888" y="452628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자동 세척과 위생 관리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58368" y="485546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과거 펭귄 광고 캐릭터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3675888" y="485546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휘카페·캡슐·멤버십 접점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7601407" y="4160520"/>
            <a:ext cx="1828800" cy="1234440"/>
          </a:xfrm>
          <a:prstGeom prst="roundRect">
            <a:avLst>
              <a:gd name="adj" fmla="val 6667"/>
            </a:avLst>
          </a:prstGeom>
          <a:solidFill>
            <a:srgbClr val="ECEEF2"/>
          </a:solidFill>
          <a:ln w="12700">
            <a:solidFill>
              <a:srgbClr val="E8E8E8"/>
            </a:solidFill>
            <a:prstDash val="solid"/>
          </a:ln>
          <a:effectLst>
            <a:outerShdw sx="100000" sy="100000" kx="0" ky="0" algn="bl" rotWithShape="0" blurRad="203200" dist="63500" dir="5400000">
              <a:srgbClr val="191919">
                <a:alpha val="24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7656271" y="4215384"/>
            <a:ext cx="1719072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펭귄 캐릭터 ]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9613087" y="4160520"/>
            <a:ext cx="1920240" cy="1234440"/>
          </a:xfrm>
          <a:prstGeom prst="roundRect">
            <a:avLst>
              <a:gd name="adj" fmla="val 6667"/>
            </a:avLst>
          </a:prstGeom>
          <a:solidFill>
            <a:srgbClr val="ECEEF2"/>
          </a:solidFill>
          <a:ln w="12700">
            <a:solidFill>
              <a:srgbClr val="E8E8E8"/>
            </a:solidFill>
            <a:prstDash val="solid"/>
          </a:ln>
          <a:effectLst>
            <a:outerShdw sx="100000" sy="100000" kx="0" ky="0" algn="bl" rotWithShape="0" blurRad="203200" dist="63500" dir="5400000">
              <a:srgbClr val="191919">
                <a:alpha val="24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9667951" y="4215384"/>
            <a:ext cx="1810512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에스프레카페 제품 ]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58368" y="6291072"/>
            <a:ext cx="108749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‘세계 최초’·판매량·렌탈료 표현은 최종 제출 전 공식 자료와 날짜로 재확인.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1965960"/>
            <a:ext cx="4572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0" b="1" dirty="0">
                <a:solidFill>
                  <a:srgbClr val="2B2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3000" dirty="0"/>
          </a:p>
        </p:txBody>
      </p:sp>
      <p:sp>
        <p:nvSpPr>
          <p:cNvPr id="4" name="Text 2"/>
          <p:cNvSpPr/>
          <p:nvPr/>
        </p:nvSpPr>
        <p:spPr>
          <a:xfrm>
            <a:off x="658368" y="416052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타깃 &amp; 인사이트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7327087" y="3977640"/>
            <a:ext cx="4206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· 핵심 타깃</a:t>
            </a:r>
            <a:endParaRPr lang="en-US" sz="1200" dirty="0"/>
          </a:p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· 생활 시나리오</a:t>
            </a:r>
            <a:endParaRPr lang="en-US" sz="1200" dirty="0"/>
          </a:p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· 현실적인 경제성</a:t>
            </a:r>
            <a:endParaRPr lang="en-US" sz="1200" dirty="0"/>
          </a:p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· 핵심 인사이트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· 타깃 &amp; 인사이트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42416"/>
            <a:ext cx="4023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7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우리가 볼 사람은 ‘2030’이 아니라,</a:t>
            </a:r>
            <a:endParaRPr lang="en-US" sz="170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7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반복 소비가 큰 독립 생활자</a:t>
            </a:r>
            <a:pPr indent="0" marL="0">
              <a:lnSpc>
                <a:spcPts val="2300"/>
              </a:lnSpc>
              <a:buNone/>
            </a:pPr>
            <a:r>
              <a:rPr lang="en-US" sz="17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58368" y="228600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타깃은 2030 중에서도 반복적인 소비가 큰 독립 1~2인 가구다.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978408" y="2926080"/>
            <a:ext cx="0" cy="2743200"/>
          </a:xfrm>
          <a:prstGeom prst="line">
            <a:avLst/>
          </a:prstGeom>
          <a:noFill/>
          <a:ln w="19050">
            <a:solidFill>
              <a:srgbClr val="19191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8408" y="5669280"/>
            <a:ext cx="2743200" cy="0"/>
          </a:xfrm>
          <a:prstGeom prst="line">
            <a:avLst/>
          </a:prstGeom>
          <a:noFill/>
          <a:ln w="19050">
            <a:solidFill>
              <a:srgbClr val="19191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51560" y="2999232"/>
            <a:ext cx="1225296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dash"/>
          </a:ln>
        </p:spPr>
      </p:sp>
      <p:sp>
        <p:nvSpPr>
          <p:cNvPr id="9" name="Text 7"/>
          <p:cNvSpPr/>
          <p:nvPr/>
        </p:nvSpPr>
        <p:spPr>
          <a:xfrm>
            <a:off x="1124712" y="2999232"/>
            <a:ext cx="1078992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지불 의향은 높지만</a:t>
            </a:r>
            <a:endParaRPr lang="en-US" sz="95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소비 빈도 낮음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423160" y="2999232"/>
            <a:ext cx="1225296" cy="1225296"/>
          </a:xfrm>
          <a:prstGeom prst="roundRect">
            <a:avLst>
              <a:gd name="adj" fmla="val 4478"/>
            </a:avLst>
          </a:prstGeom>
          <a:solidFill>
            <a:srgbClr val="0057FF"/>
          </a:solidFill>
          <a:ln/>
        </p:spPr>
      </p:sp>
      <p:sp>
        <p:nvSpPr>
          <p:cNvPr id="11" name="Text 9"/>
          <p:cNvSpPr/>
          <p:nvPr/>
        </p:nvSpPr>
        <p:spPr>
          <a:xfrm>
            <a:off x="2496312" y="2999232"/>
            <a:ext cx="1078992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타깃</a:t>
            </a:r>
            <a:endParaRPr lang="en-US" sz="100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반복 소비 크고 지불 의향 높음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1051560" y="4370832"/>
            <a:ext cx="1225296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dash"/>
          </a:ln>
        </p:spPr>
      </p:sp>
      <p:sp>
        <p:nvSpPr>
          <p:cNvPr id="13" name="Text 11"/>
          <p:cNvSpPr/>
          <p:nvPr/>
        </p:nvSpPr>
        <p:spPr>
          <a:xfrm>
            <a:off x="1124712" y="4370832"/>
            <a:ext cx="1078992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저관여 소비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423160" y="4370832"/>
            <a:ext cx="1225296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2496312" y="4370832"/>
            <a:ext cx="1078992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소비는 많지만</a:t>
            </a:r>
            <a:endParaRPr lang="en-US" sz="95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지불 의향 낮음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978408" y="5742432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커피·생수 소비 빈도 →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 rot="16200000">
            <a:off x="-704088" y="417880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준비·관리 감소 지불 의향 →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047488" y="658368"/>
            <a:ext cx="6485839" cy="5541264"/>
          </a:xfrm>
          <a:prstGeom prst="roundRect">
            <a:avLst>
              <a:gd name="adj" fmla="val 1485"/>
            </a:avLst>
          </a:prstGeom>
          <a:solidFill>
            <a:srgbClr val="F5F5F7"/>
          </a:solidFill>
          <a:ln/>
        </p:spPr>
      </p:sp>
      <p:sp>
        <p:nvSpPr>
          <p:cNvPr id="19" name="Shape 17"/>
          <p:cNvSpPr/>
          <p:nvPr/>
        </p:nvSpPr>
        <p:spPr>
          <a:xfrm>
            <a:off x="5321808" y="932688"/>
            <a:ext cx="777240" cy="777240"/>
          </a:xfrm>
          <a:prstGeom prst="ellipse">
            <a:avLst/>
          </a:prstGeom>
          <a:solidFill>
            <a:srgbClr val="ECEEF2"/>
          </a:solidFill>
          <a:ln w="12700">
            <a:solidFill>
              <a:srgbClr val="E8E8E8"/>
            </a:solidFill>
            <a:prstDash val="solid"/>
          </a:ln>
          <a:effectLst>
            <a:outerShdw sx="100000" sy="100000" kx="0" ky="0" algn="bl" rotWithShape="0" blurRad="203200" dist="63500" dir="5400000">
              <a:srgbClr val="191919">
                <a:alpha val="24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376672" y="987552"/>
            <a:ext cx="66751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[인물]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6281928" y="932688"/>
            <a:ext cx="520567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내부 타깃명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281928" y="1133856"/>
            <a:ext cx="52056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생산성 · 2030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6281928" y="1463040"/>
            <a:ext cx="52056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27~34세 · 1~2인 가구 · 독립 1~5년차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5321808" y="2029968"/>
            <a:ext cx="59371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아이스커피 주 4회 이상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5321808" y="2414016"/>
            <a:ext cx="59371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생수 구매 경험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5321808" y="2798064"/>
            <a:ext cx="59371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운동·영양·수면 등 자기관리와 생산성에 소비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5321808" y="3182112"/>
            <a:ext cx="59371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시간과 편의를 위해 비용을 지불한 경험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5321808" y="5513832"/>
            <a:ext cx="593719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‘웰니스 2030’은 너무 넓다. 세대가 아니라 </a:t>
            </a:r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반복 소비와 지불 의향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으로 좁힌다.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· 타깃 &amp; 인사이트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24128"/>
            <a:ext cx="1087495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커피를 마시는 데보다,</a:t>
            </a:r>
            <a:endParaRPr lang="en-US" sz="23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준비하는 데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더 많은 행동을 쓴다.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658368" y="2514600"/>
            <a:ext cx="10874959" cy="0"/>
          </a:xfrm>
          <a:prstGeom prst="line">
            <a:avLst/>
          </a:prstGeom>
          <a:noFill/>
          <a:ln w="25400">
            <a:solidFill>
              <a:srgbClr val="0057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2642616"/>
            <a:ext cx="181249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기상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58368" y="2843784"/>
            <a:ext cx="181249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물·영양제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1491463" y="3227832"/>
            <a:ext cx="91440" cy="91440"/>
          </a:xfrm>
          <a:prstGeom prst="ellipse">
            <a:avLst/>
          </a:prstGeom>
          <a:solidFill>
            <a:srgbClr val="E5484D"/>
          </a:solidFill>
          <a:ln/>
        </p:spPr>
      </p:sp>
      <p:sp>
        <p:nvSpPr>
          <p:cNvPr id="9" name="Text 7"/>
          <p:cNvSpPr/>
          <p:nvPr/>
        </p:nvSpPr>
        <p:spPr>
          <a:xfrm>
            <a:off x="2470861" y="2642616"/>
            <a:ext cx="181249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출근길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2470861" y="2843784"/>
            <a:ext cx="181249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테이크아웃 커피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303956" y="3227832"/>
            <a:ext cx="91440" cy="91440"/>
          </a:xfrm>
          <a:prstGeom prst="ellipse">
            <a:avLst/>
          </a:prstGeom>
          <a:solidFill>
            <a:srgbClr val="E5484D"/>
          </a:solidFill>
          <a:ln/>
        </p:spPr>
      </p:sp>
      <p:sp>
        <p:nvSpPr>
          <p:cNvPr id="12" name="Text 10"/>
          <p:cNvSpPr/>
          <p:nvPr/>
        </p:nvSpPr>
        <p:spPr>
          <a:xfrm>
            <a:off x="4283354" y="2642616"/>
            <a:ext cx="181249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오전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283354" y="2843784"/>
            <a:ext cx="181249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업무 중 물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095848" y="2642616"/>
            <a:ext cx="181249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오후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6095848" y="2843784"/>
            <a:ext cx="181249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아이스커피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855790" y="3227832"/>
            <a:ext cx="91440" cy="91440"/>
          </a:xfrm>
          <a:prstGeom prst="ellipse">
            <a:avLst/>
          </a:prstGeom>
          <a:solidFill>
            <a:srgbClr val="E5484D"/>
          </a:solidFill>
          <a:ln/>
        </p:spPr>
      </p:sp>
      <p:sp>
        <p:nvSpPr>
          <p:cNvPr id="17" name="Shape 15"/>
          <p:cNvSpPr/>
          <p:nvPr/>
        </p:nvSpPr>
        <p:spPr>
          <a:xfrm>
            <a:off x="7002094" y="3227832"/>
            <a:ext cx="91440" cy="91440"/>
          </a:xfrm>
          <a:prstGeom prst="ellipse">
            <a:avLst/>
          </a:prstGeom>
          <a:solidFill>
            <a:srgbClr val="E5484D"/>
          </a:solidFill>
          <a:ln/>
        </p:spPr>
      </p:sp>
      <p:sp>
        <p:nvSpPr>
          <p:cNvPr id="18" name="Text 16"/>
          <p:cNvSpPr/>
          <p:nvPr/>
        </p:nvSpPr>
        <p:spPr>
          <a:xfrm>
            <a:off x="7908341" y="2642616"/>
            <a:ext cx="181249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저녁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7908341" y="2843784"/>
            <a:ext cx="181249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운동 후 냉수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741435" y="3227832"/>
            <a:ext cx="91440" cy="91440"/>
          </a:xfrm>
          <a:prstGeom prst="ellipse">
            <a:avLst/>
          </a:prstGeom>
          <a:solidFill>
            <a:srgbClr val="E5484D"/>
          </a:solidFill>
          <a:ln/>
        </p:spPr>
      </p:sp>
      <p:sp>
        <p:nvSpPr>
          <p:cNvPr id="21" name="Text 19"/>
          <p:cNvSpPr/>
          <p:nvPr/>
        </p:nvSpPr>
        <p:spPr>
          <a:xfrm>
            <a:off x="9720834" y="2642616"/>
            <a:ext cx="181249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주말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9720834" y="2843784"/>
            <a:ext cx="181249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생수 주문·재활용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10480777" y="3227832"/>
            <a:ext cx="91440" cy="91440"/>
          </a:xfrm>
          <a:prstGeom prst="ellipse">
            <a:avLst/>
          </a:prstGeom>
          <a:solidFill>
            <a:srgbClr val="E5484D"/>
          </a:solidFill>
          <a:ln/>
        </p:spPr>
      </p:sp>
      <p:sp>
        <p:nvSpPr>
          <p:cNvPr id="24" name="Shape 22"/>
          <p:cNvSpPr/>
          <p:nvPr/>
        </p:nvSpPr>
        <p:spPr>
          <a:xfrm>
            <a:off x="10627081" y="3227832"/>
            <a:ext cx="91440" cy="91440"/>
          </a:xfrm>
          <a:prstGeom prst="ellipse">
            <a:avLst/>
          </a:prstGeom>
          <a:solidFill>
            <a:srgbClr val="E5484D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4069080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준비 행동에서 반복되는 마찰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3264408" y="4123944"/>
            <a:ext cx="91440" cy="91440"/>
          </a:xfrm>
          <a:prstGeom prst="ellipse">
            <a:avLst/>
          </a:prstGeom>
          <a:solidFill>
            <a:srgbClr val="E5484D"/>
          </a:solidFill>
          <a:ln/>
        </p:spPr>
      </p:sp>
      <p:sp>
        <p:nvSpPr>
          <p:cNvPr id="27" name="Text 25"/>
          <p:cNvSpPr/>
          <p:nvPr/>
        </p:nvSpPr>
        <p:spPr>
          <a:xfrm>
            <a:off x="658368" y="445312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생수 주문·운반·보관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3767328" y="445312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카페 방문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58368" y="4764024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얼음 트레이 관리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3767328" y="4764024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캡슐·머신 세척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58368" y="50749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필터·위생 걱정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3767328" y="50749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여러 기기의 공간 점유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7059168" y="4069080"/>
            <a:ext cx="4474159" cy="1325880"/>
          </a:xfrm>
          <a:prstGeom prst="roundRect">
            <a:avLst>
              <a:gd name="adj" fmla="val 6207"/>
            </a:avLst>
          </a:prstGeom>
          <a:solidFill>
            <a:srgbClr val="F5F5F7"/>
          </a:solidFill>
          <a:ln/>
        </p:spPr>
      </p:sp>
      <p:sp>
        <p:nvSpPr>
          <p:cNvPr id="34" name="Text 32"/>
          <p:cNvSpPr/>
          <p:nvPr/>
        </p:nvSpPr>
        <p:spPr>
          <a:xfrm>
            <a:off x="7287768" y="4251960"/>
            <a:ext cx="4016959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“집에서 마시려고 머신은 샀는데, 얼음 없으면 결국 편의점에 가요.”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658368" y="6291072"/>
            <a:ext cx="108749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인터뷰 종료 후 팀 문장을 실제 응답자 발화로 교체. 마찰 지점 개수는 관찰 기록 반영.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· 타깃 &amp; 인사이트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42416"/>
            <a:ext cx="3566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모두에게 싸지는 않다.</a:t>
            </a:r>
            <a:endParaRPr lang="en-US" sz="17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많이 쓰는 사람에게는 </a:t>
            </a:r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합칠 이유</a:t>
            </a:r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 있다.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58368" y="242316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‘더 싸게’를 무리하게 주장하기보다, 많이 쓰는 사람에게 합칠 이유가 있다고 말하는 편이 신뢰도가 높다.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58368" y="4937760"/>
            <a:ext cx="3566160" cy="914400"/>
          </a:xfrm>
          <a:prstGeom prst="roundRect">
            <a:avLst>
              <a:gd name="adj" fmla="val 9000"/>
            </a:avLst>
          </a:prstGeom>
          <a:solidFill>
            <a:srgbClr val="EAF1FF"/>
          </a:solidFill>
          <a:ln w="15875">
            <a:solidFill>
              <a:srgbClr val="0057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5047488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에스프레카페는 저빈도 소비자보다, 물과 아이스커피를 반복 구매하는 생활자에게 더 설득력 있는 </a:t>
            </a:r>
            <a:pPr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통합 대안</a:t>
            </a:r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이다.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636008" y="658368"/>
            <a:ext cx="68973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3가지 소비 시나리오의 월 지출 (개념 비교)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636008" y="3948379"/>
            <a:ext cx="822960" cy="395021"/>
          </a:xfrm>
          <a:prstGeom prst="rect">
            <a:avLst/>
          </a:prstGeom>
          <a:solidFill>
            <a:srgbClr val="9FC0FF"/>
          </a:solidFill>
          <a:ln/>
        </p:spPr>
      </p:sp>
      <p:sp>
        <p:nvSpPr>
          <p:cNvPr id="10" name="Shape 8"/>
          <p:cNvSpPr/>
          <p:nvPr/>
        </p:nvSpPr>
        <p:spPr>
          <a:xfrm>
            <a:off x="4636008" y="3602736"/>
            <a:ext cx="822960" cy="345643"/>
          </a:xfrm>
          <a:prstGeom prst="rect">
            <a:avLst/>
          </a:prstGeom>
          <a:solidFill>
            <a:srgbClr val="5B8CFF"/>
          </a:solidFill>
          <a:ln/>
        </p:spPr>
      </p:sp>
      <p:sp>
        <p:nvSpPr>
          <p:cNvPr id="11" name="Shape 9"/>
          <p:cNvSpPr/>
          <p:nvPr/>
        </p:nvSpPr>
        <p:spPr>
          <a:xfrm>
            <a:off x="4636008" y="3355848"/>
            <a:ext cx="822960" cy="246888"/>
          </a:xfrm>
          <a:prstGeom prst="rect">
            <a:avLst/>
          </a:prstGeom>
          <a:solidFill>
            <a:srgbClr val="C9D8FF"/>
          </a:solidFill>
          <a:ln/>
        </p:spPr>
      </p:sp>
      <p:sp>
        <p:nvSpPr>
          <p:cNvPr id="12" name="Text 10"/>
          <p:cNvSpPr/>
          <p:nvPr/>
        </p:nvSpPr>
        <p:spPr>
          <a:xfrm>
            <a:off x="4498848" y="445312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저빈도</a:t>
            </a:r>
            <a:endParaRPr lang="en-US" sz="110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1인 가구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660794" y="3810122"/>
            <a:ext cx="822960" cy="533278"/>
          </a:xfrm>
          <a:prstGeom prst="rect">
            <a:avLst/>
          </a:prstGeom>
          <a:solidFill>
            <a:srgbClr val="9FC0FF"/>
          </a:solidFill>
          <a:ln/>
        </p:spPr>
      </p:sp>
      <p:sp>
        <p:nvSpPr>
          <p:cNvPr id="14" name="Shape 12"/>
          <p:cNvSpPr/>
          <p:nvPr/>
        </p:nvSpPr>
        <p:spPr>
          <a:xfrm>
            <a:off x="6660794" y="3010205"/>
            <a:ext cx="822960" cy="799917"/>
          </a:xfrm>
          <a:prstGeom prst="rect">
            <a:avLst/>
          </a:prstGeom>
          <a:solidFill>
            <a:srgbClr val="5B8CF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60794" y="2565806"/>
            <a:ext cx="822960" cy="444398"/>
          </a:xfrm>
          <a:prstGeom prst="rect">
            <a:avLst/>
          </a:prstGeom>
          <a:solidFill>
            <a:srgbClr val="C9D8FF"/>
          </a:solidFill>
          <a:ln/>
        </p:spPr>
      </p:sp>
      <p:sp>
        <p:nvSpPr>
          <p:cNvPr id="16" name="Text 14"/>
          <p:cNvSpPr/>
          <p:nvPr/>
        </p:nvSpPr>
        <p:spPr>
          <a:xfrm>
            <a:off x="6523634" y="445312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타깃</a:t>
            </a:r>
            <a:endParaRPr lang="en-US" sz="110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1인 가구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685581" y="3679765"/>
            <a:ext cx="822960" cy="663635"/>
          </a:xfrm>
          <a:prstGeom prst="rect">
            <a:avLst/>
          </a:prstGeom>
          <a:solidFill>
            <a:srgbClr val="9FC0FF"/>
          </a:solidFill>
          <a:ln/>
        </p:spPr>
      </p:sp>
      <p:sp>
        <p:nvSpPr>
          <p:cNvPr id="18" name="Shape 16"/>
          <p:cNvSpPr/>
          <p:nvPr/>
        </p:nvSpPr>
        <p:spPr>
          <a:xfrm>
            <a:off x="8685581" y="2542105"/>
            <a:ext cx="822960" cy="1137660"/>
          </a:xfrm>
          <a:prstGeom prst="rect">
            <a:avLst/>
          </a:prstGeom>
          <a:solidFill>
            <a:srgbClr val="5B8CFF"/>
          </a:solidFill>
          <a:ln/>
        </p:spPr>
      </p:sp>
      <p:sp>
        <p:nvSpPr>
          <p:cNvPr id="19" name="Shape 17"/>
          <p:cNvSpPr/>
          <p:nvPr/>
        </p:nvSpPr>
        <p:spPr>
          <a:xfrm>
            <a:off x="8685581" y="1973275"/>
            <a:ext cx="822960" cy="568830"/>
          </a:xfrm>
          <a:prstGeom prst="rect">
            <a:avLst/>
          </a:prstGeom>
          <a:solidFill>
            <a:srgbClr val="C9D8FF"/>
          </a:solidFill>
          <a:ln/>
        </p:spPr>
      </p:sp>
      <p:sp>
        <p:nvSpPr>
          <p:cNvPr id="20" name="Text 18"/>
          <p:cNvSpPr/>
          <p:nvPr/>
        </p:nvSpPr>
        <p:spPr>
          <a:xfrm>
            <a:off x="8548421" y="445312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고빈도</a:t>
            </a:r>
            <a:endParaRPr lang="en-US" sz="110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2인 가구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0710367" y="2862072"/>
            <a:ext cx="822960" cy="1481328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22" name="Text 20"/>
          <p:cNvSpPr/>
          <p:nvPr/>
        </p:nvSpPr>
        <p:spPr>
          <a:xfrm>
            <a:off x="10573207" y="445312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에스프레카페</a:t>
            </a:r>
            <a:endParaRPr lang="en-US" sz="110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렌탈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636008" y="5065776"/>
            <a:ext cx="109728" cy="109728"/>
          </a:xfrm>
          <a:prstGeom prst="rect">
            <a:avLst/>
          </a:prstGeom>
          <a:solidFill>
            <a:srgbClr val="9FC0FF"/>
          </a:solidFill>
          <a:ln/>
        </p:spPr>
      </p:sp>
      <p:sp>
        <p:nvSpPr>
          <p:cNvPr id="24" name="Text 22"/>
          <p:cNvSpPr/>
          <p:nvPr/>
        </p:nvSpPr>
        <p:spPr>
          <a:xfrm>
            <a:off x="4818888" y="502920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생수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394960" y="5065776"/>
            <a:ext cx="109728" cy="109728"/>
          </a:xfrm>
          <a:prstGeom prst="rect">
            <a:avLst/>
          </a:prstGeom>
          <a:solidFill>
            <a:srgbClr val="5B8CFF"/>
          </a:solidFill>
          <a:ln/>
        </p:spPr>
      </p:sp>
      <p:sp>
        <p:nvSpPr>
          <p:cNvPr id="26" name="Text 24"/>
          <p:cNvSpPr/>
          <p:nvPr/>
        </p:nvSpPr>
        <p:spPr>
          <a:xfrm>
            <a:off x="5577840" y="502920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카페 커피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537960" y="5065776"/>
            <a:ext cx="109728" cy="109728"/>
          </a:xfrm>
          <a:prstGeom prst="rect">
            <a:avLst/>
          </a:prstGeom>
          <a:solidFill>
            <a:srgbClr val="C9D8FF"/>
          </a:solidFill>
          <a:ln/>
        </p:spPr>
      </p:sp>
      <p:sp>
        <p:nvSpPr>
          <p:cNvPr id="28" name="Text 26"/>
          <p:cNvSpPr/>
          <p:nvPr/>
        </p:nvSpPr>
        <p:spPr>
          <a:xfrm>
            <a:off x="6720840" y="502920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얼음·캡슐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680960" y="5065776"/>
            <a:ext cx="109728" cy="109728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0" name="Text 28"/>
          <p:cNvSpPr/>
          <p:nvPr/>
        </p:nvSpPr>
        <p:spPr>
          <a:xfrm>
            <a:off x="7863840" y="502920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렌탈료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636008" y="5413248"/>
            <a:ext cx="68973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금액은 누적 막대. 실제 금액은 시나리오별 계산(생수·카페 커피·얼음/캡슐·렌탈료·원료비·전기료·시간)으로 확정.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· 타깃 &amp; 인사이트 · 핵심 인사이트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600200"/>
            <a:ext cx="9144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400"/>
              </a:lnSpc>
              <a:buNone/>
            </a:pPr>
            <a:r>
              <a:rPr lang="en-US" sz="34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좋은 루틴은 의지가 아니라,</a:t>
            </a:r>
            <a:endParaRPr lang="en-US" sz="34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34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준비에서</a:t>
            </a:r>
            <a:pPr indent="0" marL="0">
              <a:lnSpc>
                <a:spcPts val="4400"/>
              </a:lnSpc>
              <a:buNone/>
            </a:pPr>
            <a:r>
              <a:rPr lang="en-US" sz="34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무너진다.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658368" y="3291840"/>
            <a:ext cx="5254600" cy="1737360"/>
          </a:xfrm>
          <a:prstGeom prst="roundRect">
            <a:avLst>
              <a:gd name="adj" fmla="val 4737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86968" y="3493008"/>
            <a:ext cx="4797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인터뷰 발화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86968" y="3803904"/>
            <a:ext cx="479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“막상 얼리는 게 귀찮아서 홈카페를 자주 포기해요.”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86968" y="4663440"/>
            <a:ext cx="479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 응답으로 교체 예정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278728" y="3291840"/>
            <a:ext cx="5254600" cy="1737360"/>
          </a:xfrm>
          <a:prstGeom prst="roundRect">
            <a:avLst>
              <a:gd name="adj" fmla="val 4737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07328" y="3493008"/>
            <a:ext cx="4797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설문 결과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507328" y="3803904"/>
            <a:ext cx="479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홈카페를 자주 포기하는 이유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1위 얼음 준비 · 2위 세척 · 3위 시간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507328" y="4553712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F0F0F0"/>
          </a:solidFill>
          <a:ln w="15875">
            <a:solidFill>
              <a:srgbClr val="E8E8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07328" y="4553712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조사 후 수치 반영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658368" y="6291072"/>
            <a:ext cx="108749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지금은 숫자를 채우지 않고 조사 예정 위치만 정한다.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1965960"/>
            <a:ext cx="4572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0" b="1" dirty="0">
                <a:solidFill>
                  <a:srgbClr val="2B2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3000" dirty="0"/>
          </a:p>
        </p:txBody>
      </p:sp>
      <p:sp>
        <p:nvSpPr>
          <p:cNvPr id="4" name="Text 2"/>
          <p:cNvSpPr/>
          <p:nvPr/>
        </p:nvSpPr>
        <p:spPr>
          <a:xfrm>
            <a:off x="658368" y="416052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 전략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7327087" y="3977640"/>
            <a:ext cx="4206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· 브랜드가 맡을 역할</a:t>
            </a:r>
            <a:endParaRPr lang="en-US" sz="1200" dirty="0"/>
          </a:p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· 캐릭터 마케팅의 효과</a:t>
            </a:r>
            <a:endParaRPr lang="en-US" sz="1200" dirty="0"/>
          </a:p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· 현대화 사례 · 두꺼비</a:t>
            </a:r>
            <a:endParaRPr lang="en-US" sz="1200" dirty="0"/>
          </a:p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· 펭귄을 선택한 이유</a:t>
            </a:r>
            <a:endParaRPr lang="en-US" sz="1200" dirty="0"/>
          </a:p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 · 펭귄의 재정의</a:t>
            </a:r>
            <a:endParaRPr lang="en-US" sz="1200" dirty="0"/>
          </a:p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 · 펭귄 자산 검증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· 브랜드 전략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24128"/>
            <a:ext cx="1087495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‘기능이 많은 정수기’가 아니라,</a:t>
            </a:r>
            <a:endParaRPr lang="en-US" sz="23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준비를 끝내주는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가전으로.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658368" y="2468880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Brand Proposition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58368" y="2743200"/>
            <a:ext cx="2514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50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매일 따로 준비하던</a:t>
            </a:r>
            <a:endParaRPr lang="en-US" sz="15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50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물·얼음·커피를 하나로.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58368" y="3657600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Brand Role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58368" y="3931920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사용자가 신경 쓰기 전에, 생활의 기본을 준비하는 브랜드.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190488" y="3063240"/>
            <a:ext cx="1463040" cy="1463040"/>
          </a:xfrm>
          <a:prstGeom prst="ellipse">
            <a:avLst/>
          </a:prstGeom>
          <a:solidFill>
            <a:srgbClr val="0057FF"/>
          </a:solidFill>
          <a:ln/>
          <a:effectLst>
            <a:outerShdw sx="100000" sy="100000" kx="0" ky="0" algn="bl" rotWithShape="0" blurRad="177800" dist="50800" dir="5400000">
              <a:srgbClr val="191919">
                <a:alpha val="24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281928" y="3063240"/>
            <a:ext cx="1280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에스프레카페
</a:t>
            </a:r>
            <a:pPr algn="ctr"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정수 · 얼음 · 커피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584448" y="2990088"/>
            <a:ext cx="2286000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84448" y="2423160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생수 구매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019288" y="2990088"/>
            <a:ext cx="3514039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019288" y="2423160"/>
            <a:ext cx="351403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정수 · 냉수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584448" y="3557016"/>
            <a:ext cx="2286000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584448" y="2990088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얼음 준비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019288" y="3557016"/>
            <a:ext cx="3514039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19288" y="2990088"/>
            <a:ext cx="351403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제빙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584448" y="4123944"/>
            <a:ext cx="2286000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584448" y="3557016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커피 구매·제조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019288" y="4123944"/>
            <a:ext cx="3514039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019288" y="3557016"/>
            <a:ext cx="351403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커피 추출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584448" y="4690872"/>
            <a:ext cx="2286000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84448" y="4123944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세척·위생 걱정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019288" y="4690872"/>
            <a:ext cx="3514039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19288" y="4123944"/>
            <a:ext cx="351403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자동 세척·관리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584448" y="5257800"/>
            <a:ext cx="2286000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584448" y="469087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여러 제품의 공간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8019288" y="5257800"/>
            <a:ext cx="3514039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019288" y="4690872"/>
            <a:ext cx="351403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올인원 구조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0" y="5943600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왼쪽은 줄어드는 일,  →  오른쪽은 제품이 제공하는 것. 제품을 가운데 두어 연결한다.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· 브랜드 전략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24128"/>
            <a:ext cx="1087495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328"/>
              </a:lnSpc>
              <a:buNone/>
            </a:pPr>
            <a:r>
              <a:rPr lang="en-US" sz="26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캐릭터를 이용한 </a:t>
            </a:r>
            <a:pPr indent="0" marL="0">
              <a:lnSpc>
                <a:spcPts val="3328"/>
              </a:lnSpc>
              <a:buNone/>
            </a:pPr>
            <a:r>
              <a:rPr lang="en-US" sz="26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 마케팅</a:t>
            </a:r>
            <a:pPr indent="0" marL="0">
              <a:lnSpc>
                <a:spcPts val="3328"/>
              </a:lnSpc>
              <a:buNone/>
            </a:pPr>
            <a:r>
              <a:rPr lang="en-US" sz="26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의 효과.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58368" y="1810512"/>
            <a:ext cx="3611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캐릭터가 작동하는 방식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795528" y="2450592"/>
            <a:ext cx="0" cy="384048"/>
          </a:xfrm>
          <a:prstGeom prst="line">
            <a:avLst/>
          </a:prstGeom>
          <a:noFill/>
          <a:ln w="19050">
            <a:solidFill>
              <a:srgbClr val="DEE8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2176272"/>
            <a:ext cx="274320" cy="274320"/>
          </a:xfrm>
          <a:prstGeom prst="ellipse">
            <a:avLst/>
          </a:prstGeom>
          <a:solidFill>
            <a:srgbClr val="1E9BE6"/>
          </a:solidFill>
          <a:ln/>
        </p:spPr>
      </p:sp>
      <p:sp>
        <p:nvSpPr>
          <p:cNvPr id="8" name="Text 6"/>
          <p:cNvSpPr/>
          <p:nvPr/>
        </p:nvSpPr>
        <p:spPr>
          <a:xfrm>
            <a:off x="658368" y="21762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069848" y="2157984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주목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1069848" y="2395728"/>
            <a:ext cx="3200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사람은 얼굴과 캐릭터에 먼저 시선을 준다.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795528" y="3108960"/>
            <a:ext cx="0" cy="384048"/>
          </a:xfrm>
          <a:prstGeom prst="line">
            <a:avLst/>
          </a:prstGeom>
          <a:noFill/>
          <a:ln w="19050">
            <a:solidFill>
              <a:srgbClr val="DEE8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2834640"/>
            <a:ext cx="274320" cy="274320"/>
          </a:xfrm>
          <a:prstGeom prst="ellipse">
            <a:avLst/>
          </a:prstGeom>
          <a:solidFill>
            <a:srgbClr val="1E9BE6"/>
          </a:solidFill>
          <a:ln/>
        </p:spPr>
      </p:sp>
      <p:sp>
        <p:nvSpPr>
          <p:cNvPr id="13" name="Text 11"/>
          <p:cNvSpPr/>
          <p:nvPr/>
        </p:nvSpPr>
        <p:spPr>
          <a:xfrm>
            <a:off x="658368" y="28346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069848" y="2816352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이해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1069848" y="3054096"/>
            <a:ext cx="3200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복잡한 기능을 하나의 성격과 행동으로 번역한다.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795528" y="3767328"/>
            <a:ext cx="0" cy="384048"/>
          </a:xfrm>
          <a:prstGeom prst="line">
            <a:avLst/>
          </a:prstGeom>
          <a:noFill/>
          <a:ln w="19050">
            <a:solidFill>
              <a:srgbClr val="DEE8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58368" y="3493008"/>
            <a:ext cx="274320" cy="274320"/>
          </a:xfrm>
          <a:prstGeom prst="ellipse">
            <a:avLst/>
          </a:prstGeom>
          <a:solidFill>
            <a:srgbClr val="1E9BE6"/>
          </a:solidFill>
          <a:ln/>
        </p:spPr>
      </p:sp>
      <p:sp>
        <p:nvSpPr>
          <p:cNvPr id="18" name="Text 16"/>
          <p:cNvSpPr/>
          <p:nvPr/>
        </p:nvSpPr>
        <p:spPr>
          <a:xfrm>
            <a:off x="658368" y="3493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069848" y="3474720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친숙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1069848" y="3712464"/>
            <a:ext cx="3200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의인화된 존재는 거래처럼 느껴지는 서비스에 관계감을 더한다.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58368" y="4151376"/>
            <a:ext cx="274320" cy="274320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22" name="Text 20"/>
          <p:cNvSpPr/>
          <p:nvPr/>
        </p:nvSpPr>
        <p:spPr>
          <a:xfrm>
            <a:off x="658368" y="41513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069848" y="4133088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축적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1069848" y="4370832"/>
            <a:ext cx="3200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채널이 달라도 같은 캐릭터가 하나의 인상으로 쌓인다.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727448" y="1810512"/>
            <a:ext cx="6805879" cy="1783080"/>
          </a:xfrm>
          <a:prstGeom prst="roundRect">
            <a:avLst>
              <a:gd name="adj" fmla="val 4615"/>
            </a:avLst>
          </a:prstGeom>
          <a:solidFill>
            <a:srgbClr val="F5F5F7"/>
          </a:solidFill>
          <a:ln/>
        </p:spPr>
      </p:sp>
      <p:sp>
        <p:nvSpPr>
          <p:cNvPr id="26" name="Text 24"/>
          <p:cNvSpPr/>
          <p:nvPr/>
        </p:nvSpPr>
        <p:spPr>
          <a:xfrm>
            <a:off x="4946904" y="195681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빌린 주목과 가진 주목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8607247" y="1965960"/>
            <a:ext cx="27066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System1 · 슈퍼볼 광고 2020–2023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4946904" y="2249424"/>
            <a:ext cx="2024786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946904" y="2313432"/>
            <a:ext cx="202478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2.8★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5001768" y="2578608"/>
            <a:ext cx="19150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50"/>
              </a:lnSpc>
              <a:buNone/>
            </a:pPr>
            <a:r>
              <a:rPr lang="en-US" sz="8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연예인 기용 광고</a:t>
            </a:r>
            <a:endParaRPr lang="en-US" sz="850" dirty="0"/>
          </a:p>
          <a:p>
            <a:pPr algn="ctr" indent="0" marL="0">
              <a:lnSpc>
                <a:spcPts val="1050"/>
              </a:lnSpc>
              <a:buNone/>
            </a:pPr>
            <a:r>
              <a:rPr lang="en-US" sz="8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전체의 37%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7117994" y="2249424"/>
            <a:ext cx="2024786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117994" y="2313432"/>
            <a:ext cx="202478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2.8★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7172858" y="2578608"/>
            <a:ext cx="19150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50"/>
              </a:lnSpc>
              <a:buNone/>
            </a:pPr>
            <a:r>
              <a:rPr lang="en-US" sz="8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연예인 없는 광고</a:t>
            </a:r>
            <a:endParaRPr lang="en-US" sz="850" dirty="0"/>
          </a:p>
          <a:p>
            <a:pPr algn="ctr" indent="0" marL="0">
              <a:lnSpc>
                <a:spcPts val="1050"/>
              </a:lnSpc>
              <a:buNone/>
            </a:pPr>
            <a:r>
              <a:rPr lang="en-US" sz="8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전체의 38%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9289085" y="2249424"/>
            <a:ext cx="2024786" cy="658368"/>
          </a:xfrm>
          <a:prstGeom prst="roundRect">
            <a:avLst>
              <a:gd name="adj" fmla="val 8333"/>
            </a:avLst>
          </a:prstGeom>
          <a:solidFill>
            <a:srgbClr val="EAF1FF"/>
          </a:solidFill>
          <a:ln w="19050">
            <a:solidFill>
              <a:srgbClr val="0057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289085" y="2313432"/>
            <a:ext cx="202478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3.7★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9343949" y="2578608"/>
            <a:ext cx="19150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50"/>
              </a:lnSpc>
              <a:buNone/>
            </a:pPr>
            <a:r>
              <a:rPr lang="en-US" sz="85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브랜드가 소유한</a:t>
            </a:r>
            <a:endParaRPr lang="en-US" sz="850" dirty="0"/>
          </a:p>
          <a:p>
            <a:pPr algn="ctr" indent="0" marL="0">
              <a:lnSpc>
                <a:spcPts val="1050"/>
              </a:lnSpc>
              <a:buNone/>
            </a:pPr>
            <a:r>
              <a:rPr lang="en-US" sz="85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반복 캐릭터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4946904" y="2999232"/>
            <a:ext cx="636696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연예인을 쓴다는 사실만으로는 효과 차이가 없었다. 차이를 만든 건 </a:t>
            </a:r>
            <a:pPr indent="0" marL="0">
              <a:lnSpc>
                <a:spcPts val="1250"/>
              </a:lnSpc>
              <a:buNone/>
            </a:pPr>
            <a:r>
              <a:rPr lang="en-US" sz="9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브랜드가 반복해서 쓰는 캐릭터</a:t>
            </a:r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였다. IPA 사업 데이터 분석에서도 캐릭터가 연예인보다 크고 오래가는 효과를 냈다.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4727448" y="3712464"/>
            <a:ext cx="6805879" cy="1298448"/>
          </a:xfrm>
          <a:prstGeom prst="roundRect">
            <a:avLst>
              <a:gd name="adj" fmla="val 6338"/>
            </a:avLst>
          </a:prstGeom>
          <a:solidFill>
            <a:srgbClr val="F5F5F7"/>
          </a:solidFill>
          <a:ln/>
        </p:spPr>
      </p:sp>
      <p:sp>
        <p:nvSpPr>
          <p:cNvPr id="39" name="Text 37"/>
          <p:cNvSpPr/>
          <p:nvPr/>
        </p:nvSpPr>
        <p:spPr>
          <a:xfrm>
            <a:off x="4946904" y="3858768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구별 자산으로 관리한다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8607247" y="3867912"/>
            <a:ext cx="27066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Romaniuk · Ehrenberg-Bass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4946904" y="4133088"/>
            <a:ext cx="636696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캐릭터는 감각이 아니라 두 축으로 관리하는 자산이다. </a:t>
            </a:r>
            <a:pPr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인지도</a:t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(얼마나 많은 사람이 브랜드와 연결하는가)와 </a:t>
            </a:r>
            <a:pPr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고유성</a:t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(그 연결이 우리 브랜드에만 걸리는가). 두 축이 함께 높을 때만 식별 장치로 작동하고, 통상 50%를 기준선으로 본다.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4946904" y="4700016"/>
            <a:ext cx="636696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16장의 검증 설계가 이 두 축을 그대로 측정한다.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658368" y="5138928"/>
            <a:ext cx="10874959" cy="749808"/>
          </a:xfrm>
          <a:prstGeom prst="roundRect">
            <a:avLst>
              <a:gd name="adj" fmla="val 10976"/>
            </a:avLst>
          </a:prstGeom>
          <a:solidFill>
            <a:srgbClr val="0057FF"/>
          </a:solidFill>
          <a:ln w="12700">
            <a:solidFill>
              <a:srgbClr val="0057F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58368" y="5248656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캐릭터는 장식이 아니라, 흩어진 콘텐츠를 하나의 브랜드 인상으로 묶는 장치다.</a:t>
            </a:r>
            <a:endParaRPr lang="en-US" sz="1550" dirty="0"/>
          </a:p>
        </p:txBody>
      </p:sp>
      <p:sp>
        <p:nvSpPr>
          <p:cNvPr id="45" name="Text 43"/>
          <p:cNvSpPr/>
          <p:nvPr/>
        </p:nvSpPr>
        <p:spPr>
          <a:xfrm>
            <a:off x="658368" y="5550408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CE6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그리고 이 카테고리는 연예인 모델 중심이다 — 소유된 캐릭터 자산은 아직 비어 있다.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658368" y="5980176"/>
            <a:ext cx="108749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캐릭터는 통상 3년 정도 일관되게 써야 효과가 측정된다(System1). 재인용 수치(회상률 88%·수익 73% 등)는 원 출처 확보 전까지 본문 제외. 상세 출처는 부록.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· 브랜드 전략 · 모범 사례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05840"/>
            <a:ext cx="1087495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900"/>
              </a:lnSpc>
              <a:buNone/>
            </a:pPr>
            <a:r>
              <a:rPr lang="en-US" sz="2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두꺼비는 복원된 것이 아니라,</a:t>
            </a:r>
            <a:endParaRPr lang="en-US" sz="2200" dirty="0"/>
          </a:p>
          <a:p>
            <a:pPr indent="0" marL="0">
              <a:lnSpc>
                <a:spcPts val="2900"/>
              </a:lnSpc>
              <a:buNone/>
            </a:pPr>
            <a:r>
              <a:rPr lang="en-US" sz="2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지금의 </a:t>
            </a:r>
            <a:pPr indent="0" marL="0">
              <a:lnSpc>
                <a:spcPts val="2900"/>
              </a:lnSpc>
              <a:buNone/>
            </a:pPr>
            <a:r>
              <a:rPr lang="en-US" sz="22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역할로 다시 배치</a:t>
            </a:r>
            <a:pPr indent="0" marL="0">
              <a:lnSpc>
                <a:spcPts val="2900"/>
              </a:lnSpc>
              <a:buNone/>
            </a:pPr>
            <a:r>
              <a:rPr lang="en-US" sz="2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됐다.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658368" y="2121408"/>
            <a:ext cx="10874959" cy="365760"/>
          </a:xfrm>
          <a:prstGeom prst="roundRect">
            <a:avLst>
              <a:gd name="adj" fmla="val 22500"/>
            </a:avLst>
          </a:prstGeom>
          <a:solidFill>
            <a:srgbClr val="F5F5F7"/>
          </a:solidFill>
          <a:ln/>
        </p:spPr>
      </p:sp>
      <p:sp>
        <p:nvSpPr>
          <p:cNvPr id="6" name="Text 4"/>
          <p:cNvSpPr/>
          <p:nvPr/>
        </p:nvSpPr>
        <p:spPr>
          <a:xfrm>
            <a:off x="877824" y="2121408"/>
            <a:ext cx="1043604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리트로 브랜딩 연구가 말하는 성공 조건 — </a:t>
            </a:r>
            <a:pPr indent="0" marL="0">
              <a:buNone/>
            </a:pPr>
            <a:r>
              <a:rPr lang="en-US" sz="9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‘과거의 의미 + 지금의 기능’의 결합</a:t>
            </a:r>
            <a:pPr indent="0" marL="0">
              <a:buNone/>
            </a:pPr>
            <a:r>
              <a:rPr lang="en-US" sz="9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. 두꺼비는 이 조건을 그대로 밟았다.  Brown, Kozinets &amp; Sherry, Journal of Marketing (2003)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58368" y="2651760"/>
            <a:ext cx="2788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잠들어 있던 자산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58368" y="2944368"/>
            <a:ext cx="2788920" cy="530352"/>
          </a:xfrm>
          <a:prstGeom prst="roundRect">
            <a:avLst>
              <a:gd name="adj" fmla="val 15517"/>
            </a:avLst>
          </a:prstGeom>
          <a:solidFill>
            <a:srgbClr val="F5F5F7"/>
          </a:solidFill>
          <a:ln/>
        </p:spPr>
      </p:sp>
      <p:sp>
        <p:nvSpPr>
          <p:cNvPr id="9" name="Text 7"/>
          <p:cNvSpPr/>
          <p:nvPr/>
        </p:nvSpPr>
        <p:spPr>
          <a:xfrm>
            <a:off x="804672" y="3026664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1950년대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1499616" y="3017520"/>
            <a:ext cx="18013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진로 상표의 두꺼비. 장수와 복을 뜻하는 상징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58368" y="3566160"/>
            <a:ext cx="2788920" cy="530352"/>
          </a:xfrm>
          <a:prstGeom prst="roundRect">
            <a:avLst>
              <a:gd name="adj" fmla="val 15517"/>
            </a:avLst>
          </a:prstGeom>
          <a:solidFill>
            <a:srgbClr val="F5F5F7"/>
          </a:solidFill>
          <a:ln/>
        </p:spPr>
      </p:sp>
      <p:sp>
        <p:nvSpPr>
          <p:cNvPr id="12" name="Text 10"/>
          <p:cNvSpPr/>
          <p:nvPr/>
        </p:nvSpPr>
        <p:spPr>
          <a:xfrm>
            <a:off x="804672" y="3648456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1990년대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1499616" y="3639312"/>
            <a:ext cx="18013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‘골드’ 시대를 지나며 사용 중단. 사실상 잠든 자산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58368" y="4187952"/>
            <a:ext cx="2788920" cy="530352"/>
          </a:xfrm>
          <a:prstGeom prst="roundRect">
            <a:avLst>
              <a:gd name="adj" fmla="val 15517"/>
            </a:avLst>
          </a:prstGeom>
          <a:solidFill>
            <a:srgbClr val="EAF1FF"/>
          </a:solidFill>
          <a:ln w="12700">
            <a:solidFill>
              <a:srgbClr val="0057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04672" y="4270248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2019.4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1499616" y="4261104"/>
            <a:ext cx="18013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‘진로 이즈백’으로 부활 — 겨냥한 세대는 2030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3703320" y="2651760"/>
            <a:ext cx="600120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바꿨나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703320" y="2944368"/>
            <a:ext cx="6001207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867912" y="3035808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197096" y="3017520"/>
            <a:ext cx="5342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외형은 복원하고, 타깃은 옮겼다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197096" y="3227832"/>
            <a:ext cx="5342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70~80년대 라벨과 캐릭터는 그대로 살리되, 말을 거는 세대를 2030으로 바꿨다.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703320" y="3566160"/>
            <a:ext cx="6001207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867912" y="3657600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4197096" y="3639312"/>
            <a:ext cx="5342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캐릭터만 바꾸지 않았다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197096" y="3849624"/>
            <a:ext cx="5342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도수를 16.9도로 낮춰 제품 자체를 젊은 층 입맛에 맞췄다. 캐릭터와 제품이 같은 말을 했다.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703320" y="4187952"/>
            <a:ext cx="6001207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867912" y="4279392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4197096" y="4261104"/>
            <a:ext cx="5342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광고 한 편으로 끝내지 않았다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197096" y="4471416"/>
            <a:ext cx="5342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팝업 ‘두껍상회’·굿즈·인스타 숏폼·웹예능으로 같은 캐릭터를 반복해 쌓았다.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9960559" y="2651760"/>
            <a:ext cx="15727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9960559" y="2944368"/>
            <a:ext cx="1572768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960559" y="3008376"/>
            <a:ext cx="15727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2개월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10015423" y="3255264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50"/>
              </a:lnSpc>
              <a:buNone/>
            </a:pPr>
            <a:r>
              <a:rPr lang="en-US" sz="7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출시 연간 판매 목표</a:t>
            </a:r>
            <a:endParaRPr lang="en-US" sz="750" dirty="0"/>
          </a:p>
          <a:p>
            <a:pPr algn="ctr" indent="0" marL="0">
              <a:lnSpc>
                <a:spcPts val="950"/>
              </a:lnSpc>
              <a:buNone/>
            </a:pPr>
            <a:r>
              <a:rPr lang="en-US" sz="7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달성까지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9960559" y="3566160"/>
            <a:ext cx="1572768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960559" y="3630168"/>
            <a:ext cx="15727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15억 병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10015423" y="3877056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50"/>
              </a:lnSpc>
              <a:buNone/>
            </a:pPr>
            <a:r>
              <a:rPr lang="en-US" sz="7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4년 만의 누적 판매</a:t>
            </a:r>
            <a:endParaRPr lang="en-US" sz="750" dirty="0"/>
          </a:p>
          <a:p>
            <a:pPr algn="ctr" indent="0" marL="0">
              <a:lnSpc>
                <a:spcPts val="950"/>
              </a:lnSpc>
              <a:buNone/>
            </a:pPr>
            <a:r>
              <a:rPr lang="en-US" sz="7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(2023.4)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9960559" y="4187952"/>
            <a:ext cx="1572768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960559" y="4251960"/>
            <a:ext cx="15727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45만 명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10015423" y="4498848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50"/>
              </a:lnSpc>
              <a:buNone/>
            </a:pPr>
            <a:r>
              <a:rPr lang="en-US" sz="7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캐릭터샵 ‘두껍상회’</a:t>
            </a:r>
            <a:endParaRPr lang="en-US" sz="750" dirty="0"/>
          </a:p>
          <a:p>
            <a:pPr algn="ctr" indent="0" marL="0">
              <a:lnSpc>
                <a:spcPts val="950"/>
              </a:lnSpc>
              <a:buNone/>
            </a:pPr>
            <a:r>
              <a:rPr lang="en-US" sz="7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누적 방문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658368" y="4937760"/>
            <a:ext cx="10874959" cy="822960"/>
          </a:xfrm>
          <a:prstGeom prst="roundRect">
            <a:avLst>
              <a:gd name="adj" fmla="val 10000"/>
            </a:avLst>
          </a:prstGeom>
          <a:solidFill>
            <a:srgbClr val="191919"/>
          </a:solidFill>
          <a:ln/>
        </p:spPr>
      </p:sp>
      <p:sp>
        <p:nvSpPr>
          <p:cNvPr id="41" name="Text 39"/>
          <p:cNvSpPr/>
          <p:nvPr/>
        </p:nvSpPr>
        <p:spPr>
          <a:xfrm>
            <a:off x="914400" y="5138928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우리는 이렇게</a:t>
            </a:r>
            <a:endParaRPr lang="en-US" sz="12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적용한다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2395728" y="5074920"/>
            <a:ext cx="27776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5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역할을 옮긴다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2395728" y="5303520"/>
            <a:ext cx="27776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D6D7D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펭귄을 ‘얼음정수기 광고 캐릭터’에서 </a:t>
            </a:r>
            <a:pPr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우리 집 준비 매니저</a:t>
            </a:r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D6D7D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로 다시 정의한다.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5447690" y="5074920"/>
            <a:ext cx="27776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5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제품과 같은 말을 시킨다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5447690" y="5303520"/>
            <a:ext cx="27776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D6D7D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펭귄이 줄여주는 준비를 </a:t>
            </a:r>
            <a:pPr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에스프레카페가 실제로 줄이는 일</a:t>
            </a:r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D6D7D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 일치시킨다.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8499653" y="5074920"/>
            <a:ext cx="27776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5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축적한다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8499653" y="5303520"/>
            <a:ext cx="27776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D6D7D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광고 한 편이 아니라 </a:t>
            </a:r>
            <a:pPr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숏폼·계산기·팝업·굿즈·CRM</a:t>
            </a:r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D6D7D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 같은 펭귄을 반복한다.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658368" y="5888736"/>
            <a:ext cx="108749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출처: 하이트진로 보도자료 및 언론 보도(누적 판매 15억 병 2023.4 기준, 두껍상회 누적 방문 45만 명), 이노션 캠페인 사례. 상세 링크는 부록.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· 브랜드 전략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24128"/>
            <a:ext cx="1087495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328"/>
              </a:lnSpc>
              <a:buNone/>
            </a:pPr>
            <a:r>
              <a:rPr lang="en-US" sz="26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그중에서도 </a:t>
            </a:r>
            <a:pPr indent="0" marL="0">
              <a:lnSpc>
                <a:spcPts val="3328"/>
              </a:lnSpc>
              <a:buNone/>
            </a:pPr>
            <a:r>
              <a:rPr lang="en-US" sz="26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</a:t>
            </a:r>
            <a:pPr indent="0" marL="0">
              <a:lnSpc>
                <a:spcPts val="3328"/>
              </a:lnSpc>
              <a:buNone/>
            </a:pPr>
            <a:r>
              <a:rPr lang="en-US" sz="26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을 선택한 이유.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58368" y="1810512"/>
            <a:ext cx="530032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77824" y="1984248"/>
            <a:ext cx="384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261872" y="1965960"/>
            <a:ext cx="447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 가지고 있는 자산이다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33008" y="1810512"/>
            <a:ext cx="530032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52464" y="1984248"/>
            <a:ext cx="384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836512" y="1965960"/>
            <a:ext cx="447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 기능과 의미가 맞는다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58368" y="3776472"/>
            <a:ext cx="530032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77824" y="3950208"/>
            <a:ext cx="384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261872" y="3931920"/>
            <a:ext cx="447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복합 기능을 하나의 역할로 번역한다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233008" y="3776472"/>
            <a:ext cx="530032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52464" y="3950208"/>
            <a:ext cx="384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836512" y="3931920"/>
            <a:ext cx="447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광고 이후에도 계속 쓸 수 있다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77824" y="2340864"/>
            <a:ext cx="486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외부 캐릭터를 빌리거나 새로 만드는 것보다, 청호나이스의 얼음정수기 역사와 연결할 수 있다.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877824" y="2834640"/>
            <a:ext cx="48614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다만 인지도는 조사 전이므로 “2030이 모두 기억하는 캐릭터”가 아니라 </a:t>
            </a:r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“청호나이스가 보유한 과거 광고 자산 후보”</a:t>
            </a:r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로 말한다.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6452464" y="2340864"/>
            <a:ext cx="486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펭귄은 설명 없이도 떠올리게 한다.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452464" y="2651760"/>
            <a:ext cx="466344" cy="2468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52464" y="2651760"/>
            <a:ext cx="46634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얼음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6991960" y="2651760"/>
            <a:ext cx="580644" cy="2468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991960" y="2651760"/>
            <a:ext cx="58064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차가움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7645756" y="2651760"/>
            <a:ext cx="580644" cy="2468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645756" y="2651760"/>
            <a:ext cx="58064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시원함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8299552" y="2651760"/>
            <a:ext cx="580644" cy="2468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299552" y="2651760"/>
            <a:ext cx="58064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깨끗함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452464" y="3035808"/>
            <a:ext cx="486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아무 캐릭터를 가져온 것이 아니라, 얼음정수기의 핵심 기능과 자연스럽게 연결되는 캐릭터다.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877824" y="4306824"/>
            <a:ext cx="48614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정수·얼음·커피·세척·관리를 기능별로 설명하면 복잡하다. 펭귄의 역할 하나로 압축한다.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877824" y="4745736"/>
            <a:ext cx="4861408" cy="329184"/>
          </a:xfrm>
          <a:prstGeom prst="roundRect">
            <a:avLst>
              <a:gd name="adj" fmla="val 16667"/>
            </a:avLst>
          </a:prstGeom>
          <a:solidFill>
            <a:srgbClr val="EAF1FF"/>
          </a:solidFill>
          <a:ln/>
        </p:spPr>
      </p:sp>
      <p:sp>
        <p:nvSpPr>
          <p:cNvPr id="31" name="Text 29"/>
          <p:cNvSpPr/>
          <p:nvPr/>
        </p:nvSpPr>
        <p:spPr>
          <a:xfrm>
            <a:off x="877824" y="4745736"/>
            <a:ext cx="48614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말보다 행동이 빠른, 우리 집 준비 매니저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877824" y="5129784"/>
            <a:ext cx="48614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제품과 별개인 장식이 아니라, 에스프레카페의 올인원 기능을 의인화한 존재다.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6452464" y="4306824"/>
            <a:ext cx="486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연예인은 한 캠페인의 주목도를 만들지만, 마스코트는 여러 채널에 축적된다.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6452464" y="4654296"/>
            <a:ext cx="809244" cy="2468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52464" y="4654296"/>
            <a:ext cx="80924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영상 광고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7334860" y="4654296"/>
            <a:ext cx="923544" cy="2468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334860" y="4654296"/>
            <a:ext cx="92354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SNS 숏폼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8331556" y="4654296"/>
            <a:ext cx="923544" cy="2468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331556" y="4654296"/>
            <a:ext cx="92354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비용 계산기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9328252" y="4654296"/>
            <a:ext cx="809244" cy="2468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328252" y="4654296"/>
            <a:ext cx="80924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팝업 안내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10210648" y="4654296"/>
            <a:ext cx="923544" cy="2468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0210648" y="4654296"/>
            <a:ext cx="92354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 가이드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6452464" y="4965192"/>
            <a:ext cx="809244" cy="2468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52464" y="4965192"/>
            <a:ext cx="80924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 알림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7334860" y="4965192"/>
            <a:ext cx="580644" cy="2468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334860" y="4965192"/>
            <a:ext cx="58064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CRM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7988656" y="4965192"/>
            <a:ext cx="466344" cy="2468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988656" y="4965192"/>
            <a:ext cx="46634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굿즈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658368" y="5742432"/>
            <a:ext cx="10874959" cy="548640"/>
          </a:xfrm>
          <a:prstGeom prst="roundRect">
            <a:avLst>
              <a:gd name="adj" fmla="val 15000"/>
            </a:avLst>
          </a:prstGeom>
          <a:solidFill>
            <a:srgbClr val="EAF1FF"/>
          </a:solidFill>
          <a:ln w="15875">
            <a:solidFill>
              <a:srgbClr val="0057F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58368" y="5742432"/>
            <a:ext cx="1087495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펭귄의 핵심 효과는 친근함이 아니라, </a:t>
            </a:r>
            <a:pPr algn="ctr" indent="0" marL="0">
              <a:buNone/>
            </a:pPr>
            <a:r>
              <a:rPr lang="en-US" sz="15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각기 다른 콘텐츠를 하나의 브랜드 인상으로 묶는 것</a:t>
            </a:r>
            <a:pPr algn="ctr" indent="0" marL="0">
              <a:buNone/>
            </a:pPr>
            <a:r>
              <a:rPr lang="en-US" sz="15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이다.</a:t>
            </a:r>
            <a:endParaRPr lang="en-US" sz="1500" dirty="0"/>
          </a:p>
        </p:txBody>
      </p:sp>
      <p:sp>
        <p:nvSpPr>
          <p:cNvPr id="52" name="Text 50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· 브랜드 전략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24128"/>
            <a:ext cx="1087495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그때의 펭귄을,</a:t>
            </a:r>
            <a:endParaRPr lang="en-US" sz="23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그대로 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복원하지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않는다.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658368" y="2194560"/>
            <a:ext cx="5186020" cy="2926080"/>
          </a:xfrm>
          <a:prstGeom prst="roundRect">
            <a:avLst>
              <a:gd name="adj" fmla="val 2813"/>
            </a:avLst>
          </a:prstGeom>
          <a:solidFill>
            <a:srgbClr val="F5F5F7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377440"/>
            <a:ext cx="46739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그때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14400" y="2697480"/>
            <a:ext cx="4673956" cy="1234440"/>
          </a:xfrm>
          <a:prstGeom prst="roundRect">
            <a:avLst>
              <a:gd name="adj" fmla="val 6667"/>
            </a:avLst>
          </a:prstGeom>
          <a:solidFill>
            <a:srgbClr val="ECEEF2"/>
          </a:solidFill>
          <a:ln w="12700">
            <a:solidFill>
              <a:srgbClr val="E8E8E8"/>
            </a:solidFill>
            <a:prstDash val="solid"/>
          </a:ln>
          <a:effectLst>
            <a:outerShdw sx="100000" sy="100000" kx="0" ky="0" algn="bl" rotWithShape="0" blurRad="203200" dist="63500" dir="5400000">
              <a:srgbClr val="191919">
                <a:alpha val="24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969264" y="2752344"/>
            <a:ext cx="4564228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과거 펭귄 광고 스틸 ]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932688" y="4178808"/>
            <a:ext cx="50292" cy="50292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10" name="Text 8"/>
          <p:cNvSpPr/>
          <p:nvPr/>
        </p:nvSpPr>
        <p:spPr>
          <a:xfrm>
            <a:off x="1088136" y="4096512"/>
            <a:ext cx="44819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1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얼음정수기를 알리는 광고 캐릭터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932688" y="4507992"/>
            <a:ext cx="50292" cy="50292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12" name="Text 10"/>
          <p:cNvSpPr/>
          <p:nvPr/>
        </p:nvSpPr>
        <p:spPr>
          <a:xfrm>
            <a:off x="1088136" y="4425696"/>
            <a:ext cx="44819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1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귀엽고 활발한 표현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932688" y="4837176"/>
            <a:ext cx="50292" cy="50292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14" name="Text 12"/>
          <p:cNvSpPr/>
          <p:nvPr/>
        </p:nvSpPr>
        <p:spPr>
          <a:xfrm>
            <a:off x="1088136" y="4754880"/>
            <a:ext cx="44819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1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가족 주방의 이미지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844388" y="342900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6347308" y="2194560"/>
            <a:ext cx="5186020" cy="2926080"/>
          </a:xfrm>
          <a:prstGeom prst="roundRect">
            <a:avLst>
              <a:gd name="adj" fmla="val 2813"/>
            </a:avLst>
          </a:prstGeom>
          <a:solidFill>
            <a:srgbClr val="191919"/>
          </a:solidFill>
          <a:ln/>
        </p:spPr>
      </p:sp>
      <p:sp>
        <p:nvSpPr>
          <p:cNvPr id="17" name="Text 15"/>
          <p:cNvSpPr/>
          <p:nvPr/>
        </p:nvSpPr>
        <p:spPr>
          <a:xfrm>
            <a:off x="6603340" y="2377440"/>
            <a:ext cx="46739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603340" y="2697480"/>
            <a:ext cx="4673956" cy="1234440"/>
          </a:xfrm>
          <a:prstGeom prst="roundRect">
            <a:avLst>
              <a:gd name="adj" fmla="val 6667"/>
            </a:avLst>
          </a:prstGeom>
          <a:solidFill>
            <a:srgbClr val="26262B"/>
          </a:solidFill>
          <a:ln w="12700">
            <a:solidFill>
              <a:srgbClr val="303036"/>
            </a:solidFill>
            <a:prstDash val="solid"/>
          </a:ln>
          <a:effectLst>
            <a:outerShdw sx="100000" sy="100000" kx="0" ky="0" algn="bl" rotWithShape="0" blurRad="203200" dist="63500" dir="5400000">
              <a:srgbClr val="191919">
                <a:alpha val="24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658204" y="2752344"/>
            <a:ext cx="4564228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C6D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현대화 펭귄 시안 ]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6621628" y="4178808"/>
            <a:ext cx="50292" cy="50292"/>
          </a:xfrm>
          <a:prstGeom prst="ellipse">
            <a:avLst/>
          </a:prstGeom>
          <a:solidFill>
            <a:srgbClr val="2997FF"/>
          </a:solidFill>
          <a:ln/>
        </p:spPr>
      </p:sp>
      <p:sp>
        <p:nvSpPr>
          <p:cNvPr id="21" name="Text 19"/>
          <p:cNvSpPr/>
          <p:nvPr/>
        </p:nvSpPr>
        <p:spPr>
          <a:xfrm>
            <a:off x="6777076" y="4096512"/>
            <a:ext cx="44819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100" dirty="0">
                <a:solidFill>
                  <a:srgbClr val="D6D7D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생활의 준비를 먼저 끝내는 루틴 매니저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621628" y="4507992"/>
            <a:ext cx="50292" cy="50292"/>
          </a:xfrm>
          <a:prstGeom prst="ellipse">
            <a:avLst/>
          </a:prstGeom>
          <a:solidFill>
            <a:srgbClr val="2997FF"/>
          </a:solidFill>
          <a:ln/>
        </p:spPr>
      </p:sp>
      <p:sp>
        <p:nvSpPr>
          <p:cNvPr id="23" name="Text 21"/>
          <p:cNvSpPr/>
          <p:nvPr/>
        </p:nvSpPr>
        <p:spPr>
          <a:xfrm>
            <a:off x="6777076" y="4425696"/>
            <a:ext cx="44819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100" dirty="0">
                <a:solidFill>
                  <a:srgbClr val="D6D7D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차분하고 능숙한 행동, 건조하고 짧은 유머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621628" y="4837176"/>
            <a:ext cx="50292" cy="50292"/>
          </a:xfrm>
          <a:prstGeom prst="ellipse">
            <a:avLst/>
          </a:prstGeom>
          <a:solidFill>
            <a:srgbClr val="2997FF"/>
          </a:solidFill>
          <a:ln/>
        </p:spPr>
      </p:sp>
      <p:sp>
        <p:nvSpPr>
          <p:cNvPr id="25" name="Text 23"/>
          <p:cNvSpPr/>
          <p:nvPr/>
        </p:nvSpPr>
        <p:spPr>
          <a:xfrm>
            <a:off x="6777076" y="4754880"/>
            <a:ext cx="44819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100" dirty="0">
                <a:solidFill>
                  <a:srgbClr val="D6D7D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독립한 2030의 집, 제품과 항상 함께 등장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58368" y="5340096"/>
            <a:ext cx="10874959" cy="731520"/>
          </a:xfrm>
          <a:prstGeom prst="roundRect">
            <a:avLst>
              <a:gd name="adj" fmla="val 11250"/>
            </a:avLst>
          </a:prstGeom>
          <a:solidFill>
            <a:srgbClr val="EAF1FF"/>
          </a:solidFill>
          <a:ln w="15875">
            <a:solidFill>
              <a:srgbClr val="0057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0" y="5440680"/>
            <a:ext cx="1219169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줄 정의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0" y="5650992"/>
            <a:ext cx="1219169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말보다 행동이 빠른, 우리 집 준비 매니저.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658368" y="6181344"/>
            <a:ext cx="108749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초기 리런칭은 대표 펭귄 한 마리로 시작. 캐릭터군 확장은 마스코트가 정착한 뒤 단계.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· 브랜드 전략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24128"/>
            <a:ext cx="1087495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기억되는가보다 중요한 건,</a:t>
            </a:r>
            <a:endParaRPr lang="en-US" sz="23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지금도 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청호나이스답게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작동하는가.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658368" y="214884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펭귄을 쓰는 근거는 ‘기억’이 아니라 ‘적합’이다. 그래서 조사 결과가 어느 쪽이든 실행은 멈추지 않는다.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58368" y="2542032"/>
            <a:ext cx="10874959" cy="777240"/>
          </a:xfrm>
          <a:prstGeom prst="roundRect">
            <a:avLst>
              <a:gd name="adj" fmla="val 10588"/>
            </a:avLst>
          </a:prstGeom>
          <a:solidFill>
            <a:srgbClr val="FFFFFF"/>
          </a:solidFill>
          <a:ln w="19050">
            <a:solidFill>
              <a:srgbClr val="0057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2660904"/>
            <a:ext cx="108749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사전 조사에서 확인할 것 · 1문항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58368" y="2889504"/>
            <a:ext cx="108749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2030은 청호나이스의 과거 펭귄 광고를 기억하는가?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0" y="3401568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↓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58368" y="3767328"/>
            <a:ext cx="5291176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77824" y="3950208"/>
            <a:ext cx="1431036" cy="256032"/>
          </a:xfrm>
          <a:prstGeom prst="roundRect">
            <a:avLst>
              <a:gd name="adj" fmla="val 50000"/>
            </a:avLst>
          </a:prstGeom>
          <a:solidFill>
            <a:srgbClr val="EAF1FF"/>
          </a:solidFill>
          <a:ln w="12700">
            <a:solidFill>
              <a:srgbClr val="0057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77824" y="3950208"/>
            <a:ext cx="14310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A · 기억한다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877824" y="4297680"/>
            <a:ext cx="4852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헤리티지 리바이벌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77824" y="4636008"/>
            <a:ext cx="48522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과거 광고를 오마주로 전면에 세운다. ‘그 펭귄이 돌아왔다’를 캠페인 진입 후크로 쓴다.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242152" y="3767328"/>
            <a:ext cx="5291176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61608" y="3950208"/>
            <a:ext cx="1851660" cy="256032"/>
          </a:xfrm>
          <a:prstGeom prst="roundRect">
            <a:avLst>
              <a:gd name="adj" fmla="val 50000"/>
            </a:avLst>
          </a:prstGeom>
          <a:solidFill>
            <a:srgbClr val="F0F0F0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61608" y="3950208"/>
            <a:ext cx="18516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B · 기억하지 못한다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461608" y="4297680"/>
            <a:ext cx="4852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과거 자산 기반 신규 마스코트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461608" y="4636008"/>
            <a:ext cx="48522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헤리티지는 브랜드 스토리로만 남기고, 지금의 역할(준비 매니저)로 처음 소개한다.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58368" y="5321808"/>
            <a:ext cx="10874959" cy="749808"/>
          </a:xfrm>
          <a:prstGeom prst="roundRect">
            <a:avLst>
              <a:gd name="adj" fmla="val 10976"/>
            </a:avLst>
          </a:prstGeom>
          <a:solidFill>
            <a:srgbClr val="0057FF"/>
          </a:solidFill>
          <a:ln w="12700">
            <a:solidFill>
              <a:srgbClr val="0057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32688" y="5431536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조사 결과는 표현 방식을 정할 뿐,</a:t>
            </a:r>
            <a:endParaRPr lang="en-US" sz="14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전략의 방향을 바꾸지 않는다.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413248" y="5541264"/>
            <a:ext cx="58457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E3E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두 경우 모두 그대로 간다 — 펭귄의 역할 정의 · 캠페인 구조(발견 → 관계) · 제품 메시지(준비를 끝내주는 가전)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58368" y="6181344"/>
            <a:ext cx="108749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측정 지표 — 인지도(Fame)·고유성(Uniqueness) 두 축을 함께 본다. 비보조 펭귄 회상률 · 광고 보조 인지 · 청호나이스 연결률 · 얼음정수기 연상 · 현대화 시안 선호 · 노출 전후 제품 관심 · 프리미엄 이미지 훼손 우려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1965960"/>
            <a:ext cx="4572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0" b="1" dirty="0">
                <a:solidFill>
                  <a:srgbClr val="2B2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3000" dirty="0"/>
          </a:p>
        </p:txBody>
      </p:sp>
      <p:sp>
        <p:nvSpPr>
          <p:cNvPr id="4" name="Text 2"/>
          <p:cNvSpPr/>
          <p:nvPr/>
        </p:nvSpPr>
        <p:spPr>
          <a:xfrm>
            <a:off x="658368" y="416052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캠페인 전략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7327087" y="3977640"/>
            <a:ext cx="4206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 · 빅 아이디어</a:t>
            </a:r>
            <a:endParaRPr lang="en-US" sz="1200" dirty="0"/>
          </a:p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 · 캠페인 구조</a:t>
            </a:r>
            <a:endParaRPr lang="en-US" sz="1200" dirty="0"/>
          </a:p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19 · 온라인 콘텐츠</a:t>
            </a:r>
            <a:endParaRPr lang="en-US" sz="1200" dirty="0"/>
          </a:p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 · 팝업 캠페인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299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· 캠페인 전략 · 빅 아이디어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554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 BIG IDEA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58368" y="1874520"/>
            <a:ext cx="8229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8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루틴은 내가,</a:t>
            </a:r>
            <a:endParaRPr lang="en-US" sz="42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준비는 </a:t>
            </a:r>
            <a:pPr indent="0" marL="0">
              <a:lnSpc>
                <a:spcPts val="4800"/>
              </a:lnSpc>
              <a:buNone/>
            </a:pPr>
            <a:r>
              <a:rPr lang="en-US" sz="4200" b="1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</a:t>
            </a:r>
            <a:pPr indent="0" marL="0">
              <a:lnSpc>
                <a:spcPts val="48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가.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658368" y="3566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FD0D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준비까지 열심히 살 필요는 없으니까.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58368" y="44805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6A7A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펭귄이 2030의 일상에서 반복되는 준비를 발견하고, 청호나이스의 제품 기능으로 하나씩 줄여주는 캠페인.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58368" y="5074920"/>
            <a:ext cx="1901952" cy="402336"/>
          </a:xfrm>
          <a:prstGeom prst="roundRect">
            <a:avLst>
              <a:gd name="adj" fmla="val 50000"/>
            </a:avLst>
          </a:prstGeom>
          <a:ln w="15875">
            <a:solidFill>
              <a:srgbClr val="5A5A6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5074920"/>
            <a:ext cx="19019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7E7E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갓생을 강요하지 않는다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724912" y="5074920"/>
            <a:ext cx="2157984" cy="402336"/>
          </a:xfrm>
          <a:prstGeom prst="roundRect">
            <a:avLst>
              <a:gd name="adj" fmla="val 50000"/>
            </a:avLst>
          </a:prstGeom>
          <a:ln w="15875">
            <a:solidFill>
              <a:srgbClr val="5A5A6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724912" y="5074920"/>
            <a:ext cx="21579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7E7E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바쁜 삶을 미화하지 않는다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47488" y="5074920"/>
            <a:ext cx="2414016" cy="402336"/>
          </a:xfrm>
          <a:prstGeom prst="roundRect">
            <a:avLst>
              <a:gd name="adj" fmla="val 50000"/>
            </a:avLst>
          </a:prstGeom>
          <a:ln w="15875">
            <a:solidFill>
              <a:srgbClr val="5A5A6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47488" y="5074920"/>
            <a:ext cx="24140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7E7E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펭귄이 인생을 해결하지 않는다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626096" y="5074920"/>
            <a:ext cx="3054096" cy="402336"/>
          </a:xfrm>
          <a:prstGeom prst="roundRect">
            <a:avLst>
              <a:gd name="adj" fmla="val 50000"/>
            </a:avLst>
          </a:prstGeom>
          <a:ln w="15875">
            <a:solidFill>
              <a:srgbClr val="5A5A6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626096" y="5074920"/>
            <a:ext cx="30540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7E7E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물·얼음·커피, 구체적인 준비만 맡는다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· 캠페인 전략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24128"/>
            <a:ext cx="1087495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광고 한 편이 아니라,</a:t>
            </a:r>
            <a:endParaRPr lang="en-US" sz="23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발견에서 렌탈까지 이어지는 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흐름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.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658368" y="2834640"/>
            <a:ext cx="1721053" cy="54864"/>
          </a:xfrm>
          <a:prstGeom prst="roundRect">
            <a:avLst>
              <a:gd name="adj" fmla="val 50000"/>
            </a:avLst>
          </a:prstGeom>
          <a:solidFill>
            <a:srgbClr val="DEE8FF"/>
          </a:solidFill>
          <a:ln/>
        </p:spPr>
      </p:sp>
      <p:sp>
        <p:nvSpPr>
          <p:cNvPr id="6" name="Shape 4"/>
          <p:cNvSpPr/>
          <p:nvPr/>
        </p:nvSpPr>
        <p:spPr>
          <a:xfrm>
            <a:off x="585216" y="2788920"/>
            <a:ext cx="146304" cy="146304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7" name="Text 5"/>
          <p:cNvSpPr/>
          <p:nvPr/>
        </p:nvSpPr>
        <p:spPr>
          <a:xfrm>
            <a:off x="658368" y="3017520"/>
            <a:ext cx="172105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58368" y="3236976"/>
            <a:ext cx="172105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발견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58368" y="3547872"/>
            <a:ext cx="17210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 마스코트 리런칭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58368" y="4133088"/>
            <a:ext cx="172105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등장한다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489149" y="2834640"/>
            <a:ext cx="1721053" cy="54864"/>
          </a:xfrm>
          <a:prstGeom prst="roundRect">
            <a:avLst>
              <a:gd name="adj" fmla="val 50000"/>
            </a:avLst>
          </a:prstGeom>
          <a:solidFill>
            <a:srgbClr val="DEE8FF"/>
          </a:solidFill>
          <a:ln/>
        </p:spPr>
      </p:sp>
      <p:sp>
        <p:nvSpPr>
          <p:cNvPr id="12" name="Shape 10"/>
          <p:cNvSpPr/>
          <p:nvPr/>
        </p:nvSpPr>
        <p:spPr>
          <a:xfrm>
            <a:off x="2415997" y="2788920"/>
            <a:ext cx="146304" cy="146304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13" name="Text 11"/>
          <p:cNvSpPr/>
          <p:nvPr/>
        </p:nvSpPr>
        <p:spPr>
          <a:xfrm>
            <a:off x="2489149" y="3017520"/>
            <a:ext cx="172105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2489149" y="3236976"/>
            <a:ext cx="172105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공감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2489149" y="3547872"/>
            <a:ext cx="17210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준비 노동을 다룬 숏폼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2489149" y="4133088"/>
            <a:ext cx="172105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관찰한다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319930" y="2834640"/>
            <a:ext cx="1721053" cy="54864"/>
          </a:xfrm>
          <a:prstGeom prst="roundRect">
            <a:avLst>
              <a:gd name="adj" fmla="val 50000"/>
            </a:avLst>
          </a:prstGeom>
          <a:solidFill>
            <a:srgbClr val="DEE8FF"/>
          </a:solidFill>
          <a:ln/>
        </p:spPr>
      </p:sp>
      <p:sp>
        <p:nvSpPr>
          <p:cNvPr id="18" name="Shape 16"/>
          <p:cNvSpPr/>
          <p:nvPr/>
        </p:nvSpPr>
        <p:spPr>
          <a:xfrm>
            <a:off x="4246778" y="2788920"/>
            <a:ext cx="146304" cy="146304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19" name="Text 17"/>
          <p:cNvSpPr/>
          <p:nvPr/>
        </p:nvSpPr>
        <p:spPr>
          <a:xfrm>
            <a:off x="4319930" y="3017520"/>
            <a:ext cx="172105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319930" y="3236976"/>
            <a:ext cx="172105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이해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319930" y="3547872"/>
            <a:ext cx="17210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 기능·비용 진단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319930" y="4133088"/>
            <a:ext cx="172105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설명한다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150712" y="2834640"/>
            <a:ext cx="1721053" cy="54864"/>
          </a:xfrm>
          <a:prstGeom prst="roundRect">
            <a:avLst>
              <a:gd name="adj" fmla="val 50000"/>
            </a:avLst>
          </a:prstGeom>
          <a:solidFill>
            <a:srgbClr val="DEE8FF"/>
          </a:solidFill>
          <a:ln/>
        </p:spPr>
      </p:sp>
      <p:sp>
        <p:nvSpPr>
          <p:cNvPr id="24" name="Shape 22"/>
          <p:cNvSpPr/>
          <p:nvPr/>
        </p:nvSpPr>
        <p:spPr>
          <a:xfrm>
            <a:off x="6077560" y="2788920"/>
            <a:ext cx="146304" cy="146304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25" name="Text 23"/>
          <p:cNvSpPr/>
          <p:nvPr/>
        </p:nvSpPr>
        <p:spPr>
          <a:xfrm>
            <a:off x="6150712" y="3017520"/>
            <a:ext cx="172105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150712" y="3236976"/>
            <a:ext cx="172105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체험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6150712" y="3547872"/>
            <a:ext cx="17210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팝업 시음·제품 조작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150712" y="4133088"/>
            <a:ext cx="172105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안내한다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981493" y="2834640"/>
            <a:ext cx="1721053" cy="54864"/>
          </a:xfrm>
          <a:prstGeom prst="roundRect">
            <a:avLst>
              <a:gd name="adj" fmla="val 50000"/>
            </a:avLst>
          </a:prstGeom>
          <a:solidFill>
            <a:srgbClr val="DEE8FF"/>
          </a:solidFill>
          <a:ln/>
        </p:spPr>
      </p:sp>
      <p:sp>
        <p:nvSpPr>
          <p:cNvPr id="30" name="Shape 28"/>
          <p:cNvSpPr/>
          <p:nvPr/>
        </p:nvSpPr>
        <p:spPr>
          <a:xfrm>
            <a:off x="7908341" y="2788920"/>
            <a:ext cx="146304" cy="146304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31" name="Text 29"/>
          <p:cNvSpPr/>
          <p:nvPr/>
        </p:nvSpPr>
        <p:spPr>
          <a:xfrm>
            <a:off x="7981493" y="3017520"/>
            <a:ext cx="172105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7981493" y="3236976"/>
            <a:ext cx="172105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고려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7981493" y="3547872"/>
            <a:ext cx="17210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상담·견적·리타게팅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7981493" y="4133088"/>
            <a:ext cx="172105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권한다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9812274" y="2834640"/>
            <a:ext cx="1721053" cy="54864"/>
          </a:xfrm>
          <a:prstGeom prst="roundRect">
            <a:avLst>
              <a:gd name="adj" fmla="val 50000"/>
            </a:avLst>
          </a:prstGeom>
          <a:solidFill>
            <a:srgbClr val="DEE8FF"/>
          </a:solidFill>
          <a:ln/>
        </p:spPr>
      </p:sp>
      <p:sp>
        <p:nvSpPr>
          <p:cNvPr id="36" name="Shape 34"/>
          <p:cNvSpPr/>
          <p:nvPr/>
        </p:nvSpPr>
        <p:spPr>
          <a:xfrm>
            <a:off x="9739122" y="2788920"/>
            <a:ext cx="146304" cy="146304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37" name="Text 35"/>
          <p:cNvSpPr/>
          <p:nvPr/>
        </p:nvSpPr>
        <p:spPr>
          <a:xfrm>
            <a:off x="9812274" y="3017520"/>
            <a:ext cx="172105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9812274" y="3236976"/>
            <a:ext cx="172105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관계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9812274" y="3547872"/>
            <a:ext cx="17210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 알림·개인화 루틴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9812274" y="4133088"/>
            <a:ext cx="172105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함께 산다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658368" y="4754880"/>
            <a:ext cx="10874959" cy="1051560"/>
          </a:xfrm>
          <a:prstGeom prst="roundRect">
            <a:avLst>
              <a:gd name="adj" fmla="val 7826"/>
            </a:avLst>
          </a:prstGeom>
          <a:solidFill>
            <a:srgbClr val="F5F5F7"/>
          </a:solidFill>
          <a:ln/>
        </p:spPr>
      </p:sp>
      <p:sp>
        <p:nvSpPr>
          <p:cNvPr id="42" name="Text 40"/>
          <p:cNvSpPr/>
          <p:nvPr/>
        </p:nvSpPr>
        <p:spPr>
          <a:xfrm>
            <a:off x="886968" y="4919472"/>
            <a:ext cx="1041775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단계에서 펭귄이 맡는 역할이 달라진다. 관계 단계의 씨앗은 이미 </a:t>
            </a:r>
            <a:pPr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휘카페 멤버십 라운지</a:t>
            </a:r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 있다. MY NICE ROUTINE 앱은 이 단계에서만 짧게 언급하고 상세는 부록으로.</a:t>
            </a:r>
            <a:endParaRPr lang="en-US" sz="1250" dirty="0"/>
          </a:p>
        </p:txBody>
      </p:sp>
      <p:sp>
        <p:nvSpPr>
          <p:cNvPr id="43" name="Text 41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</a:t>
            </a:r>
            <a:endParaRPr lang="en-US" sz="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· 캠페인 전략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24128"/>
            <a:ext cx="1087495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콘텐츠마다 말은 달라도,</a:t>
            </a:r>
            <a:endParaRPr lang="en-US" sz="23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줄여주는 준비는 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하나씩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.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658368" y="2331720"/>
            <a:ext cx="3411626" cy="2468880"/>
          </a:xfrm>
          <a:prstGeom prst="roundRect">
            <a:avLst>
              <a:gd name="adj" fmla="val 3333"/>
            </a:avLst>
          </a:prstGeom>
          <a:solidFill>
            <a:srgbClr val="ECEEF2"/>
          </a:solidFill>
          <a:ln w="12700">
            <a:solidFill>
              <a:srgbClr val="E8E8E8"/>
            </a:solidFill>
            <a:prstDash val="solid"/>
          </a:ln>
          <a:effectLst>
            <a:outerShdw sx="100000" sy="100000" kx="0" ky="0" algn="bl" rotWithShape="0" blurRad="203200" dist="63500" dir="5400000">
              <a:srgbClr val="191919">
                <a:alpha val="24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13232" y="2386584"/>
            <a:ext cx="3301898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인스타그램 릴스 목업 ]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58368" y="4928616"/>
            <a:ext cx="341162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시리즈 A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58368" y="5129784"/>
            <a:ext cx="341162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펭귄이 미리 준비했습니다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8368" y="5367528"/>
            <a:ext cx="341162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출근·재택·운동 후·주말 홈카페 상황의 10~15초 숏폼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390034" y="2331720"/>
            <a:ext cx="3411626" cy="2468880"/>
          </a:xfrm>
          <a:prstGeom prst="roundRect">
            <a:avLst>
              <a:gd name="adj" fmla="val 3333"/>
            </a:avLst>
          </a:prstGeom>
          <a:solidFill>
            <a:srgbClr val="ECEEF2"/>
          </a:solidFill>
          <a:ln w="12700">
            <a:solidFill>
              <a:srgbClr val="E8E8E8"/>
            </a:solidFill>
            <a:prstDash val="solid"/>
          </a:ln>
          <a:effectLst>
            <a:outerShdw sx="100000" sy="100000" kx="0" ky="0" algn="bl" rotWithShape="0" blurRad="203200" dist="63500" dir="5400000">
              <a:srgbClr val="191919">
                <a:alpha val="24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444898" y="2386584"/>
            <a:ext cx="3301898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댓글 상담 콘텐츠 목업 ]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390034" y="4928616"/>
            <a:ext cx="341162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시리즈 B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390034" y="5129784"/>
            <a:ext cx="341162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펭귄의 냉정한 루틴 상담소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390034" y="5367528"/>
            <a:ext cx="341162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사연과 댓글에 건조하게 답한다. “아직 절반만 홈카페입니다.”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8121701" y="2331720"/>
            <a:ext cx="3411626" cy="2468880"/>
          </a:xfrm>
          <a:prstGeom prst="roundRect">
            <a:avLst>
              <a:gd name="adj" fmla="val 3333"/>
            </a:avLst>
          </a:prstGeom>
          <a:solidFill>
            <a:srgbClr val="ECEEF2"/>
          </a:solidFill>
          <a:ln w="12700">
            <a:solidFill>
              <a:srgbClr val="E8E8E8"/>
            </a:solidFill>
            <a:prstDash val="solid"/>
          </a:ln>
          <a:effectLst>
            <a:outerShdw sx="100000" sy="100000" kx="0" ky="0" algn="bl" rotWithShape="0" blurRad="203200" dist="63500" dir="5400000">
              <a:srgbClr val="191919">
                <a:alpha val="24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176565" y="2386584"/>
            <a:ext cx="3301898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계산기 랜딩페이지 목업 ]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121701" y="4928616"/>
            <a:ext cx="341162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시리즈 C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121701" y="5129784"/>
            <a:ext cx="341162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나의 준비 노동 계산기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121701" y="5367528"/>
            <a:ext cx="341162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생수·커피·얼음 구매 횟수와 시간을 넣으면 월간 준비 행동을 보여주고 상담으로 연결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19</a:t>
            </a:r>
            <a:endParaRPr lang="en-US" sz="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· 캠페인 전략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24128"/>
            <a:ext cx="1087495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팝업은 캐릭터 전시가 아니라,</a:t>
            </a:r>
            <a:endParaRPr lang="en-US" sz="23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제품을 이해시키는 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실험실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이다.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658368" y="2377440"/>
            <a:ext cx="2567864" cy="1280160"/>
          </a:xfrm>
          <a:prstGeom prst="roundRect">
            <a:avLst>
              <a:gd name="adj" fmla="val 6429"/>
            </a:avLst>
          </a:prstGeom>
          <a:solidFill>
            <a:srgbClr val="F5F5F7"/>
          </a:solidFill>
          <a:ln/>
        </p:spPr>
      </p:sp>
      <p:sp>
        <p:nvSpPr>
          <p:cNvPr id="6" name="Shape 4"/>
          <p:cNvSpPr/>
          <p:nvPr/>
        </p:nvSpPr>
        <p:spPr>
          <a:xfrm>
            <a:off x="795528" y="2532888"/>
            <a:ext cx="310896" cy="310896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7" name="Text 5"/>
          <p:cNvSpPr/>
          <p:nvPr/>
        </p:nvSpPr>
        <p:spPr>
          <a:xfrm>
            <a:off x="795528" y="25328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2907792"/>
            <a:ext cx="2202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진단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41248" y="3218688"/>
            <a:ext cx="2202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내가 물·얼음·커피에 쓰는 비용과 행동 수 확인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427400" y="2377440"/>
            <a:ext cx="2567864" cy="1280160"/>
          </a:xfrm>
          <a:prstGeom prst="roundRect">
            <a:avLst>
              <a:gd name="adj" fmla="val 6429"/>
            </a:avLst>
          </a:prstGeom>
          <a:solidFill>
            <a:srgbClr val="F5F5F7"/>
          </a:solidFill>
          <a:ln/>
        </p:spPr>
      </p:sp>
      <p:sp>
        <p:nvSpPr>
          <p:cNvPr id="11" name="Shape 9"/>
          <p:cNvSpPr/>
          <p:nvPr/>
        </p:nvSpPr>
        <p:spPr>
          <a:xfrm>
            <a:off x="3564560" y="2532888"/>
            <a:ext cx="310896" cy="310896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12" name="Text 10"/>
          <p:cNvSpPr/>
          <p:nvPr/>
        </p:nvSpPr>
        <p:spPr>
          <a:xfrm>
            <a:off x="3564560" y="25328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610280" y="2907792"/>
            <a:ext cx="2202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체험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610280" y="3218688"/>
            <a:ext cx="2202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정수·얼음·커피를 직접 조작하고 시음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196432" y="2377440"/>
            <a:ext cx="2567864" cy="1280160"/>
          </a:xfrm>
          <a:prstGeom prst="roundRect">
            <a:avLst>
              <a:gd name="adj" fmla="val 6429"/>
            </a:avLst>
          </a:prstGeom>
          <a:solidFill>
            <a:srgbClr val="F5F5F7"/>
          </a:solidFill>
          <a:ln/>
        </p:spPr>
      </p:sp>
      <p:sp>
        <p:nvSpPr>
          <p:cNvPr id="16" name="Shape 14"/>
          <p:cNvSpPr/>
          <p:nvPr/>
        </p:nvSpPr>
        <p:spPr>
          <a:xfrm>
            <a:off x="6333592" y="2532888"/>
            <a:ext cx="310896" cy="310896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17" name="Text 15"/>
          <p:cNvSpPr/>
          <p:nvPr/>
        </p:nvSpPr>
        <p:spPr>
          <a:xfrm>
            <a:off x="6333592" y="25328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379312" y="2907792"/>
            <a:ext cx="2202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379312" y="3218688"/>
            <a:ext cx="2202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현재 생활 방식과 렌탈 시나리오 비교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8965463" y="2377440"/>
            <a:ext cx="2567864" cy="1280160"/>
          </a:xfrm>
          <a:prstGeom prst="roundRect">
            <a:avLst>
              <a:gd name="adj" fmla="val 6429"/>
            </a:avLst>
          </a:prstGeom>
          <a:solidFill>
            <a:srgbClr val="0057FF"/>
          </a:solidFill>
          <a:ln/>
        </p:spPr>
      </p:sp>
      <p:sp>
        <p:nvSpPr>
          <p:cNvPr id="21" name="Shape 19"/>
          <p:cNvSpPr/>
          <p:nvPr/>
        </p:nvSpPr>
        <p:spPr>
          <a:xfrm>
            <a:off x="9102623" y="2532888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9102623" y="25328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148343" y="2907792"/>
            <a:ext cx="2202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상담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9148343" y="3218688"/>
            <a:ext cx="2202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설치 가능 여부와 맞춤 견적 확인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58368" y="3977640"/>
            <a:ext cx="5277460" cy="1371600"/>
          </a:xfrm>
          <a:prstGeom prst="roundRect">
            <a:avLst>
              <a:gd name="adj" fmla="val 6000"/>
            </a:avLst>
          </a:prstGeom>
          <a:solidFill>
            <a:srgbClr val="F5F5F7"/>
          </a:solidFill>
          <a:ln/>
        </p:spPr>
      </p:sp>
      <p:sp>
        <p:nvSpPr>
          <p:cNvPr id="26" name="Text 24"/>
          <p:cNvSpPr/>
          <p:nvPr/>
        </p:nvSpPr>
        <p:spPr>
          <a:xfrm>
            <a:off x="886968" y="4160520"/>
            <a:ext cx="4820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가칭 · 우리 집 루틴 매니저 연구소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86968" y="4434840"/>
            <a:ext cx="48202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 포토존과 굿즈는 동선 끝에 둔다. 캐릭터를 보러 와서 제품을 써보고 나가게 만드는 구조다.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255868" y="3977640"/>
            <a:ext cx="527746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057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84468" y="4160520"/>
            <a:ext cx="4820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KPI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484468" y="4453128"/>
            <a:ext cx="24101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진단 완료율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8894597" y="4453128"/>
            <a:ext cx="24101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제품 조작률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484468" y="4745736"/>
            <a:ext cx="24101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시음 완료율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8894597" y="4745736"/>
            <a:ext cx="24101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상담 QR 클릭률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484468" y="5038344"/>
            <a:ext cx="24101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설치 상담률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8894597" y="5038344"/>
            <a:ext cx="24101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체험 전후 이해도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658368" y="6291072"/>
            <a:ext cx="108749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근거: 2025 팝업 3,077개, 성수 35.38% 집중, 8~14일 운영이 최고 효율.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</a:t>
            </a:r>
            <a:endParaRPr lang="en-US" sz="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1965960"/>
            <a:ext cx="4572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0" b="1" dirty="0">
                <a:solidFill>
                  <a:srgbClr val="2B2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13000" dirty="0"/>
          </a:p>
        </p:txBody>
      </p:sp>
      <p:sp>
        <p:nvSpPr>
          <p:cNvPr id="4" name="Text 2"/>
          <p:cNvSpPr/>
          <p:nvPr/>
        </p:nvSpPr>
        <p:spPr>
          <a:xfrm>
            <a:off x="658368" y="416052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검증 &amp; 효과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7327087" y="3977640"/>
            <a:ext cx="4206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 · 결과 검증</a:t>
            </a:r>
            <a:endParaRPr lang="en-US" sz="1200" dirty="0"/>
          </a:p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22 · 기대효과와 마무리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· 검증 &amp; 효과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42416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7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조회수보다,</a:t>
            </a:r>
            <a:endParaRPr lang="en-US" sz="17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7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청호나이스가 떠오르고</a:t>
            </a:r>
            <a:endParaRPr lang="en-US" sz="17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7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제품이 </a:t>
            </a:r>
            <a:pPr indent="0" marL="0">
              <a:lnSpc>
                <a:spcPts val="2400"/>
              </a:lnSpc>
              <a:buNone/>
            </a:pPr>
            <a:r>
              <a:rPr lang="en-US" sz="17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궁금해졌는지</a:t>
            </a:r>
            <a:pPr indent="0" marL="0">
              <a:lnSpc>
                <a:spcPts val="2400"/>
              </a:lnSpc>
              <a:buNone/>
            </a:pPr>
            <a:r>
              <a:rPr lang="en-US" sz="17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본다.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58368" y="301752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가설을 여섯 개 나열하지 않는다. 브랜드 연결에서 관계까지 하나의 퍼널로 본다.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58368" y="374904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사전 조사, 광고 노출자·비노출자 비교, 캠페인 후 조사를 </a:t>
            </a:r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항목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으로 설계한다.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864608" y="2103120"/>
            <a:ext cx="6668719" cy="914400"/>
          </a:xfrm>
          <a:prstGeom prst="roundRect">
            <a:avLst>
              <a:gd name="adj" fmla="val 9000"/>
            </a:avLst>
          </a:prstGeom>
          <a:solidFill>
            <a:srgbClr val="9FC0FF"/>
          </a:solidFill>
          <a:ln/>
        </p:spPr>
      </p:sp>
      <p:sp>
        <p:nvSpPr>
          <p:cNvPr id="8" name="Text 6"/>
          <p:cNvSpPr/>
          <p:nvPr/>
        </p:nvSpPr>
        <p:spPr>
          <a:xfrm>
            <a:off x="5047488" y="2240280"/>
            <a:ext cx="6302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 연결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047488" y="2542032"/>
            <a:ext cx="630295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펭귄을 보고 청호나이스를 떠올리는가 · 2030에게 적합하다 느끼는가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331418" y="3108960"/>
            <a:ext cx="5735099" cy="914400"/>
          </a:xfrm>
          <a:prstGeom prst="roundRect">
            <a:avLst>
              <a:gd name="adj" fmla="val 9000"/>
            </a:avLst>
          </a:prstGeom>
          <a:solidFill>
            <a:srgbClr val="5B8CFF"/>
          </a:solidFill>
          <a:ln/>
        </p:spPr>
      </p:sp>
      <p:sp>
        <p:nvSpPr>
          <p:cNvPr id="11" name="Text 9"/>
          <p:cNvSpPr/>
          <p:nvPr/>
        </p:nvSpPr>
        <p:spPr>
          <a:xfrm>
            <a:off x="5514298" y="3246120"/>
            <a:ext cx="53693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 이해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514298" y="3547872"/>
            <a:ext cx="536933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정수·얼음·커피 통합을 이해하는가 · ‘준비 감소’ 편익을 기억하는가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798229" y="4114800"/>
            <a:ext cx="4801478" cy="914400"/>
          </a:xfrm>
          <a:prstGeom prst="roundRect">
            <a:avLst>
              <a:gd name="adj" fmla="val 9000"/>
            </a:avLst>
          </a:prstGeom>
          <a:solidFill>
            <a:srgbClr val="2F6BFF"/>
          </a:solidFill>
          <a:ln/>
        </p:spPr>
      </p:sp>
      <p:sp>
        <p:nvSpPr>
          <p:cNvPr id="14" name="Text 12"/>
          <p:cNvSpPr/>
          <p:nvPr/>
        </p:nvSpPr>
        <p:spPr>
          <a:xfrm>
            <a:off x="5981109" y="4251960"/>
            <a:ext cx="44357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행동 변화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981109" y="4553712"/>
            <a:ext cx="44357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 검색 · 비용 진단 · 팝업 체험 · 상담 신청 · 렌탈 고려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265039" y="5120640"/>
            <a:ext cx="3867857" cy="914400"/>
          </a:xfrm>
          <a:prstGeom prst="roundRect">
            <a:avLst>
              <a:gd name="adj" fmla="val 9000"/>
            </a:avLst>
          </a:prstGeom>
          <a:solidFill>
            <a:srgbClr val="0057FF"/>
          </a:solidFill>
          <a:ln/>
        </p:spPr>
      </p:sp>
      <p:sp>
        <p:nvSpPr>
          <p:cNvPr id="17" name="Text 15"/>
          <p:cNvSpPr/>
          <p:nvPr/>
        </p:nvSpPr>
        <p:spPr>
          <a:xfrm>
            <a:off x="6447919" y="5257800"/>
            <a:ext cx="350209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관계 변화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47919" y="5559552"/>
            <a:ext cx="3502097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앱·CRM 반응 · 동일 브랜드 재선택 의향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</a:t>
            </a:r>
            <a:endParaRPr lang="en-US" sz="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299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· 검증 &amp; 효과 · 기대효과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658368" y="1554480"/>
            <a:ext cx="2513000" cy="1920240"/>
          </a:xfrm>
          <a:prstGeom prst="roundRect">
            <a:avLst>
              <a:gd name="adj" fmla="val 3810"/>
            </a:avLst>
          </a:prstGeom>
          <a:solidFill>
            <a:srgbClr val="2A2A2D"/>
          </a:solidFill>
          <a:ln w="12700">
            <a:solidFill>
              <a:srgbClr val="3A3A3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719072"/>
            <a:ext cx="2183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822960" y="2011680"/>
            <a:ext cx="2183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A6A7A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기능 중심 정수기 브랜드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22960" y="2487168"/>
            <a:ext cx="21838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↓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22960" y="2743200"/>
            <a:ext cx="21838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생활을 이해하는 브랜드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45688" y="1554480"/>
            <a:ext cx="2513000" cy="1920240"/>
          </a:xfrm>
          <a:prstGeom prst="roundRect">
            <a:avLst>
              <a:gd name="adj" fmla="val 3810"/>
            </a:avLst>
          </a:prstGeom>
          <a:solidFill>
            <a:srgbClr val="2A2A2D"/>
          </a:solidFill>
          <a:ln w="12700">
            <a:solidFill>
              <a:srgbClr val="3A3A3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10280" y="1719072"/>
            <a:ext cx="2183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3610280" y="2011680"/>
            <a:ext cx="2183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A6A7A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기능이 많은 복합 제품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610280" y="2487168"/>
            <a:ext cx="21838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↓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610280" y="2743200"/>
            <a:ext cx="21838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반복 준비를 줄이는 생활 기반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33008" y="1554480"/>
            <a:ext cx="2513000" cy="1920240"/>
          </a:xfrm>
          <a:prstGeom prst="roundRect">
            <a:avLst>
              <a:gd name="adj" fmla="val 3810"/>
            </a:avLst>
          </a:prstGeom>
          <a:solidFill>
            <a:srgbClr val="2A2A2D"/>
          </a:solidFill>
          <a:ln w="12700">
            <a:solidFill>
              <a:srgbClr val="3A3A3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97600" y="1719072"/>
            <a:ext cx="2183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커뮤니케이션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97600" y="2011680"/>
            <a:ext cx="2183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A6A7A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그때마다 달라지는 콘텐츠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397600" y="2487168"/>
            <a:ext cx="21838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↓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397600" y="2743200"/>
            <a:ext cx="21838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펭귄으로 축적되는 브랜드 언어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020327" y="1554480"/>
            <a:ext cx="2513000" cy="1920240"/>
          </a:xfrm>
          <a:prstGeom prst="roundRect">
            <a:avLst>
              <a:gd name="adj" fmla="val 3810"/>
            </a:avLst>
          </a:prstGeom>
          <a:solidFill>
            <a:srgbClr val="2A2A2D"/>
          </a:solidFill>
          <a:ln w="12700">
            <a:solidFill>
              <a:srgbClr val="3A3A3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84919" y="1719072"/>
            <a:ext cx="2183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비즈니스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9184919" y="2011680"/>
            <a:ext cx="2183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A6A7A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광고 노출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9184919" y="2487168"/>
            <a:ext cx="21838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↓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184919" y="2743200"/>
            <a:ext cx="21838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체험·상담·렌탈 고려로 이어지는 흐름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58368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6A7A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부모님 집의 정수기에서, 나의 첫 생활가전으로.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58368" y="438912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12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루틴은 내가, 준비는 </a:t>
            </a:r>
            <a:pPr indent="0" marL="0">
              <a:lnSpc>
                <a:spcPts val="5120"/>
              </a:lnSpc>
              <a:buNone/>
            </a:pPr>
            <a:r>
              <a:rPr lang="en-US" sz="4000" b="1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</a:t>
            </a:r>
            <a:pPr indent="0" marL="0">
              <a:lnSpc>
                <a:spcPts val="512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가.</a:t>
            </a:r>
            <a:endParaRPr lang="en-US" sz="4000" dirty="0"/>
          </a:p>
        </p:txBody>
      </p:sp>
      <p:sp>
        <p:nvSpPr>
          <p:cNvPr id="26" name="Text 24"/>
          <p:cNvSpPr/>
          <p:nvPr/>
        </p:nvSpPr>
        <p:spPr>
          <a:xfrm>
            <a:off x="658368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오준상 · 이민욱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790127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© 2026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2026-07-27T05:49:43Z</dcterms:created>
  <dcterms:modified xsi:type="dcterms:W3CDTF">2026-07-27T05:49:43Z</dcterms:modified>
</cp:coreProperties>
</file>