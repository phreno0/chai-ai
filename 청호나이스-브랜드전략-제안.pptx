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Pretendard"/>
      <p:regular r:id="rId35"/>
      <p:bold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font" Target="fonts/font1.fntdata"/><Relationship Id="rId36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61327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· 브랜드 커뮤니케이션 전략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0" y="14173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8308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600" dirty="0"/>
          </a:p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3352648" y="3429000"/>
            <a:ext cx="5486400" cy="2148840"/>
          </a:xfrm>
          <a:prstGeom prst="roundRect">
            <a:avLst>
              <a:gd name="adj" fmla="val 3830"/>
            </a:avLst>
          </a:prstGeom>
          <a:solidFill>
            <a:srgbClr val="26262B"/>
          </a:solidFill>
          <a:ln w="12700">
            <a:solidFill>
              <a:srgbClr val="303036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07512" y="3483864"/>
            <a:ext cx="537667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D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에스프레카페 정수기 옆에 펭귄이 지키고 선 이미지 ]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61327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Communication Strategy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젊은 고객의 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첫번째 정수기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되기 위해.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2030은 생애가치가 높다. 한번 선택하면 오래 이어지기 때문에, 첫 구매를 잡으려면 이들이 관심 있어 하는 제품으로 청호나이스에 진입시켜야 한다.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과제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4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신제품과 브랜드를 2030에게 효과적으로 알리는 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476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재해석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4760" y="3337560"/>
            <a:ext cx="4742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청호나이스를 부모님 집에서 보던 정수기에서, 내가 처음 고려하는 생활가전으로 전환하는 것.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46634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만들어야 할 전환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5680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5680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4400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0160" y="50474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0160" y="50474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관련성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0148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67248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7248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596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21728" y="5047488"/>
            <a:ext cx="7498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1728" y="504748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71536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37296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96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 고려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요약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번거로운 준비 과정을 없애는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‘매니저 펭귄’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캐릭터 브랜딩 전략.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240280"/>
            <a:ext cx="52546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59736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· 준비의 문제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2688" y="2907792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" y="2816352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커피에 반복 지출하는 독립 2030 — 생수를 사고 아이스커피를 매일 마시는 1~2인 가구.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32688" y="3474720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115568" y="33832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물, 얼음, 커피를 각각 사서 만들어야 하는 번거로운 준비 루틴.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2688" y="4041648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15568" y="395020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통합한 에스프레카페 — 세 가지 준비를 한 기기로 끝낸다.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8728" y="2240280"/>
            <a:ext cx="52546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4760" y="2459736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 · 아아 준비를 없애는 매니저, 펭귄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53048" y="2907792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735928" y="2816352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캐릭터 중심의 광고·SNS·팝업스토어.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53048" y="3474720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35928" y="33832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다른 콘텐츠가 하나의 캐릭터 서사로 쌓인다.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53048" y="4041648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35928" y="395020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청호나이스가 만든 캐릭터 자산을 다시 활용한다.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0" y="4626864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261208" y="4956048"/>
            <a:ext cx="5669280" cy="548640"/>
          </a:xfrm>
          <a:prstGeom prst="roundRect">
            <a:avLst>
              <a:gd name="adj" fmla="val 16667"/>
            </a:avLst>
          </a:prstGeom>
          <a:solidFill>
            <a:srgbClr val="0057FF"/>
          </a:solidFill>
          <a:ln/>
        </p:spPr>
      </p:sp>
      <p:sp>
        <p:nvSpPr>
          <p:cNvPr id="23" name="Text 21"/>
          <p:cNvSpPr/>
          <p:nvPr/>
        </p:nvSpPr>
        <p:spPr>
          <a:xfrm>
            <a:off x="3261208" y="495604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렌탈 브랜드의 적합도와 구매 유도 확대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진단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카테고리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청호나이스의 현재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청호나이스만의 자산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 광고는 다르지만,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기억에는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남는다.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코OO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얼음정수기, 슬림한 크기와 풍부한 제빙, IoT 맞춤 기능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51376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SKOO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51376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크고 단단한 얼음, 쉽게 녹지 않는 빙질과 위생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쿠OO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100도 물맛과 드립커피 기능, 끓인 물 위생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51376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LGOO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51376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4334256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음성제어, 맞춤 출수, 전 구간 고온 살균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36408" y="2423160"/>
            <a:ext cx="3696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공통 언어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36408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용량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3104" y="2752344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2752344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 속도·빙질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186416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6416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살균·위생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836408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슬림한 크기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51976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컬러·디자인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067544" y="313639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67544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앱·AI 기능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36408" y="3666744"/>
            <a:ext cx="3696919" cy="996696"/>
          </a:xfrm>
          <a:prstGeom prst="roundRect">
            <a:avLst>
              <a:gd name="adj" fmla="val 8257"/>
            </a:avLst>
          </a:prstGeom>
          <a:solidFill>
            <a:srgbClr val="F5F5F7"/>
          </a:solidFill>
          <a:ln/>
        </p:spPr>
      </p:sp>
      <p:sp>
        <p:nvSpPr>
          <p:cNvPr id="31" name="Text 29"/>
          <p:cNvSpPr/>
          <p:nvPr/>
        </p:nvSpPr>
        <p:spPr>
          <a:xfrm>
            <a:off x="8037576" y="3831336"/>
            <a:ext cx="329458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치열한 경쟁 속에서도 브랜드들의 카피는 여전히 기능에 치중되어 있다. 청호나이스의 카피 역시 비슷해서, 소비자 입장에서는 뾰족한 차별점을 느끼기 어렵다.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각 사 2025 공식 캠페인·제품 페이지 종합. 브랜드명은 비교 목적상 익명 처리.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콘텐츠의 방향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01 ]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41116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95980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02 ]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23864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78728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03 ]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06611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061475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04 ]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4617720"/>
            <a:ext cx="10874959" cy="914400"/>
          </a:xfrm>
          <a:prstGeom prst="roundRect">
            <a:avLst>
              <a:gd name="adj" fmla="val 9000"/>
            </a:avLst>
          </a:prstGeom>
          <a:solidFill>
            <a:srgbClr val="F5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886968" y="4764024"/>
            <a:ext cx="10417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청호나이스는 숏폼과 AI 콘텐츠를 적극적으로 만들고 있다. 문제는 형식이 아니라 축적이다. 콘텐츠마다 말이 달라, 2030이 제품을 선택해야 할 이유가 하나의 브랜드 인상으로 남지 않는다.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41116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23864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06611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>
              <a:alpha val="7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0" y="2468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Insight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283464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2030이 제품을 선택할 이유가,</a:t>
            </a:r>
            <a:endParaRPr lang="en-US" sz="30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브랜드 인상</a:t>
            </a:r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남지 않는다.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만들기 전에,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가진 것을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묶을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수 있다.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788920"/>
            <a:ext cx="10874959" cy="0"/>
          </a:xfrm>
          <a:prstGeom prst="line">
            <a:avLst/>
          </a:prstGeom>
          <a:noFill/>
          <a:ln w="1905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5572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광고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833360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870564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4800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기술과 역사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08352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커피얼음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45556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99792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커피얼음정수기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83344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0547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74784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콘텐츠·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58335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395539" y="2738628"/>
            <a:ext cx="100584" cy="100584"/>
          </a:xfrm>
          <a:prstGeom prst="ellipse">
            <a:avLst/>
          </a:prstGeom>
          <a:solidFill>
            <a:srgbClr val="1E9BE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49775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마스코트 시스템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4160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이미 가진 자산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정수·얼음·커피 올인원 제품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75888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자동 세척과 위생 관리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4855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과거 펭귄 광고 캐릭터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75888" y="4855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휘카페·캡슐·멤버십 접점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601407" y="4160520"/>
            <a:ext cx="1828800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656271" y="4215384"/>
            <a:ext cx="17190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펭귄 캐릭터 ]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13087" y="4160520"/>
            <a:ext cx="1920240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67951" y="4215384"/>
            <a:ext cx="181051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에스프레카페 제품 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‘세계 최초’·판매량·렌탈료 표현은 최종 제출 전 공식 자료와 날짜로 재확인.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&amp; 인사이트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핵심 타깃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생활 시나리오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현실적인 경제성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핵심 인사이트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볼 사람은 ‘2030’이 아니라,</a:t>
            </a:r>
            <a:endParaRPr lang="en-US" sz="17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소비가 큰 독립 생활자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타깃은 2030 중에서도 반복적인 소비가 큰 독립 1~2인 가구다.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78408" y="2926080"/>
            <a:ext cx="0" cy="274320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5669280"/>
            <a:ext cx="2743200" cy="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247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의향은 높지만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 빈도 낮음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231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0057FF"/>
          </a:solidFill>
          <a:ln/>
        </p:spPr>
      </p:sp>
      <p:sp>
        <p:nvSpPr>
          <p:cNvPr id="11" name="Text 9"/>
          <p:cNvSpPr/>
          <p:nvPr/>
        </p:nvSpPr>
        <p:spPr>
          <a:xfrm>
            <a:off x="24963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 크고 지불 의향 높음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1247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저관여 소비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4963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소비는 많지만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 낮음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57424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커피·생수 소비 빈도 →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704088" y="4178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준비·관리 감소 지불 의향 →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47488" y="658368"/>
            <a:ext cx="6485839" cy="5541264"/>
          </a:xfrm>
          <a:prstGeom prst="roundRect">
            <a:avLst>
              <a:gd name="adj" fmla="val 1485"/>
            </a:avLst>
          </a:prstGeom>
          <a:solidFill>
            <a:srgbClr val="F5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932688"/>
            <a:ext cx="777240" cy="777240"/>
          </a:xfrm>
          <a:prstGeom prst="ellipse">
            <a:avLst/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76672" y="987552"/>
            <a:ext cx="6675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[인물]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81928" y="932688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타깃명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81928" y="1133856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생산성 · 2030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81928" y="14630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· 1~2인 가구 · 독립 1~5년차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21808" y="2029968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아이스커피 주 4회 이상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21808" y="2414016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구매 경험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321808" y="2798064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운동·영양·수면 등 자기관리와 생산성에 소비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321808" y="3182112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시간과 편의를 위해 비용을 지불한 경험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321808" y="5513832"/>
            <a:ext cx="5937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‘웰니스 2030’은 너무 넓다. 세대가 아니라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소비와 지불 의향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좁힌다.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커피를 마시는 데보다,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준비하는 데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더 많은 행동을 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514600"/>
            <a:ext cx="10874959" cy="0"/>
          </a:xfrm>
          <a:prstGeom prst="line">
            <a:avLst/>
          </a:prstGeom>
          <a:noFill/>
          <a:ln w="25400">
            <a:solidFill>
              <a:srgbClr val="005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58368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물·영양제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491463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9" name="Text 7"/>
          <p:cNvSpPr/>
          <p:nvPr/>
        </p:nvSpPr>
        <p:spPr>
          <a:xfrm>
            <a:off x="2470861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출근길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470861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테이크아웃 커피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03956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2" name="Text 10"/>
          <p:cNvSpPr/>
          <p:nvPr/>
        </p:nvSpPr>
        <p:spPr>
          <a:xfrm>
            <a:off x="4283354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83354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중 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5848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95848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아이스커피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5790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Shape 15"/>
          <p:cNvSpPr/>
          <p:nvPr/>
        </p:nvSpPr>
        <p:spPr>
          <a:xfrm>
            <a:off x="7002094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8" name="Text 16"/>
          <p:cNvSpPr/>
          <p:nvPr/>
        </p:nvSpPr>
        <p:spPr>
          <a:xfrm>
            <a:off x="7908341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908341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운동 후 냉수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741435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9"/>
          <p:cNvSpPr/>
          <p:nvPr/>
        </p:nvSpPr>
        <p:spPr>
          <a:xfrm>
            <a:off x="9720834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주말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720834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주문·재활용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80777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27081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0690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행동에서 반복되는 마찰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64408" y="4123944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주문·운반·보관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카페 방문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8368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얼음 트레이 관리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767328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캡슐·머신 세척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필터·위생 걱정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767328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여러 기기의 공간 점유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059168" y="4069080"/>
            <a:ext cx="4474159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34" name="Text 32"/>
          <p:cNvSpPr/>
          <p:nvPr/>
        </p:nvSpPr>
        <p:spPr>
          <a:xfrm>
            <a:off x="7287768" y="4251960"/>
            <a:ext cx="40169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“집에서 마시려고 머신은 샀는데, 얼음 없으면 결국 편의점에 가요.”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종료 후 팀 문장을 실제 응답자 발화로 교체. 마찰 지점 개수는 관찰 기록 반영.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모두에게 싸지는 않다.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쓰는 사람에게는 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합칠 이유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있다.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‘더 싸게’를 무리하게 주장하기보다, 많이 쓰는 사람에게 합칠 이유가 있다고 말하는 편이 신뢰도가 높다.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4937760"/>
            <a:ext cx="3566160" cy="914400"/>
          </a:xfrm>
          <a:prstGeom prst="roundRect">
            <a:avLst>
              <a:gd name="adj" fmla="val 9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0474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에스프레카페는 저빈도 소비자보다, 물과 아이스커피를 반복 구매하는 생활자에게 더 설득력 있는 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대안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36008" y="658368"/>
            <a:ext cx="68973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소비 시나리오의 월 지출 (개념 비교)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36008" y="3948379"/>
            <a:ext cx="822960" cy="395021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0" name="Shape 8"/>
          <p:cNvSpPr/>
          <p:nvPr/>
        </p:nvSpPr>
        <p:spPr>
          <a:xfrm>
            <a:off x="4636008" y="3602736"/>
            <a:ext cx="822960" cy="345643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Shape 9"/>
          <p:cNvSpPr/>
          <p:nvPr/>
        </p:nvSpPr>
        <p:spPr>
          <a:xfrm>
            <a:off x="4636008" y="3355848"/>
            <a:ext cx="822960" cy="24688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60794" y="3810122"/>
            <a:ext cx="822960" cy="53327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660794" y="3010205"/>
            <a:ext cx="822960" cy="799917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60794" y="2565806"/>
            <a:ext cx="822960" cy="44439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23634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5581" y="3679765"/>
            <a:ext cx="822960" cy="663635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5581" y="2542105"/>
            <a:ext cx="822960" cy="113766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5581" y="1973275"/>
            <a:ext cx="822960" cy="568830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0" name="Text 18"/>
          <p:cNvSpPr/>
          <p:nvPr/>
        </p:nvSpPr>
        <p:spPr>
          <a:xfrm>
            <a:off x="8548421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가구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710367" y="2862072"/>
            <a:ext cx="822960" cy="14813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3207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5065776"/>
            <a:ext cx="109728" cy="10972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24" name="Text 22"/>
          <p:cNvSpPr/>
          <p:nvPr/>
        </p:nvSpPr>
        <p:spPr>
          <a:xfrm>
            <a:off x="4818888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94960" y="5065776"/>
            <a:ext cx="109728" cy="109728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77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커피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37960" y="5065776"/>
            <a:ext cx="109728" cy="10972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얼음·캡슐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0" y="5065776"/>
            <a:ext cx="109728" cy="1097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36008" y="5413248"/>
            <a:ext cx="6897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금액은 누적 막대. 실제 금액은 시나리오별 계산(생수·카페 커피·얼음/캡슐·렌탈료·원료비·전기료·시간)으로 확정.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 · 핵심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루틴은 의지가 아니라,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준비에서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무너진다.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5836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3803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“막상 얼리는 게 귀찮아서 홈카페를 자주 포기해요.”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4663440"/>
            <a:ext cx="479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응답으로 교체 예정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7872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결과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7328" y="380390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홈카페를 자주 포기하는 이유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1위 얼음 준비 · 2위 세척 · 3위 시간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07328" y="455371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7328" y="45537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후 수치 반영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숫자를 채우지 않고 조사 예정 위치만 정한다.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브랜드가 맡을 역할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캐릭터 마케팅의 효과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캐릭터 자산 현대화 사례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펭귄을 선택한 이유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· 펭귄의 재정의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· 펭귄 자산 검증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‘기능이 많은 정수기’가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준비를 끝내주는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가전으로.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Proposition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따로 준비하던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물·얼음·커피를 하나로.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5760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Role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신경 쓰기 전에, 생활의 기본을 준비하는 브랜드.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3063240"/>
            <a:ext cx="1463040" cy="1463040"/>
          </a:xfrm>
          <a:prstGeom prst="ellipse">
            <a:avLst/>
          </a:prstGeom>
          <a:solidFill>
            <a:srgbClr val="0057FF"/>
          </a:solidFill>
          <a:ln/>
          <a:effectLst>
            <a:outerShdw sx="100000" sy="100000" kx="0" ky="0" algn="bl" rotWithShape="0" blurRad="177800" dist="508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81928" y="306324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
</a:t>
            </a:r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얼음 · 커피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84448" y="2990088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42316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구매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9288" y="2990088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2423160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냉수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84448" y="3557016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299008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준비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19288" y="3557016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19288" y="2990088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84448" y="4123944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4448" y="355701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구매·제조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19288" y="4123944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19288" y="3557016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추출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84448" y="4690872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1239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세척·위생 걱정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9288" y="4690872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9288" y="4123944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세척·관리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84448" y="5257800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84448" y="469087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제품의 공간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19288" y="5257800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19288" y="4690872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올인원 구조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왼쪽은 줄어드는 일,  →  오른쪽은 제품이 제공하는 것. 제품을 가운데 두어 연결한다.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캐릭터를 이용한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마케팅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 효과.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81051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캐릭터가 작동하는 방식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795528" y="2450592"/>
            <a:ext cx="0" cy="384048"/>
          </a:xfrm>
          <a:prstGeom prst="line">
            <a:avLst/>
          </a:prstGeom>
          <a:noFill/>
          <a:ln w="19050">
            <a:solidFill>
              <a:srgbClr val="DEE8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2176272"/>
            <a:ext cx="274320" cy="274320"/>
          </a:xfrm>
          <a:prstGeom prst="ellipse">
            <a:avLst/>
          </a:prstGeom>
          <a:solidFill>
            <a:srgbClr val="1E9B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2176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69848" y="21579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69848" y="239572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사람은 얼굴과 캐릭터에 먼저 시선을 준다.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95528" y="3108960"/>
            <a:ext cx="0" cy="384048"/>
          </a:xfrm>
          <a:prstGeom prst="line">
            <a:avLst/>
          </a:prstGeom>
          <a:noFill/>
          <a:ln w="19050">
            <a:solidFill>
              <a:srgbClr val="DEE8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834640"/>
            <a:ext cx="274320" cy="274320"/>
          </a:xfrm>
          <a:prstGeom prst="ellipse">
            <a:avLst/>
          </a:prstGeom>
          <a:solidFill>
            <a:srgbClr val="1E9BE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28163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69848" y="305409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기능을 하나의 성격과 행동으로 번역한다.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95528" y="3767328"/>
            <a:ext cx="0" cy="384048"/>
          </a:xfrm>
          <a:prstGeom prst="line">
            <a:avLst/>
          </a:prstGeom>
          <a:noFill/>
          <a:ln w="19050">
            <a:solidFill>
              <a:srgbClr val="DEE8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493008"/>
            <a:ext cx="274320" cy="274320"/>
          </a:xfrm>
          <a:prstGeom prst="ellipse">
            <a:avLst/>
          </a:prstGeom>
          <a:solidFill>
            <a:srgbClr val="1E9BE6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69848" y="3474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친숙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69848" y="371246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의인화된 존재는 거래처럼 느껴지는 서비스에 관계감을 더한다.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58368" y="4151376"/>
            <a:ext cx="274320" cy="274320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69848" y="413308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69848" y="437083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채널이 달라도 같은 캐릭터가 하나의 인상으로 쌓인다.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27448" y="1810512"/>
            <a:ext cx="6805879" cy="1783080"/>
          </a:xfrm>
          <a:prstGeom prst="roundRect">
            <a:avLst>
              <a:gd name="adj" fmla="val 4615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4946904" y="195681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빌린 주목과 가진 주목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607247" y="1965960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System1 · 슈퍼볼 광고 2020–2023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946904" y="2249424"/>
            <a:ext cx="202478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46904" y="2313432"/>
            <a:ext cx="20247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2.8★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001768" y="2578608"/>
            <a:ext cx="19150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기용 광고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전체의 37%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117994" y="2249424"/>
            <a:ext cx="202478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17994" y="2313432"/>
            <a:ext cx="20247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2.8★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72858" y="2578608"/>
            <a:ext cx="19150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없는 광고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전체의 38%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289085" y="2249424"/>
            <a:ext cx="2024786" cy="658368"/>
          </a:xfrm>
          <a:prstGeom prst="roundRect">
            <a:avLst>
              <a:gd name="adj" fmla="val 8333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89085" y="2313432"/>
            <a:ext cx="20247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3.7★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343949" y="2578608"/>
            <a:ext cx="19150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소유한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캐릭터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946904" y="2999232"/>
            <a:ext cx="63669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연예인을 쓴다는 사실만으로는 효과 차이가 없었다. 차이를 만든 건 </a:t>
            </a:r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반복해서 쓰는 캐릭터</a:t>
            </a:r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였다. IPA 사업 데이터 분석에서도 캐릭터가 연예인보다 크고 오래가는 효과를 냈다.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27448" y="3712464"/>
            <a:ext cx="6805879" cy="1298448"/>
          </a:xfrm>
          <a:prstGeom prst="roundRect">
            <a:avLst>
              <a:gd name="adj" fmla="val 6338"/>
            </a:avLst>
          </a:prstGeom>
          <a:solidFill>
            <a:srgbClr val="F5F5F7"/>
          </a:solidFill>
          <a:ln/>
        </p:spPr>
      </p:sp>
      <p:sp>
        <p:nvSpPr>
          <p:cNvPr id="39" name="Text 37"/>
          <p:cNvSpPr/>
          <p:nvPr/>
        </p:nvSpPr>
        <p:spPr>
          <a:xfrm>
            <a:off x="4946904" y="38587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구별 자산으로 관리한다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607247" y="3867912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Romaniuk · Ehrenberg-Bass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946904" y="4133088"/>
            <a:ext cx="636696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캐릭터는 감각이 아니라 두 축으로 관리하는 자산이다. </a:t>
            </a:r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인지도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(얼마나 많은 사람이 브랜드와 연결하는가)와 </a:t>
            </a:r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고유성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(그 연결이 우리 브랜드에만 걸리는가). 두 축이 함께 높을 때만 식별 장치로 작동하고, 통상 50%를 기준선으로 본다.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946904" y="4700016"/>
            <a:ext cx="63669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16장의 검증 설계가 이 두 축을 그대로 측정한다.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58368" y="5138928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5248656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캐릭터는 장식이 아니라, 흩어진 콘텐츠를 하나의 브랜드 인상으로 묶는 장치다.</a:t>
            </a:r>
            <a:endParaRPr lang="en-US" sz="1550" dirty="0"/>
          </a:p>
        </p:txBody>
      </p:sp>
      <p:sp>
        <p:nvSpPr>
          <p:cNvPr id="45" name="Text 43"/>
          <p:cNvSpPr/>
          <p:nvPr/>
        </p:nvSpPr>
        <p:spPr>
          <a:xfrm>
            <a:off x="658368" y="555040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그리고 이 카테고리는 연예인 모델 중심이다 — 소유된 캐릭터 자산은 아직 비어 있다.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58368" y="59801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캐릭터는 통상 3년 정도 일관되게 써야 효과가 측정된다(System1). 재인용 수치(회상률 88%·수익 73% 등)는 원 출처 확보 전까지 본문 제외. 상세 출처는 부록.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058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캐릭터를 되살린 브랜드들은,</a:t>
            </a:r>
            <a:endParaRPr lang="en-US" sz="22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외형이 아니라 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바꿨다.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2176272"/>
            <a:ext cx="10874959" cy="384048"/>
          </a:xfrm>
          <a:prstGeom prst="roundRect">
            <a:avLst>
              <a:gd name="adj" fmla="val 21429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176272"/>
            <a:ext cx="103994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리트로 브랜딩 연구는 성공한 부활을 ‘복원’이 아니라 </a:t>
            </a:r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‘과거의 의미 + 지금의 기능’의 결합</a:t>
            </a:r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설명한다.  Brown, Kozinets &amp; Sherry, Journal of Marketing (2003)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58368" y="2724912"/>
            <a:ext cx="2554148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889504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하이트진로 · 두꺼비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41248" y="3108960"/>
            <a:ext cx="21883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1950년대 상표 캐릭터 · 90년대 이후 중단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41248" y="3438144"/>
            <a:ext cx="21883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라벨과 캐릭터는 복원하되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2030용으로 재배치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(도수 16.9도). 팝업·굿즈·숏폼으로 확장.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41248" y="4151376"/>
            <a:ext cx="21883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목표를 2개월에 달성</a:t>
            </a:r>
            <a:endParaRPr lang="en-US" sz="95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4년 만에 누적 15억 병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1248" y="4581144"/>
            <a:ext cx="2188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캐릭터샵 ‘두껍상회’ 누적 45만 명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31972" y="2724912"/>
            <a:ext cx="2554148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4852" y="2889504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대한제분 · 곰표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14852" y="3108960"/>
            <a:ext cx="21883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1952년 밀가루 포대의 곰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14852" y="3438144"/>
            <a:ext cx="21883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촌스러움을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지우지 않고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뉴트로 감각으로 재해석. 이종 카테고리 협업으로 노출.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14852" y="4151376"/>
            <a:ext cx="21883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밀맥주 약 3년간 6천만 캔</a:t>
            </a:r>
            <a:endParaRPr lang="en-US" sz="95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TV 광고 없이 편의점 1위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14852" y="4581144"/>
            <a:ext cx="2188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제품 20여 종으로 확장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205576" y="2724912"/>
            <a:ext cx="2554148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88456" y="2889504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KFC · 커널 샌더스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88456" y="3108960"/>
            <a:ext cx="21883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창업자 캐릭터 · 사실상 방치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388456" y="3438144"/>
            <a:ext cx="21883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창업자를 광고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전면으로 복귀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시키고, 연기하는 배우를 계속 교체해 화제성을 유지.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88456" y="4151376"/>
            <a:ext cx="21883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10년 하락 뒤</a:t>
            </a:r>
            <a:endParaRPr lang="en-US" sz="95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3% 성장 전환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388456" y="4581144"/>
            <a:ext cx="2188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“초기 반응 80% 긍정·20% 부정 — 무관심 100%보다 낫다”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979179" y="2724912"/>
            <a:ext cx="2554148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62059" y="2889504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미쉐린 · 비벤덤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162059" y="3108960"/>
            <a:ext cx="21883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1898년 마스코트 · 내구재 카테고리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162059" y="3438144"/>
            <a:ext cx="21883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1998년 100주년에 체형을 슬림하게, 시가·모노클 제거.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변화에 맞춰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형태를 갱신.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62059" y="4151376"/>
            <a:ext cx="21883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고관여 내구재에서</a:t>
            </a:r>
            <a:endParaRPr lang="en-US" sz="95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100년 넘게 식별 자산 유지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162059" y="4581144"/>
            <a:ext cx="2188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정수기와 같은 고관여·장기 사용 제품군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58368" y="5084064"/>
            <a:ext cx="5981228" cy="713232"/>
          </a:xfrm>
          <a:prstGeom prst="roundRect">
            <a:avLst>
              <a:gd name="adj" fmla="val 11538"/>
            </a:avLst>
          </a:prstGeom>
          <a:solidFill>
            <a:srgbClr val="FDF5F5"/>
          </a:solidFill>
          <a:ln w="12700">
            <a:solidFill>
              <a:srgbClr val="F0C9C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193792"/>
            <a:ext cx="55788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548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반대 사례 · 실패는 여기서 나왔다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59536" y="5413248"/>
            <a:ext cx="5578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Planters ‘Mr. Peanut’을 더 어린 캐릭터로 교체(2020) → 역할·톤 혼란과 반발. Cracker Barrel이 캐릭터 로고를 지움(2025) → 주가 급락 뒤 며칠 내 원복.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859052" y="5084064"/>
            <a:ext cx="4674276" cy="713232"/>
          </a:xfrm>
          <a:prstGeom prst="roundRect">
            <a:avLst>
              <a:gd name="adj" fmla="val 11538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60220" y="5084064"/>
            <a:ext cx="42719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캐릭터를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어리고 귀엽게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바꾼 쪽이 실패했고,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역할을 바꾼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쪽이 성공했다.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58368" y="5943600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하이트진로·대한제분 보도자료 및 언론 보도, KFC 캠페인 사례 보도, Michelin 공식 브랜드 히스토리. 상세 링크는 부록.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그중에서도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선택한 이유.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842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61872" y="196596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가지고 있는 자산이다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81051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2464" y="19842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36512" y="196596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기능과 의미가 맞는다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7647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39502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61872" y="393192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 기능을 하나의 역할로 번역한다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377647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2464" y="39502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36512" y="393192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이후에도 계속 쓸 수 있다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77824" y="2340864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캐릭터를 빌리거나 새로 만드는 것보다, 청호나이스의 얼음정수기 역사와 연결할 수 있다.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7824" y="2834640"/>
            <a:ext cx="4861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인지도는 조사 전이므로 “2030이 모두 기억하는 캐릭터”가 아니라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“청호나이스가 보유한 과거 광고 자산 후보”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말한다.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52464" y="2340864"/>
            <a:ext cx="486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펭귄은 설명 없이도 떠올리게 한다.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52464" y="2651760"/>
            <a:ext cx="4663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52464" y="2651760"/>
            <a:ext cx="466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991960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1960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차가움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45756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45756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시원함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99552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99552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깨끗함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52464" y="3035808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캐릭터를 가져온 것이 아니라, 얼음정수기의 핵심 기능과 자연스럽게 연결되는 캐릭터다.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77824" y="4306824"/>
            <a:ext cx="486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정수·얼음·커피·세척·관리를 기능별로 설명하면 복잡하다. 펭귄의 역할 하나로 압축한다.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77824" y="4745736"/>
            <a:ext cx="4861408" cy="329184"/>
          </a:xfrm>
          <a:prstGeom prst="roundRect">
            <a:avLst>
              <a:gd name="adj" fmla="val 16667"/>
            </a:avLst>
          </a:prstGeom>
          <a:solidFill>
            <a:srgbClr val="EAF1FF"/>
          </a:solidFill>
          <a:ln/>
        </p:spPr>
      </p:sp>
      <p:sp>
        <p:nvSpPr>
          <p:cNvPr id="31" name="Text 29"/>
          <p:cNvSpPr/>
          <p:nvPr/>
        </p:nvSpPr>
        <p:spPr>
          <a:xfrm>
            <a:off x="877824" y="4745736"/>
            <a:ext cx="486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7824" y="5129784"/>
            <a:ext cx="486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별개인 장식이 아니라, 에스프레카페의 올인원 기능을 의인화한 존재다.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52464" y="4306824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연예인은 한 캠페인의 주목도를 만들지만, 마스코트는 여러 채널에 축적된다.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52464" y="4654296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52464" y="4654296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광고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334860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34860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SNS 숏폼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331556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31556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계산기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328252" y="4654296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28252" y="4654296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안내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0210648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10648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가이드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52464" y="4965192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52464" y="4965192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4860" y="4965192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34860" y="4965192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CRM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988656" y="4965192"/>
            <a:ext cx="4663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88656" y="4965192"/>
            <a:ext cx="466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굿즈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58368" y="5742432"/>
            <a:ext cx="10874959" cy="548640"/>
          </a:xfrm>
          <a:prstGeom prst="roundRect">
            <a:avLst>
              <a:gd name="adj" fmla="val 15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" y="574243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핵심 효과는 친근함이 아니라, </a:t>
            </a:r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콘텐츠를 하나의 브랜드 인상으로 묶는 것</a:t>
            </a:r>
            <a:pPr algn="ctr"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펭귄을,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복원하지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않는다.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94560"/>
            <a:ext cx="5186020" cy="2926080"/>
          </a:xfrm>
          <a:prstGeom prst="roundRect">
            <a:avLst>
              <a:gd name="adj" fmla="val 2813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77440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2697480"/>
            <a:ext cx="4673956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9264" y="2752344"/>
            <a:ext cx="45642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과거 펭귄 광고 스틸 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32688" y="417880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088136" y="4096512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알리는 광고 캐릭터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32688" y="450799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88136" y="442569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귀엽고 활발한 표현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32688" y="4837176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88136" y="475488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주방의 이미지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44388" y="3429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347308" y="2194560"/>
            <a:ext cx="5186020" cy="2926080"/>
          </a:xfrm>
          <a:prstGeom prst="roundRect">
            <a:avLst>
              <a:gd name="adj" fmla="val 2813"/>
            </a:avLst>
          </a:prstGeom>
          <a:solidFill>
            <a:srgbClr val="191919"/>
          </a:solidFill>
          <a:ln/>
        </p:spPr>
      </p:sp>
      <p:sp>
        <p:nvSpPr>
          <p:cNvPr id="17" name="Text 15"/>
          <p:cNvSpPr/>
          <p:nvPr/>
        </p:nvSpPr>
        <p:spPr>
          <a:xfrm>
            <a:off x="6603340" y="2377440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03340" y="2697480"/>
            <a:ext cx="4673956" cy="1234440"/>
          </a:xfrm>
          <a:prstGeom prst="roundRect">
            <a:avLst>
              <a:gd name="adj" fmla="val 6667"/>
            </a:avLst>
          </a:prstGeom>
          <a:solidFill>
            <a:srgbClr val="26262B"/>
          </a:solidFill>
          <a:ln w="12700">
            <a:solidFill>
              <a:srgbClr val="303036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58204" y="2752344"/>
            <a:ext cx="45642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C6D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현대화 펭귄 시안 ]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21628" y="4178808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1" name="Text 19"/>
          <p:cNvSpPr/>
          <p:nvPr/>
        </p:nvSpPr>
        <p:spPr>
          <a:xfrm>
            <a:off x="6777076" y="4096512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생활의 준비를 먼저 끝내는 루틴 매니저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21628" y="4507992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3" name="Text 21"/>
          <p:cNvSpPr/>
          <p:nvPr/>
        </p:nvSpPr>
        <p:spPr>
          <a:xfrm>
            <a:off x="6777076" y="442569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차분하고 능숙한 행동, 건조하고 짧은 유머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21628" y="4837176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777076" y="475488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독립한 2030의 집, 제품과 항상 함께 등장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8368" y="5340096"/>
            <a:ext cx="10874959" cy="731520"/>
          </a:xfrm>
          <a:prstGeom prst="roundRect">
            <a:avLst>
              <a:gd name="adj" fmla="val 1125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5440680"/>
            <a:ext cx="12191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정의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0" y="5650992"/>
            <a:ext cx="12191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58368" y="618134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리런칭은 대표 펭귄 한 마리로 시작. 캐릭터군 확장은 마스코트가 정착한 뒤 단계.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기억되는가보다 중요한 건,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지금도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청호나이스답게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작동하는가.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쓰는 근거는 ‘기억’이 아니라 ‘적합’이다. 그래서 조사 결과가 어느 쪽이든 실행은 멈추지 않는다.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2542032"/>
            <a:ext cx="10874959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266090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조사에서 확인할 것 · 1문항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8895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2030은 청호나이스의 과거 펭귄 광고를 기억하는가?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0" y="340156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3767328"/>
            <a:ext cx="5291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3950208"/>
            <a:ext cx="1431036" cy="256032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3950208"/>
            <a:ext cx="14310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A · 기억한다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77824" y="429768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 리바이벌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77824" y="4636008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광고를 오마주로 전면에 세운다. ‘그 펭귄이 돌아왔다’를 캠페인 진입 후크로 쓴다.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42152" y="3767328"/>
            <a:ext cx="5291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1608" y="3950208"/>
            <a:ext cx="1851660" cy="256032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61608" y="3950208"/>
            <a:ext cx="18516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B · 기억하지 못한다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61608" y="429768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자산 기반 신규 마스코트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61608" y="4636008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헤리티지는 브랜드 스토리로만 남기고, 지금의 역할(준비 매니저)로 처음 소개한다.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5321808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54315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결과는 표현 방식을 정할 뿐,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전략의 방향을 바꾸지 않는다.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13248" y="5541264"/>
            <a:ext cx="5845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3E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경우 모두 그대로 간다 — 펭귄의 역할 정의 · 캠페인 구조(발견 → 관계) · 제품 메시지(준비를 끝내주는 가전)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618134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 — 인지도(Fame)·고유성(Uniqueness) 두 축을 함께 본다. 비보조 펭귄 회상률 · 광고 보조 인지 · 청호나이스 연결률 · 얼음정수기 연상 · 현대화 시안 선호 · 노출 전후 제품 관심 · 프리미엄 이미지 훼손 우려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· 빅 아이디어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· 캠페인 구조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· 온라인 콘텐츠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· 팝업 캠페인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 · 빅 아이디어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58368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0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준비까지 열심히 살 필요는 없으니까.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2030의 일상에서 반복되는 준비를 발견하고, 청호나이스의 제품 기능으로 하나씩 줄여주는 캠페인.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5074920"/>
            <a:ext cx="1901952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507492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갓생을 강요하지 않는다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24912" y="5074920"/>
            <a:ext cx="2157984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50749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삶을 미화하지 않는다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5074920"/>
            <a:ext cx="241401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507492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인생을 해결하지 않는다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26096" y="5074920"/>
            <a:ext cx="305409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50749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물·얼음·커피, 구체적인 준비만 맡는다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렌탈까지 이어지는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마스코트 리런칭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등장한다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9149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415997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9149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89149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89149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노동을 다룬 숏폼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9149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19930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46778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930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9930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19930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기능·비용 진단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9930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설명한다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50712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560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50712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50712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50712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시음·제품 조작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50712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안내한다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81493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908341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1" name="Text 29"/>
          <p:cNvSpPr/>
          <p:nvPr/>
        </p:nvSpPr>
        <p:spPr>
          <a:xfrm>
            <a:off x="7981493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981493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81493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상담·견적·리타게팅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81493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권한다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812274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739122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7" name="Text 35"/>
          <p:cNvSpPr/>
          <p:nvPr/>
        </p:nvSpPr>
        <p:spPr>
          <a:xfrm>
            <a:off x="9812274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812274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812274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알림·개인화 루틴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812274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산다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8368" y="4754880"/>
            <a:ext cx="10874959" cy="1051560"/>
          </a:xfrm>
          <a:prstGeom prst="roundRect">
            <a:avLst>
              <a:gd name="adj" fmla="val 7826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886968" y="4919472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펭귄이 맡는 역할이 달라진다. 관계 단계의 씨앗은 이미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 라운지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있다. MY NICE ROUTINE 앱은 이 단계에서만 짧게 언급하고 상세는 부록으로.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콘텐츠마다 말은 달라도,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줄여주는 준비는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하나씩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인스타그램 릴스 목업 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미리 준비했습니다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출근·재택·운동 후·주말 홈카페 상황의 10~15초 숏폼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90034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44898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댓글 상담 콘텐츠 목업 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90034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90034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냉정한 루틴 상담소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90034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사연과 댓글에 건조하게 답한다. “아직 절반만 홈카페입니다.”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1701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76565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계산기 랜딩페이지 목업 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21701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21701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준비 노동 계산기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21701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생수·커피·얼음 구매 횟수와 시간을 넣으면 월간 준비 행동을 보여주고 상담으로 연결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팝업은 캐릭터 전시가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제품을 이해시키는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물·얼음·커피에 쓰는 비용과 행동 수 확인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7400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564560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6456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0280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직접 조작하고 시음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6432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333592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79312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9312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생활 방식과 렌탈 시나리오 비교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65463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0057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02623" y="253288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02623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8343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8343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가능 여부와 맞춤 견적 확인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가칭 · 우리 집 루틴 매니저 연구소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6968" y="4434840"/>
            <a:ext cx="4820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포토존과 굿즈는 동선 끝에 둔다. 캐릭터를 보러 와서 제품을 써보고 나가게 만드는 구조다.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58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44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KPI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84468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 완료율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94597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제품 조작률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84468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시음 완료율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94597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상담 QR 클릭률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84468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설치 상담률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94597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체험 전후 이해도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2025 팝업 3,077개, 성수 35.38% 집중, 8~14일 운영이 최고 효율.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&amp; 효과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· 결과 검증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· 기대효과와 마무리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조회수보다,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떠오르고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궁금해졌는지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본다.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가설을 여섯 개 나열하지 않는다. 브랜드 연결에서 관계까지 하나의 퍼널로 본다.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조사, 광고 노출자·비노출자 비교, 캠페인 후 조사를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항목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설계한다.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64608" y="2103120"/>
            <a:ext cx="6668719" cy="914400"/>
          </a:xfrm>
          <a:prstGeom prst="roundRect">
            <a:avLst>
              <a:gd name="adj" fmla="val 9000"/>
            </a:avLst>
          </a:prstGeom>
          <a:solidFill>
            <a:srgbClr val="9FC0FF"/>
          </a:solidFill>
          <a:ln/>
        </p:spPr>
      </p:sp>
      <p:sp>
        <p:nvSpPr>
          <p:cNvPr id="8" name="Text 6"/>
          <p:cNvSpPr/>
          <p:nvPr/>
        </p:nvSpPr>
        <p:spPr>
          <a:xfrm>
            <a:off x="5047488" y="224028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연결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47488" y="2542032"/>
            <a:ext cx="6302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보고 청호나이스를 떠올리는가 · 2030에게 적합하다 느끼는가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31418" y="3108960"/>
            <a:ext cx="5735099" cy="914400"/>
          </a:xfrm>
          <a:prstGeom prst="roundRect">
            <a:avLst>
              <a:gd name="adj" fmla="val 9000"/>
            </a:avLst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5514298" y="3246120"/>
            <a:ext cx="5369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4298" y="3547872"/>
            <a:ext cx="53693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 통합을 이해하는가 · ‘준비 감소’ 편익을 기억하는가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98229" y="4114800"/>
            <a:ext cx="4801478" cy="914400"/>
          </a:xfrm>
          <a:prstGeom prst="roundRect">
            <a:avLst>
              <a:gd name="adj" fmla="val 9000"/>
            </a:avLst>
          </a:prstGeom>
          <a:solidFill>
            <a:srgbClr val="2F6B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81109" y="4251960"/>
            <a:ext cx="443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변화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1109" y="4553712"/>
            <a:ext cx="443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검색 · 비용 진단 · 팝업 체험 · 상담 신청 · 렌탈 고려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5039" y="5120640"/>
            <a:ext cx="3867857" cy="914400"/>
          </a:xfrm>
          <a:prstGeom prst="roundRect">
            <a:avLst>
              <a:gd name="adj" fmla="val 9000"/>
            </a:avLst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7919" y="5257800"/>
            <a:ext cx="3502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변화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7919" y="5559552"/>
            <a:ext cx="35020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앱·CRM 반응 · 동일 브랜드 재선택 의향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 · 기대효과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중심 정수기 브랜드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생활을 이해하는 브랜드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568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028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1028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많은 복합 제품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028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준비를 줄이는 생활 기반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760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9760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달라지는 콘텐츠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9760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9760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펭귄으로 축적되는 브랜드 언어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20327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4919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84919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4919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4919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체험·상담·렌탈 고려로 이어지는 흐름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 집의 정수기에서, 나의 첫 생활가전으로.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" y="4389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 준비는 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58368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90127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2026-07-26T10:42:51Z</dcterms:created>
  <dcterms:modified xsi:type="dcterms:W3CDTF">2026-07-26T10:42:51Z</dcterms:modified>
</cp:coreProperties>
</file>