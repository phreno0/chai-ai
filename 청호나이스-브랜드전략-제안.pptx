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embeddedFontLst>
    <p:embeddedFont>
      <p:font typeface="Pretendard"/>
      <p:regular r:id="rId33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font" Target="fonts/font1.fntdata"/><Relationship Id="rId3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352648" y="34290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7512" y="3483864"/>
            <a:ext cx="53766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정수기 옆에 펭귄이 지키고 선 이미지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Diagnosis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Brand Diagnosis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Brand Diagnosis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01 ]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41116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5980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02 ]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23864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78728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03 ]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06611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61475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04 ]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617720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764024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Brand Diagnosis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Target &amp; Insight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Target &amp; Insight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Target &amp; Insight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Target &amp; Insight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Target &amp; Insight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Strategy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브랜드가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펭귄의 재정의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Brand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Brand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필요한 이유는,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귀여워서가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아니다.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423160"/>
            <a:ext cx="341162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6426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기억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2990088"/>
            <a:ext cx="29544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캐릭터의 독창성과 친밀감은 브랜드 인지도와 기억 형성에 도움을 준다.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90034" y="2423160"/>
            <a:ext cx="341162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8634" y="26426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이해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8634" y="2990088"/>
            <a:ext cx="29544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제품 기능을 하나의 성격과 행동으로 번역할 수 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1701" y="2423160"/>
            <a:ext cx="341162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50301" y="26426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관계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50301" y="2990088"/>
            <a:ext cx="29544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의인화된 캐릭터는 거래적으로 느껴지는 서비스에 친숙함을 더한다.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4480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만드는 흐름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4846320"/>
            <a:ext cx="2526716" cy="502920"/>
          </a:xfrm>
          <a:prstGeom prst="roundRect">
            <a:avLst>
              <a:gd name="adj" fmla="val 16364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4846320"/>
            <a:ext cx="2526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85084" y="4846320"/>
            <a:ext cx="256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41116" y="4846320"/>
            <a:ext cx="2526716" cy="502920"/>
          </a:xfrm>
          <a:prstGeom prst="roundRect">
            <a:avLst>
              <a:gd name="adj" fmla="val 16364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3441116" y="4846320"/>
            <a:ext cx="2526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주목과 이해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67832" y="4846320"/>
            <a:ext cx="256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23864" y="4846320"/>
            <a:ext cx="2526716" cy="502920"/>
          </a:xfrm>
          <a:prstGeom prst="roundRect">
            <a:avLst>
              <a:gd name="adj" fmla="val 16364"/>
            </a:avLst>
          </a:prstGeom>
          <a:solidFill>
            <a:srgbClr val="F5F5F7"/>
          </a:solidFill>
          <a:ln/>
        </p:spPr>
      </p:sp>
      <p:sp>
        <p:nvSpPr>
          <p:cNvPr id="22" name="Text 20"/>
          <p:cNvSpPr/>
          <p:nvPr/>
        </p:nvSpPr>
        <p:spPr>
          <a:xfrm>
            <a:off x="6223864" y="4846320"/>
            <a:ext cx="2526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친숙도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50579" y="4846320"/>
            <a:ext cx="256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006611" y="4846320"/>
            <a:ext cx="2526716" cy="502920"/>
          </a:xfrm>
          <a:prstGeom prst="roundRect">
            <a:avLst>
              <a:gd name="adj" fmla="val 16364"/>
            </a:avLst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06611" y="4846320"/>
            <a:ext cx="2526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관심과 관계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 마케팅 학술 연구는 하단 출처. 재인용된 회상률·수익 수치(88%·73% 등)는 원 출처 확보 전까지 본문 제외.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Brand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163160" cy="2103120"/>
          </a:xfrm>
          <a:prstGeom prst="roundRect">
            <a:avLst>
              <a:gd name="adj" fmla="val 39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51176"/>
            <a:ext cx="461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990088"/>
            <a:ext cx="54864" cy="5486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6936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32688" y="3392424"/>
            <a:ext cx="54864" cy="5486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1927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32688" y="3794760"/>
            <a:ext cx="54864" cy="5486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72160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821528" y="3154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70168" y="2331720"/>
            <a:ext cx="5163160" cy="2103120"/>
          </a:xfrm>
          <a:prstGeom prst="roundRect">
            <a:avLst>
              <a:gd name="adj" fmla="val 3913"/>
            </a:avLst>
          </a:prstGeom>
          <a:solidFill>
            <a:srgbClr val="191919"/>
          </a:solidFill>
          <a:ln/>
        </p:spPr>
      </p:sp>
      <p:sp>
        <p:nvSpPr>
          <p:cNvPr id="15" name="Text 13"/>
          <p:cNvSpPr/>
          <p:nvPr/>
        </p:nvSpPr>
        <p:spPr>
          <a:xfrm>
            <a:off x="6644488" y="2551176"/>
            <a:ext cx="461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44488" y="2990088"/>
            <a:ext cx="54864" cy="5486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09080" y="2916936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44488" y="3392424"/>
            <a:ext cx="54864" cy="5486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7"/>
          <p:cNvSpPr/>
          <p:nvPr/>
        </p:nvSpPr>
        <p:spPr>
          <a:xfrm>
            <a:off x="6809080" y="331927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44488" y="3794760"/>
            <a:ext cx="54864" cy="5486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09080" y="372160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4690872"/>
            <a:ext cx="10874959" cy="841248"/>
          </a:xfrm>
          <a:prstGeom prst="roundRect">
            <a:avLst>
              <a:gd name="adj" fmla="val 9783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48188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0" y="5056632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Brand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16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장은 단순한 설문 계획이 아니라, 전략적 의사결정 장표다.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3566160" cy="1508760"/>
          </a:xfrm>
          <a:prstGeom prst="roundRect">
            <a:avLst>
              <a:gd name="adj" fmla="val 5455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86968" y="43251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측정할 지표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6968" y="4572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 펭귄 회상률 · 광고 보조 인지 · 청호나이스 연결률 · 얼음정수기 연상 · 현대화 시안 선호 · 노출 전후 제품 관심 · 프리미엄 이미지 훼손 우려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38928" y="2194560"/>
            <a:ext cx="0" cy="329184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38928" y="5486400"/>
            <a:ext cx="45720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0368" y="2286000"/>
            <a:ext cx="210312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367528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아카이브로만 활용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67528" y="3364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높음 · 적합 낮음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16368" y="2286000"/>
            <a:ext cx="2103120" cy="1463040"/>
          </a:xfrm>
          <a:prstGeom prst="roundRect">
            <a:avLst>
              <a:gd name="adj" fmla="val 3750"/>
            </a:avLst>
          </a:prstGeom>
          <a:solidFill>
            <a:srgbClr val="0057FF"/>
          </a:solidFill>
          <a:ln/>
        </p:spPr>
      </p:sp>
      <p:sp>
        <p:nvSpPr>
          <p:cNvPr id="15" name="Text 13"/>
          <p:cNvSpPr/>
          <p:nvPr/>
        </p:nvSpPr>
        <p:spPr>
          <a:xfrm>
            <a:off x="7653528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53528" y="3364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높음 · 적합 높음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30368" y="3931920"/>
            <a:ext cx="210312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367528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전략에서 제외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67528" y="5010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낮음 · 적합 낮음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516368" y="3931920"/>
            <a:ext cx="2103120" cy="1463040"/>
          </a:xfrm>
          <a:prstGeom prst="roundRect">
            <a:avLst>
              <a:gd name="adj" fmla="val 3750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53528" y="4069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53528" y="5010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낮음 · 적합 높음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38928" y="55595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 인지도 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 rot="16200000">
            <a:off x="3172968" y="37216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현대적 브랜드 적합도 →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Campaign Strategy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Campaign Strategy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Campaign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Campaign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Campaign Strategy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&amp; Impact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Validation &amp;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Validation &amp; Impact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2026-07-24T07:21:28Z</dcterms:created>
  <dcterms:modified xsi:type="dcterms:W3CDTF">2026-07-24T07:21:28Z</dcterms:modified>
</cp:coreProperties>
</file>