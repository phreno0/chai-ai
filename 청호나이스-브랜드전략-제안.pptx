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embeddedFontLst>
    <p:embeddedFont>
      <p:font typeface="Pretendard"/>
      <p:regular r:id="rId36"/>
      <p:bold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font" Target="fonts/font1.fntdata"/><Relationship Id="rId37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938528" y="2011680"/>
            <a:ext cx="8314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에스프레카페는 공식적으로 36개월과 60개월 의무사용기간을 운영하는 중이다.
</a:t>
            </a:r>
            <a:pPr algn="ctr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구매 빈도가 낮고 사용 기간이 긴 제품</a:t>
            </a:r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이므로, 2030의 첫 렌탈 시점에 후보군으로 진입하는 것 자체가 중요하다.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브랜드 커뮤니케이션 단계별 전략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수립 과정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‘지피지기 백전불태 (知彼知己 百戰不殆)’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상황 진단 및 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전략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· 현재 브랜드 상황 진단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5097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06424" y="299008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브랜드의 카피와 동향 분석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0976" y="34930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06424" y="341071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커뮤니케이션의 현 주소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" y="391363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06424" y="3831336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청호나이스의 기존 자산 분석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876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커뮤니케이션 전략 제시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705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72504" y="2990088"/>
            <a:ext cx="446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설정과 포지셔닝 제안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독립생활 중인 2030에게 청호 얼음정수기와 함께하는 차별적인 홈카페 경험 제공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7056" y="380390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72504" y="372160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커뮤니케이션 : 청호나이스의 펭귄 마스코트 캐릭터 전략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17056" y="422452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72504" y="414223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커뮤니케이션 캠페인 : 캐릭터 + 팝업스토어 아이디어 제안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029200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029200"/>
            <a:ext cx="103263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: 경쟁사의 전략과 청호나이스만의 자산을 살펴본 뒤, 2030에게 차별점을 어필할 수 있는 커뮤니케이션 전략을 수립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브랜드마다 광고를 다르게 하지만,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소비자의 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청호나이스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방향</a:t>
            </a:r>
            <a:endParaRPr lang="en-US" sz="2600" dirty="0"/>
          </a:p>
        </p:txBody>
      </p:sp>
      <p:pic>
        <p:nvPicPr>
          <p:cNvPr id="5" name="Image 0" descr="/home/user/CHAI-AI/assets/img/ad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‘시원시원’편 광고 30s</a:t>
            </a:r>
            <a:endParaRPr lang="en-US" sz="850" dirty="0"/>
          </a:p>
        </p:txBody>
      </p:sp>
      <p:pic>
        <p:nvPicPr>
          <p:cNvPr id="7" name="Image 1" descr="/home/user/CHAI-AI/assets/img/ad-lovely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4794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4374794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청호나이스┃뉴 러블리트리 ‘러블리한 일상의 시작(캐릭터 ver.)’편 CF</a:t>
            </a:r>
            <a:endParaRPr lang="en-US" sz="850" dirty="0"/>
          </a:p>
        </p:txBody>
      </p:sp>
      <p:pic>
        <p:nvPicPr>
          <p:cNvPr id="9" name="Image 2" descr="/home/user/CHAI-AI/assets/img/ad-seongeutd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1221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8091221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‘선긋다’편 광고 30s</a:t>
            </a:r>
            <a:endParaRPr lang="en-US" sz="850" dirty="0"/>
          </a:p>
        </p:txBody>
      </p:sp>
      <p:pic>
        <p:nvPicPr>
          <p:cNvPr id="11" name="Image 3" descr="/home/user/CHAI-AI/assets/img/ad-blacked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658368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청호나이스┃‘에스프레카페 블랙 에디션’ AI 활용 콘텐츠</a:t>
            </a:r>
            <a:endParaRPr lang="en-US" sz="850" dirty="0"/>
          </a:p>
        </p:txBody>
      </p:sp>
      <p:pic>
        <p:nvPicPr>
          <p:cNvPr id="13" name="Image 4" descr="/home/user/CHAI-AI/assets/img/ad-yeouid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74794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4374794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여의도 상륙 작전 (숏폼)</a:t>
            </a:r>
            <a:endParaRPr lang="en-US" sz="850" dirty="0"/>
          </a:p>
        </p:txBody>
      </p:sp>
      <p:pic>
        <p:nvPicPr>
          <p:cNvPr id="15" name="Image 5" descr="/home/user/CHAI-AI/assets/img/ad-summe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1221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6" name="Text 8"/>
          <p:cNvSpPr/>
          <p:nvPr/>
        </p:nvSpPr>
        <p:spPr>
          <a:xfrm>
            <a:off x="8091221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찾았다 무더운 여름 시원하게 보내는 방법 (숏폼)</a:t>
            </a:r>
            <a:endParaRPr lang="en-US" sz="850" dirty="0"/>
          </a:p>
        </p:txBody>
      </p:sp>
      <p:sp>
        <p:nvSpPr>
          <p:cNvPr id="17" name="Text 9"/>
          <p:cNvSpPr/>
          <p:nvPr/>
        </p:nvSpPr>
        <p:spPr>
          <a:xfrm>
            <a:off x="658368" y="6053328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</a:t>
            </a:r>
            <a:endParaRPr lang="en-US" sz="800" dirty="0"/>
          </a:p>
        </p:txBody>
      </p:sp>
      <p:sp>
        <p:nvSpPr>
          <p:cNvPr id="18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9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I-AI/assets/img/ad-coolcool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658368" y="1600200"/>
            <a:ext cx="3442106" cy="1936185"/>
          </a:xfrm>
          <a:prstGeom prst="rect">
            <a:avLst/>
          </a:prstGeom>
        </p:spPr>
      </p:pic>
      <p:pic>
        <p:nvPicPr>
          <p:cNvPr id="3" name="Image 1" descr="/home/user/CHAI-AI/assets/img/ad-lovelytree.jpg">    </p:cNvPr>
          <p:cNvPicPr>
            <a:picLocks noChangeAspect="1"/>
          </p:cNvPicPr>
          <p:nvPr/>
        </p:nvPicPr>
        <p:blipFill>
          <a:blip r:embed="rId2">
            <a:alphaModFix amt="28000"/>
          </a:blip>
          <a:srcRect l="0" r="0" t="0" b="0"/>
          <a:stretch/>
        </p:blipFill>
        <p:spPr>
          <a:xfrm>
            <a:off x="4374794" y="1600200"/>
            <a:ext cx="3442106" cy="1936185"/>
          </a:xfrm>
          <a:prstGeom prst="rect">
            <a:avLst/>
          </a:prstGeom>
        </p:spPr>
      </p:pic>
      <p:pic>
        <p:nvPicPr>
          <p:cNvPr id="4" name="Image 2" descr="/home/user/CHAI-AI/assets/img/ad-seongeutda.jpg">    </p:cNvPr>
          <p:cNvPicPr>
            <a:picLocks noChangeAspect="1"/>
          </p:cNvPicPr>
          <p:nvPr/>
        </p:nvPicPr>
        <p:blipFill>
          <a:blip r:embed="rId3">
            <a:alphaModFix amt="28000"/>
          </a:blip>
          <a:srcRect l="0" r="0" t="0" b="0"/>
          <a:stretch/>
        </p:blipFill>
        <p:spPr>
          <a:xfrm>
            <a:off x="8091221" y="1600200"/>
            <a:ext cx="3442106" cy="1936185"/>
          </a:xfrm>
          <a:prstGeom prst="rect">
            <a:avLst/>
          </a:prstGeom>
        </p:spPr>
      </p:pic>
      <p:pic>
        <p:nvPicPr>
          <p:cNvPr id="5" name="Image 3" descr="/home/user/CHAI-AI/assets/img/ad-blackedition.jpg">    </p:cNvPr>
          <p:cNvPicPr>
            <a:picLocks noChangeAspect="1"/>
          </p:cNvPicPr>
          <p:nvPr/>
        </p:nvPicPr>
        <p:blipFill>
          <a:blip r:embed="rId4">
            <a:alphaModFix amt="28000"/>
          </a:blip>
          <a:srcRect l="0" r="0" t="0" b="0"/>
          <a:stretch/>
        </p:blipFill>
        <p:spPr>
          <a:xfrm>
            <a:off x="658368" y="3856425"/>
            <a:ext cx="3442106" cy="1936185"/>
          </a:xfrm>
          <a:prstGeom prst="rect">
            <a:avLst/>
          </a:prstGeom>
        </p:spPr>
      </p:pic>
      <p:pic>
        <p:nvPicPr>
          <p:cNvPr id="6" name="Image 4" descr="/home/user/CHAI-AI/assets/img/ad-yeouido.jpg">    </p:cNvPr>
          <p:cNvPicPr>
            <a:picLocks noChangeAspect="1"/>
          </p:cNvPicPr>
          <p:nvPr/>
        </p:nvPicPr>
        <p:blipFill>
          <a:blip r:embed="rId5">
            <a:alphaModFix amt="28000"/>
          </a:blip>
          <a:srcRect l="0" r="0" t="0" b="0"/>
          <a:stretch/>
        </p:blipFill>
        <p:spPr>
          <a:xfrm>
            <a:off x="4374794" y="3856425"/>
            <a:ext cx="3442106" cy="1936185"/>
          </a:xfrm>
          <a:prstGeom prst="rect">
            <a:avLst/>
          </a:prstGeom>
        </p:spPr>
      </p:pic>
      <p:pic>
        <p:nvPicPr>
          <p:cNvPr id="7" name="Image 5" descr="/home/user/CHAI-AI/assets/img/ad-summer.jpg">    </p:cNvPr>
          <p:cNvPicPr>
            <a:picLocks noChangeAspect="1"/>
          </p:cNvPicPr>
          <p:nvPr/>
        </p:nvPicPr>
        <p:blipFill>
          <a:blip r:embed="rId6">
            <a:alphaModFix amt="28000"/>
          </a:blip>
          <a:srcRect l="0" r="0" t="0" b="0"/>
          <a:stretch/>
        </p:blipFill>
        <p:spPr>
          <a:xfrm>
            <a:off x="8091221" y="3856425"/>
            <a:ext cx="3442106" cy="1936185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8000"/>
            </a:srgbClr>
          </a:solidFill>
          <a:ln/>
        </p:spPr>
      </p:sp>
      <p:sp>
        <p:nvSpPr>
          <p:cNvPr id="9" name="Text 1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자산을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endParaRPr lang="en-US" sz="2600" dirty="0"/>
          </a:p>
        </p:txBody>
      </p:sp>
      <p:pic>
        <p:nvPicPr>
          <p:cNvPr id="5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펭귄 광고 캐릭터</a:t>
            </a:r>
            <a:endParaRPr lang="en-US" sz="850" dirty="0"/>
          </a:p>
        </p:txBody>
      </p:sp>
      <p:pic>
        <p:nvPicPr>
          <p:cNvPr id="7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77251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2877251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얼음정수기의 기술과 역사</a:t>
            </a:r>
            <a:endParaRPr lang="en-US" sz="850" dirty="0"/>
          </a:p>
        </p:txBody>
      </p:sp>
      <p:pic>
        <p:nvPicPr>
          <p:cNvPr id="9" name="Image 2" descr="/home/user/CHAI-AI/assets/img/asset-espre-ne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96134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5096134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최초 커피 얼음정수기</a:t>
            </a:r>
            <a:endParaRPr lang="en-US" sz="850" dirty="0"/>
          </a:p>
        </p:txBody>
      </p:sp>
      <p:pic>
        <p:nvPicPr>
          <p:cNvPr id="11" name="Image 3" descr="/home/user/CHAI-AI/assets/img/asset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017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7315017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콘텐츠·휘카페 멤버십</a:t>
            </a:r>
            <a:endParaRPr lang="en-US" sz="850" dirty="0"/>
          </a:p>
        </p:txBody>
      </p:sp>
      <p:pic>
        <p:nvPicPr>
          <p:cNvPr id="13" name="Image 4" descr="/home/user/CHAI-AI/assets/img/peng-no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3900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9533900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마스코트 캐릭터</a:t>
            </a:r>
            <a:endParaRPr lang="en-US" sz="850" dirty="0"/>
          </a:p>
        </p:txBody>
      </p:sp>
      <p:sp>
        <p:nvSpPr>
          <p:cNvPr id="15" name="Shape 8"/>
          <p:cNvSpPr/>
          <p:nvPr/>
        </p:nvSpPr>
        <p:spPr>
          <a:xfrm>
            <a:off x="658368" y="4352498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58368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1603218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877251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822101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5096134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얼음정수기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040984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7315017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259867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533900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478750" y="4297634"/>
            <a:ext cx="109728" cy="109728"/>
          </a:xfrm>
          <a:prstGeom prst="ellipse">
            <a:avLst/>
          </a:prstGeom>
          <a:solidFill>
            <a:srgbClr val="1E9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58368" y="594360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 표현은 최종 제출 전 공식 자료로 재확인.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7327087" y="59436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새로 만들 것이 아니라, 이미 있는 것을 다시 묶는다.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커피 소비와 홈카페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커피는 더 마시고,</a:t>
            </a:r>
            <a:endParaRPr lang="en-US" sz="24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마시는 곳은 </a:t>
            </a:r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집으로</a:t>
            </a:r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옮겨간다.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286000"/>
            <a:ext cx="525460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05456"/>
            <a:ext cx="470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마시나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27797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121408" y="2852928"/>
            <a:ext cx="351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 · 한국 1인당 연간 커피 소비량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2023년 · 세계 2위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32688" y="351129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572768" y="3538728"/>
            <a:ext cx="3517240" cy="173736"/>
          </a:xfrm>
          <a:prstGeom prst="roundRect">
            <a:avLst>
              <a:gd name="adj" fmla="val 21053"/>
            </a:avLst>
          </a:prstGeom>
          <a:solidFill>
            <a:srgbClr val="F0F0F0"/>
          </a:solidFill>
          <a:ln/>
        </p:spPr>
      </p:sp>
      <p:sp>
        <p:nvSpPr>
          <p:cNvPr id="11" name="Shape 9"/>
          <p:cNvSpPr/>
          <p:nvPr/>
        </p:nvSpPr>
        <p:spPr>
          <a:xfrm>
            <a:off x="1572768" y="3538728"/>
            <a:ext cx="2585171" cy="173736"/>
          </a:xfrm>
          <a:prstGeom prst="roundRect">
            <a:avLst>
              <a:gd name="adj" fmla="val 21053"/>
            </a:avLst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5144872" y="3511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84048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세계 평균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572768" y="3867912"/>
            <a:ext cx="3517240" cy="173736"/>
          </a:xfrm>
          <a:prstGeom prst="roundRect">
            <a:avLst>
              <a:gd name="adj" fmla="val 21053"/>
            </a:avLst>
          </a:prstGeom>
          <a:solidFill>
            <a:srgbClr val="F0F0F0"/>
          </a:solidFill>
          <a:ln/>
        </p:spPr>
      </p:sp>
      <p:sp>
        <p:nvSpPr>
          <p:cNvPr id="15" name="Shape 13"/>
          <p:cNvSpPr/>
          <p:nvPr/>
        </p:nvSpPr>
        <p:spPr>
          <a:xfrm>
            <a:off x="1572768" y="3867912"/>
            <a:ext cx="970758" cy="173736"/>
          </a:xfrm>
          <a:prstGeom prst="roundRect">
            <a:avLst>
              <a:gd name="adj" fmla="val 21053"/>
            </a:avLst>
          </a:prstGeom>
          <a:solidFill>
            <a:srgbClr val="BFC0C4"/>
          </a:solidFill>
          <a:ln/>
        </p:spPr>
      </p:sp>
      <p:sp>
        <p:nvSpPr>
          <p:cNvPr id="16" name="Text 14"/>
          <p:cNvSpPr/>
          <p:nvPr/>
        </p:nvSpPr>
        <p:spPr>
          <a:xfrm>
            <a:off x="5144872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297680"/>
            <a:ext cx="470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2018년 363잔에서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2.8%씩 늘어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2023년 405잔. 세계 평균의 2.7배다.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32688" y="5120640"/>
            <a:ext cx="470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유로모니터 · 2023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78728" y="2286000"/>
            <a:ext cx="5254600" cy="3200400"/>
          </a:xfrm>
          <a:prstGeom prst="roundRect">
            <a:avLst>
              <a:gd name="adj" fmla="val 2571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48" y="2505456"/>
            <a:ext cx="470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 마시나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53048" y="2798064"/>
            <a:ext cx="2352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553048" y="3328416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집에서 커피를 내린다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06027" y="2798064"/>
            <a:ext cx="2352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55%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8906027" y="3328416"/>
            <a:ext cx="2170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가격이 올라 카페 소비를 줄였다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53048" y="3822192"/>
            <a:ext cx="470596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17640" y="3931920"/>
            <a:ext cx="43767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카페를 끊은 게 아니라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집으로 옮겨간 것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 집에서 마시는 커피가 기본이 되면, 준비 과정이 그대로 생활의 일이 된다.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53048" y="5120640"/>
            <a:ext cx="470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딜로이트 글로벌 커피 조사 2024 · 13개국 7,000명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58368" y="57790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응답만 분리한 수치는 확보 전이며, 딜로이트 수치는 글로벌 기준이다.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509967" y="57790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그렇다면 집에서 마시는 사람은 누구인가.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타깃은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‘2030’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생활자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루틴러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마실 때마다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고민하지 않아도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된다는 것</a:t>
            </a:r>
            <a:endParaRPr lang="en-US" sz="2600" dirty="0"/>
          </a:p>
        </p:txBody>
      </p:sp>
      <p:pic>
        <p:nvPicPr>
          <p:cNvPr id="5" name="Image 0" descr="/home/user/CHAI-AI/assets/img/peng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3337560" cy="2194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4315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커피는 하루에 여러 번 필요하다. 문제는 마시는 순간이 아니라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다시 정해야 하는 일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44568" y="1874520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8" name="Text 5"/>
          <p:cNvSpPr/>
          <p:nvPr/>
        </p:nvSpPr>
        <p:spPr>
          <a:xfrm>
            <a:off x="4745736" y="1874520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일상에서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커피를 필요로 하는 순간은?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2545" y="2770632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3713" y="2770632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아침엔 물 한 잔, 출근길엔 테이크아웃 커피, 오후엔 아이스커피, 운동 후엔 냉수까지. 하루에도 여러 번 마주쳐요.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44568" y="3666744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12" name="Text 9"/>
          <p:cNvSpPr/>
          <p:nvPr/>
        </p:nvSpPr>
        <p:spPr>
          <a:xfrm>
            <a:off x="4745736" y="3666744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근데 이런 걸 다 챙기는 게,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가능할까요?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2545" y="4562856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03713" y="4562856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하긴 하는데, 번거로울 땐 그냥 편의점에 가게 돼요. 생수를 사거나, 얼음을 사거나 하는거죠.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59618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발화를 옮긴 것으로, 실제 응답으로 교체 예정.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27087" y="59618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반복이 쌓이면 매달 나가는 비용과 시간이 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경제성은 모두에게 같지 않다.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어디서 마시느냐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달렸다.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084832"/>
            <a:ext cx="10874959" cy="402336"/>
          </a:xfrm>
          <a:prstGeom prst="roundRect">
            <a:avLst>
              <a:gd name="adj" fmla="val 20455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103628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 전제      </a:t>
            </a:r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 렌탈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53,900원</a:t>
            </a:r>
            <a:pPr indent="0" marL="0">
              <a:buNone/>
            </a:pPr>
            <a:r>
              <a:rPr lang="en-US" sz="9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(5년 약정)      </a:t>
            </a:r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 캡슐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544원/잔</a:t>
            </a:r>
            <a:pPr indent="0" marL="0">
              <a:buNone/>
            </a:pPr>
            <a:r>
              <a:rPr lang="en-US" sz="9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(16개입 8,700원)      </a:t>
            </a:r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아이스아메리카노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저가 2,000 · 중가 3,500 · 프리미엄 4,700원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2688336"/>
            <a:ext cx="346649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2871216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카페에서 사 마시던 사람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314553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렌탈료를 커피값 절약만으로 회수하려면 </a:t>
            </a:r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이만큼 마셔야 한다.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7824" y="3602736"/>
            <a:ext cx="2277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저가 2,000원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91002" y="36027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37잔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77824" y="3913632"/>
            <a:ext cx="2277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중가 3,500원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991002" y="39136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18잔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7824" y="4224528"/>
            <a:ext cx="2277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프리미엄 4,700원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991002" y="42245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13잔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77824" y="4590288"/>
            <a:ext cx="302757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저가 커피만 마시면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8~9잔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은 되어야 한다. 매일 카페에 가는 사람이 아니면 회수가 쉽지 않다.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62602" y="2688336"/>
            <a:ext cx="3466490" cy="2377440"/>
          </a:xfrm>
          <a:prstGeom prst="roundRect">
            <a:avLst>
              <a:gd name="adj" fmla="val 3462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2058" y="2871216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얼음정수기를 이미 고려 중인 사람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82058" y="314553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렌탈은 어차피 낼 돈이다. </a:t>
            </a:r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차액만 회수하면 된다.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82058" y="35844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4잔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145682" y="380390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이면 회수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82058" y="4151376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얼음정수기와의 렌탈료 차액이 약 5,000원. 저가 커피 기준으로도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1잔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집에서 마시면 상쇄된다.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82058" y="4681728"/>
            <a:ext cx="169164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82058" y="468172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설득력 있는 대상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066837" y="2688336"/>
            <a:ext cx="346649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6293" y="2871216"/>
            <a:ext cx="3027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집에서 드립·믹스를 마시던 사람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86293" y="3145536"/>
            <a:ext cx="30275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잔당 원가가 </a:t>
            </a:r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비슷하다.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86293" y="3602736"/>
            <a:ext cx="2232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드립 1잔 (원두+필터)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353751" y="360273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650~950원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6293" y="3913632"/>
            <a:ext cx="22320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 캡슐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353751" y="391363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544원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86293" y="4315968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비용으로는 설득되지 않는다. 이들에게 파는 것은 값이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갈고 내리고 씻는 시간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8368" y="5248656"/>
            <a:ext cx="10874959" cy="566928"/>
          </a:xfrm>
          <a:prstGeom prst="roundRect">
            <a:avLst>
              <a:gd name="adj" fmla="val 1451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5248656"/>
            <a:ext cx="103263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싸다’고 넓게 말하지 않는다. 카페를 자주 가는 사람과 정수기를 이미 고려하는 사람에게 </a:t>
            </a:r>
            <a:pPr algn="ctr" indent="0" marL="0">
              <a:buNone/>
            </a:pPr>
            <a:r>
              <a:rPr lang="en-US" sz="13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숫자로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드립 사용자에게는 </a:t>
            </a:r>
            <a:pPr algn="ctr" indent="0" marL="0">
              <a:buNone/>
            </a:pPr>
            <a:r>
              <a:rPr lang="en-US" sz="13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시간으로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말한다.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58368" y="594360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렌탈료·캡슐가는 공식몰 및 판매처 기준. 드립 원가와 카페 중가·프리미엄 단가는 가정치.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509967" y="594360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돈보다 먼저 무너지는 건 따로 있다.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 이미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0312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59152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6888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6883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255264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36499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584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389534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151376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6110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4805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17장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103120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59152"/>
            <a:ext cx="6302959" cy="713232"/>
          </a:xfrm>
          <a:prstGeom prst="roundRect">
            <a:avLst>
              <a:gd name="adj" fmla="val 11538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50592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16382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200400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200400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2004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51129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547872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547872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5478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85876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389534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389534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389534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30368" y="4425696"/>
            <a:ext cx="6302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수십 년째 같은 캐릭터를 쓰는 브랜드들</a:t>
            </a:r>
            <a:endParaRPr lang="en-US" sz="950" dirty="0"/>
          </a:p>
        </p:txBody>
      </p:sp>
      <p:pic>
        <p:nvPicPr>
          <p:cNvPr id="39" name="Image 0" descr="/home/user/CHAI-AI/assets/img/mascot-michel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036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0" name="Text 37"/>
          <p:cNvSpPr/>
          <p:nvPr/>
        </p:nvSpPr>
        <p:spPr>
          <a:xfrm>
            <a:off x="523036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미쉐린 비벤덤 1898~</a:t>
            </a:r>
            <a:endParaRPr lang="en-US" sz="700" dirty="0"/>
          </a:p>
        </p:txBody>
      </p:sp>
      <p:pic>
        <p:nvPicPr>
          <p:cNvPr id="41" name="Image 1" descr="/home/user/CHAI-AI/assets/img/mascot-ronal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8621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2" name="Text 38"/>
          <p:cNvSpPr/>
          <p:nvPr/>
        </p:nvSpPr>
        <p:spPr>
          <a:xfrm>
            <a:off x="738621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맥도날드 로날드 1963~</a:t>
            </a:r>
            <a:endParaRPr lang="en-US" sz="700" dirty="0"/>
          </a:p>
        </p:txBody>
      </p:sp>
      <p:pic>
        <p:nvPicPr>
          <p:cNvPr id="43" name="Image 2" descr="/home/user/CHAI-AI/assets/img/mascot-doughbo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42069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4" name="Text 39"/>
          <p:cNvSpPr/>
          <p:nvPr/>
        </p:nvSpPr>
        <p:spPr>
          <a:xfrm>
            <a:off x="9542069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필즈베리 도우보이 1965~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58368" y="555040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450" dirty="0"/>
          </a:p>
        </p:txBody>
      </p:sp>
      <p:sp>
        <p:nvSpPr>
          <p:cNvPr id="47" name="Text 42"/>
          <p:cNvSpPr/>
          <p:nvPr/>
        </p:nvSpPr>
        <p:spPr>
          <a:xfrm>
            <a:off x="658368" y="58338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658368" y="623620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7875727" y="6217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6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41248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70432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자산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만들거나 빌리는 것보다, 청호나이스의 얼음정수기 역사와 연결할 수 있다.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41248" y="4023360"/>
            <a:ext cx="217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인지도는 조사 전이므로 ‘보유한 과거 광고 자산 후보’로 말한다.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436544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12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36544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3" name="Text 9"/>
          <p:cNvSpPr/>
          <p:nvPr/>
        </p:nvSpPr>
        <p:spPr>
          <a:xfrm>
            <a:off x="3619424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948608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의미가 맞는다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619424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619424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19424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122344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122344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721276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721276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3619424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19424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6214720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25" name="Image 2" descr="/home/user/CHAI-AI/assets/img/peng-no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4720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6397600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726784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하나로 압축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97600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따로 설명하면 복잡하다.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6397600" y="4023360"/>
            <a:ext cx="2174672" cy="457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/>
        </p:spPr>
      </p:sp>
      <p:sp>
        <p:nvSpPr>
          <p:cNvPr id="30" name="Text 25"/>
          <p:cNvSpPr/>
          <p:nvPr/>
        </p:nvSpPr>
        <p:spPr>
          <a:xfrm>
            <a:off x="6470752" y="4023360"/>
            <a:ext cx="202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</a:t>
            </a:r>
            <a:endParaRPr lang="en-US" sz="9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8992895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32" name="Image 3" descr="/home/user/CHAI-AI/assets/img/peng-hom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2895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33" name="Text 27"/>
          <p:cNvSpPr/>
          <p:nvPr/>
        </p:nvSpPr>
        <p:spPr>
          <a:xfrm>
            <a:off x="9175775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9504959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뒤에도 계속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9175775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주목을 만들고, 마스코트는 채널마다 쌓인다.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175775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175775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9678695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678695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계산기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10277627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10277627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9175775" y="4288536"/>
            <a:ext cx="7178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175775" y="4288536"/>
            <a:ext cx="717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9966731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9966731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10565663" y="4288536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10565663" y="42885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58368" y="5202936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658368" y="5202936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4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450" dirty="0"/>
          </a:p>
        </p:txBody>
      </p:sp>
      <p:sp>
        <p:nvSpPr>
          <p:cNvPr id="50" name="Text 44"/>
          <p:cNvSpPr/>
          <p:nvPr/>
        </p:nvSpPr>
        <p:spPr>
          <a:xfrm>
            <a:off x="7327087" y="58613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 펭귄을 그때 모습 그대로 쓸 수는 없다.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pic>
        <p:nvPicPr>
          <p:cNvPr id="7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932688" y="4251960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9" name="Text 6"/>
          <p:cNvSpPr/>
          <p:nvPr/>
        </p:nvSpPr>
        <p:spPr>
          <a:xfrm>
            <a:off x="108813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" y="456285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1" name="Text 8"/>
          <p:cNvSpPr/>
          <p:nvPr/>
        </p:nvSpPr>
        <p:spPr>
          <a:xfrm>
            <a:off x="108813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" y="487375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813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44388" y="34244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4730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191919"/>
          </a:solidFill>
          <a:ln/>
        </p:spPr>
      </p:sp>
      <p:sp>
        <p:nvSpPr>
          <p:cNvPr id="16" name="Text 13"/>
          <p:cNvSpPr/>
          <p:nvPr/>
        </p:nvSpPr>
        <p:spPr>
          <a:xfrm>
            <a:off x="660334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pic>
        <p:nvPicPr>
          <p:cNvPr id="17" name="Image 1" descr="/home/user/CHAI-AI/assets/img/peng-n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0334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8" name="Shape 14"/>
          <p:cNvSpPr/>
          <p:nvPr/>
        </p:nvSpPr>
        <p:spPr>
          <a:xfrm>
            <a:off x="6621628" y="4251960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7707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21628" y="456285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7"/>
          <p:cNvSpPr/>
          <p:nvPr/>
        </p:nvSpPr>
        <p:spPr>
          <a:xfrm>
            <a:off x="677707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21628" y="487375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19"/>
          <p:cNvSpPr/>
          <p:nvPr/>
        </p:nvSpPr>
        <p:spPr>
          <a:xfrm>
            <a:off x="677707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8368" y="5404104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0" y="5504688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0" y="5715000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58368" y="624535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현재 가치를 검증해,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수준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결정한다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기억보다 중요한 것은, 지금의 청호나이스를 더 잘 기억시키는가이다.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1975104"/>
            <a:ext cx="5355184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975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 1 · 기억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709928" y="1975104"/>
            <a:ext cx="412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광고가 지금도 기억되는가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8144" y="1975104"/>
            <a:ext cx="5355184" cy="365760"/>
          </a:xfrm>
          <a:prstGeom prst="roundRect">
            <a:avLst>
              <a:gd name="adj" fmla="val 225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9312" y="1975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 2 · 효과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229704" y="1975104"/>
            <a:ext cx="412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현대화된 펭귄이 캐릭터 없는 안보다 나은가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심층 인터뷰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41248" y="2889504"/>
            <a:ext cx="918972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889504"/>
            <a:ext cx="9189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IDI 8~12명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펭귄에 대한 답이 아니라, 판단 기준을 찾는다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1248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1~2인 가구 · 아이스커피 주 3~4회 이상 · 정수기 사용/비사용 혼합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41248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 순서  생활 행동 → 제품 → 브랜드 → 과거 광고 → 현대화 펭귄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41248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펭귄을 보여주면 우호적으로 편향된다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31972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14852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인지도 조사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14852" y="2889504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4852" y="2889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설문 N=150~200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614852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광고가 기억되는지 숫자로 본다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14852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비보조 회상 → 광고 보조 인지 → 청호나이스 정확 연결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14852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‘본 적 있다’와 ‘브랜드를 맞혔다’를 분리해 집계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14852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광고만 기억하고 브랜드를 모르면 자산으로 보기 어렵다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205576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8456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콘셉트 실험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88456" y="2889504"/>
            <a:ext cx="918972" cy="201168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88456" y="2889504"/>
            <a:ext cx="9189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A/B/C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388456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현대화 펭귄이 실제로 더 나은가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88456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과거 원형 · B 현대화 펭귄 · C 캐릭터 없음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388456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1안만 무작위 노출, B와 C의 차이를 본다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88456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나란히 보여주면 취향 투표가 된다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8979179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62059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효과 검증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162059" y="2889504"/>
            <a:ext cx="1307592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62059" y="2889504"/>
            <a:ext cx="1307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회상 · 캠페인 전후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162059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기억이 브랜드와 제품까지 갔는가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162059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기억 · 제품 이해 · 관심 · 렌탈 고려 · 프리미엄 이미지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62059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4~5개 뒤에 브랜드를 되묻는다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162059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펭귄만 남고 제품이 남지 않는 비율을 본다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58368" y="51023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결과에 따른 활용 수준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121408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0057FF"/>
          </a:solidFill>
          <a:ln/>
        </p:spPr>
      </p:sp>
      <p:sp>
        <p:nvSpPr>
          <p:cNvPr id="46" name="Text 44"/>
          <p:cNvSpPr/>
          <p:nvPr/>
        </p:nvSpPr>
        <p:spPr>
          <a:xfrm>
            <a:off x="2267712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적극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504106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50410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 </a:t>
            </a:r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마스코트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886804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7033108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 </a:t>
            </a:r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아카이브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9269501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9415805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  </a:t>
            </a:r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전략에서 제외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58368" y="5705856"/>
            <a:ext cx="10874959" cy="457200"/>
          </a:xfrm>
          <a:prstGeom prst="roundRect">
            <a:avLst>
              <a:gd name="adj" fmla="val 18000"/>
            </a:avLst>
          </a:prstGeom>
          <a:solidFill>
            <a:srgbClr val="191919"/>
          </a:solidFill>
          <a:ln/>
        </p:spPr>
      </p:sp>
      <p:sp>
        <p:nvSpPr>
          <p:cNvPr id="54" name="Text 52"/>
          <p:cNvSpPr/>
          <p:nvPr/>
        </p:nvSpPr>
        <p:spPr>
          <a:xfrm>
            <a:off x="658368" y="5705856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인지도를 묻는 데서 끝나지 않고, 현대화된 펭귄이 </a:t>
            </a:r>
            <a:pPr algn="ctr" indent="0" marL="0">
              <a:buNone/>
            </a:pPr>
            <a:r>
              <a:rPr lang="en-US" sz="1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 없는 커뮤니케이션보다 더 나은 브랜드·제품 효과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만드는지 검증한다.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2026-07-28T06:37:56Z</dcterms:created>
  <dcterms:modified xsi:type="dcterms:W3CDTF">2026-07-28T06:37:56Z</dcterms:modified>
</cp:coreProperties>
</file>