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 이미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59152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6883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255264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36499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584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389534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151376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4805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16장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103120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59152"/>
            <a:ext cx="6302959" cy="713232"/>
          </a:xfrm>
          <a:prstGeom prst="roundRect">
            <a:avLst>
              <a:gd name="adj" fmla="val 11538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50592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16382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200400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200400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2004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51129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547872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547872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5478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85876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389534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389534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38953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30368" y="4425696"/>
            <a:ext cx="6302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수십 년째 같은 캐릭터를 쓰는 브랜드들</a:t>
            </a:r>
            <a:endParaRPr lang="en-US" sz="950" dirty="0"/>
          </a:p>
        </p:txBody>
      </p:sp>
      <p:pic>
        <p:nvPicPr>
          <p:cNvPr id="39" name="Image 0" descr="/home/user/CHAI-AI/assets/img/mascot-michel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036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0" name="Text 37"/>
          <p:cNvSpPr/>
          <p:nvPr/>
        </p:nvSpPr>
        <p:spPr>
          <a:xfrm>
            <a:off x="523036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비벤덤 1898~</a:t>
            </a:r>
            <a:endParaRPr lang="en-US" sz="700" dirty="0"/>
          </a:p>
        </p:txBody>
      </p:sp>
      <p:pic>
        <p:nvPicPr>
          <p:cNvPr id="41" name="Image 1" descr="/home/user/CHAI-AI/assets/img/mascot-ronal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621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2" name="Text 38"/>
          <p:cNvSpPr/>
          <p:nvPr/>
        </p:nvSpPr>
        <p:spPr>
          <a:xfrm>
            <a:off x="738621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맥도날드 로날드 1963~</a:t>
            </a:r>
            <a:endParaRPr lang="en-US" sz="700" dirty="0"/>
          </a:p>
        </p:txBody>
      </p:sp>
      <p:pic>
        <p:nvPicPr>
          <p:cNvPr id="43" name="Image 2" descr="/home/user/CHAI-AI/assets/img/mascot-doughbo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42069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4" name="Text 39"/>
          <p:cNvSpPr/>
          <p:nvPr/>
        </p:nvSpPr>
        <p:spPr>
          <a:xfrm>
            <a:off x="9542069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필즈베리 도우보이 1965~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" y="555040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658368" y="58338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658368" y="623620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7875727" y="6217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6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41248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70432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자산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만들거나 빌리는 것보다, 청호나이스의 얼음정수기 역사와 연결할 수 있다.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" y="4023360"/>
            <a:ext cx="217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인지도는 조사 전이므로 ‘보유한 과거 광고 자산 후보’로 말한다.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436544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12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3" name="Text 9"/>
          <p:cNvSpPr/>
          <p:nvPr/>
        </p:nvSpPr>
        <p:spPr>
          <a:xfrm>
            <a:off x="3619424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948608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의미가 맞는다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619424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9424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19424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122344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122344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721276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721276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619424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19424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214720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25" name="Image 2" descr="/home/user/CHAI-AI/assets/img/peng-no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6397600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726784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하나로 압축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97600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따로 설명하면 복잡하다.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397600" y="4023360"/>
            <a:ext cx="2174672" cy="457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/>
        </p:spPr>
      </p:sp>
      <p:sp>
        <p:nvSpPr>
          <p:cNvPr id="30" name="Text 25"/>
          <p:cNvSpPr/>
          <p:nvPr/>
        </p:nvSpPr>
        <p:spPr>
          <a:xfrm>
            <a:off x="6470752" y="4023360"/>
            <a:ext cx="202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</a:t>
            </a:r>
            <a:endParaRPr lang="en-US" sz="9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8992895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32" name="Image 3" descr="/home/user/CHAI-AI/assets/img/peng-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33" name="Text 27"/>
          <p:cNvSpPr/>
          <p:nvPr/>
        </p:nvSpPr>
        <p:spPr>
          <a:xfrm>
            <a:off x="9175775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9504959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뒤에도 계속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9175775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주목을 만들고, 마스코트는 채널마다 쌓인다.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175775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75775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9678695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678695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계산기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10277627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10277627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9175775" y="4288536"/>
            <a:ext cx="7178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175775" y="4288536"/>
            <a:ext cx="717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9966731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9966731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10565663" y="4288536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10565663" y="42885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58368" y="5202936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58368" y="5202936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4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450" dirty="0"/>
          </a:p>
        </p:txBody>
      </p:sp>
      <p:sp>
        <p:nvSpPr>
          <p:cNvPr id="50" name="Text 44"/>
          <p:cNvSpPr/>
          <p:nvPr/>
        </p:nvSpPr>
        <p:spPr>
          <a:xfrm>
            <a:off x="7327087" y="58613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 펭귄을 그때 모습 그대로 쓸 수는 없다.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현재 가치를 검증해, 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수준</a:t>
            </a:r>
            <a:pPr indent="0" marL="0">
              <a:lnSpc>
                <a:spcPts val="2944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결정한다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기억보다 중요한 것은, 지금의 청호나이스를 더 잘 기억시키는가이다.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1975104"/>
            <a:ext cx="5355184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975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 1 · 기억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709928" y="1975104"/>
            <a:ext cx="412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광고가 지금도 기억되는가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8144" y="1975104"/>
            <a:ext cx="5355184" cy="365760"/>
          </a:xfrm>
          <a:prstGeom prst="roundRect">
            <a:avLst>
              <a:gd name="adj" fmla="val 225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9312" y="1975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 2 · 효과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229704" y="1975104"/>
            <a:ext cx="412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현대화된 펭귄이 캐릭터 없는 안보다 나은가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심층 인터뷰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41248" y="2889504"/>
            <a:ext cx="918972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889504"/>
            <a:ext cx="918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IDI 8~12명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펭귄에 대한 답이 아니라, 판단 기준을 찾는다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1248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1~2인 가구 · 아이스커피 주 3~4회 이상 · 정수기 사용/비사용 혼합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41248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 순서  생활 행동 → 제품 → 브랜드 → 과거 광고 → 현대화 펭귄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41248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펭귄을 보여주면 우호적으로 편향된다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31972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4852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인지도 조사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14852" y="2889504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4852" y="2889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설문 N=150~200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614852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광고가 기억되는지 숫자로 본다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4852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비보조 회상 → 광고 보조 인지 → 청호나이스 정확 연결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14852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‘본 적 있다’와 ‘브랜드를 맞혔다’를 분리해 집계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14852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광고만 기억하고 브랜드를 모르면 자산으로 보기 어렵다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205576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8456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콘셉트 실험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388456" y="2889504"/>
            <a:ext cx="918972" cy="201168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88456" y="2889504"/>
            <a:ext cx="918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A/B/C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388456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현대화 펭귄이 실제로 더 나은가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88456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과거 원형 · B 현대화 펭귄 · C 캐릭터 없음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388456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1안만 무작위 노출, B와 C의 차이를 본다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88456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나란히 보여주면 취향 투표가 된다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979179" y="2487168"/>
            <a:ext cx="255414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62059" y="2633472"/>
            <a:ext cx="218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효과 검증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162059" y="2889504"/>
            <a:ext cx="1307592" cy="20116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62059" y="2889504"/>
            <a:ext cx="1307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회상 · 캠페인 전후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9162059" y="3163824"/>
            <a:ext cx="21883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기억이 브랜드와 제품까지 갔는가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162059" y="35478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기억 · 제품 이해 · 관심 · 렌탈 고려 · 프리미엄 이미지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62059" y="4005072"/>
            <a:ext cx="21883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4~5개 뒤에 브랜드를 되묻는다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162059" y="4480560"/>
            <a:ext cx="21883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펭귄만 남고 제품이 남지 않는 비율을 본다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58368" y="51023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결과에 따른 활용 수준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121408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0057FF"/>
          </a:solidFill>
          <a:ln/>
        </p:spPr>
      </p:sp>
      <p:sp>
        <p:nvSpPr>
          <p:cNvPr id="46" name="Text 44"/>
          <p:cNvSpPr/>
          <p:nvPr/>
        </p:nvSpPr>
        <p:spPr>
          <a:xfrm>
            <a:off x="2267712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적극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04106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50410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 </a:t>
            </a:r>
            <a:pPr indent="0" marL="0">
              <a:buNone/>
            </a:pPr>
            <a:r>
              <a:rPr lang="en-US" sz="1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마스코트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886804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7033108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 </a:t>
            </a:r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아카이브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269501" y="5065776"/>
            <a:ext cx="2263826" cy="310896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9415805" y="5065776"/>
            <a:ext cx="19712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 </a:t>
            </a:r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전략에서 제외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58368" y="5705856"/>
            <a:ext cx="10874959" cy="457200"/>
          </a:xfrm>
          <a:prstGeom prst="roundRect">
            <a:avLst>
              <a:gd name="adj" fmla="val 18000"/>
            </a:avLst>
          </a:prstGeom>
          <a:solidFill>
            <a:srgbClr val="191919"/>
          </a:solidFill>
          <a:ln/>
        </p:spPr>
      </p:sp>
      <p:sp>
        <p:nvSpPr>
          <p:cNvPr id="54" name="Text 52"/>
          <p:cNvSpPr/>
          <p:nvPr/>
        </p:nvSpPr>
        <p:spPr>
          <a:xfrm>
            <a:off x="658368" y="5705856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인지도를 묻는 데서 끝나지 않고, 현대화된 펭귄이 </a:t>
            </a:r>
            <a:pPr algn="ctr" indent="0" marL="0">
              <a:buNone/>
            </a:pPr>
            <a:r>
              <a:rPr lang="en-US" sz="1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 없는 커뮤니케이션보다 더 나은 브랜드·제품 효과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만드는지 검증한다.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2026-07-28T05:27:01Z</dcterms:created>
  <dcterms:modified xsi:type="dcterms:W3CDTF">2026-07-28T05:27:01Z</dcterms:modified>
</cp:coreProperties>
</file>