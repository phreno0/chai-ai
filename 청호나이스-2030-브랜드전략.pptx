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99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청호나이스 · CHUNGHO NICE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91095" y="685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B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2030 Brand Communication Strategy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" y="20116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99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Brand Communication Strategy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2377440"/>
            <a:ext cx="6217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루틴은 내가,
</a:t>
            </a:r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준비는 </a:t>
            </a:r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299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청호</a:t>
            </a:r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397764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A6A7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정수·얼음·커피를 한 번에 준비하는 제품과, 다시 불러낸 펭귄으로. 부모님 집의 정수기에서 나의 첫 생활가전으로 넘어가는 이야기.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14055" y="2011680"/>
            <a:ext cx="3291840" cy="2377440"/>
          </a:xfrm>
          <a:prstGeom prst="roundRect">
            <a:avLst>
              <a:gd name="adj" fmla="val 3077"/>
            </a:avLst>
          </a:prstGeom>
          <a:solidFill>
            <a:srgbClr val="26262B"/>
          </a:solidFill>
          <a:ln w="12700">
            <a:solidFill>
              <a:srgbClr val="303036"/>
            </a:solidFill>
            <a:prstDash val="solid"/>
          </a:ln>
          <a:effectLst>
            <a:outerShdw sx="100000" sy="100000" kx="0" ky="0" algn="bl" rotWithShape="0" blurRad="228600" dist="63500" dir="5400000">
              <a:srgbClr val="191919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87207" y="2084832"/>
            <a:ext cx="314553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6D7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에스프레카페 제품 이미지 ]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6C6D7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정수 · 얼음 · 커피 올인원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14055" y="4572000"/>
            <a:ext cx="548640" cy="548640"/>
          </a:xfrm>
          <a:prstGeom prst="ellipse">
            <a:avLst/>
          </a:prstGeom>
          <a:solidFill>
            <a:srgbClr val="26262B"/>
          </a:solidFill>
          <a:ln w="12700">
            <a:solidFill>
              <a:srgbClr val="303036"/>
            </a:solidFill>
            <a:prstDash val="solid"/>
          </a:ln>
          <a:effectLst>
            <a:outerShdw sx="100000" sy="100000" kx="0" ky="0" algn="bl" rotWithShape="0" blurRad="228600" dist="63500" dir="5400000">
              <a:srgbClr val="191919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87207" y="4645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C6D7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[펭귄]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8854135" y="45720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B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 준비 매니저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6126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8B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브랜드 커뮤니케이션 전략 기획서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77095" y="6126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B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04088"/>
            <a:ext cx="256032" cy="29261"/>
          </a:xfrm>
          <a:prstGeom prst="rect">
            <a:avLst/>
          </a:prstGeom>
          <a:solidFill>
            <a:srgbClr val="0057F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813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정의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097280"/>
            <a:ext cx="108200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젊은 광고를 만드는 일이 아니라,
</a:t>
            </a:r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젊은 고객의 </a:t>
            </a:r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005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선택</a:t>
            </a:r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만드는 일이다.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800" y="2331720"/>
            <a:ext cx="5204308" cy="1417320"/>
          </a:xfrm>
          <a:prstGeom prst="roundRect">
            <a:avLst>
              <a:gd name="adj" fmla="val 5161"/>
            </a:avLst>
          </a:prstGeom>
          <a:solidFill>
            <a:srgbClr val="F5F5F7"/>
          </a:solidFill>
          <a:ln/>
        </p:spPr>
      </p:sp>
      <p:sp>
        <p:nvSpPr>
          <p:cNvPr id="6" name="Text 4"/>
          <p:cNvSpPr/>
          <p:nvPr/>
        </p:nvSpPr>
        <p:spPr>
          <a:xfrm>
            <a:off x="941832" y="2532888"/>
            <a:ext cx="46922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받은 과제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41832" y="2898648"/>
            <a:ext cx="46922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신제품과 브랜드를 2030에게 효과적으로 알리는 것.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01588" y="2331720"/>
            <a:ext cx="5204308" cy="1417320"/>
          </a:xfrm>
          <a:prstGeom prst="roundRect">
            <a:avLst>
              <a:gd name="adj" fmla="val 5161"/>
            </a:avLst>
          </a:prstGeom>
          <a:solidFill>
            <a:srgbClr val="EAF1FF"/>
          </a:solidFill>
          <a:ln w="19050">
            <a:solidFill>
              <a:srgbClr val="005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57620" y="2532888"/>
            <a:ext cx="46922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우리의 재해석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57620" y="2898648"/>
            <a:ext cx="46922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부모님 집에서 보던 정수기를, 독립한 2030이 </a:t>
            </a:r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005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고려하는 생활가전</a:t>
            </a:r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으로 바꾸는 것.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4343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우리가 만들어야 할 전환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475488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E8E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7548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 노출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40280" y="47548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595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606040" y="475488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E8E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4754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브랜드 관련성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43400" y="47548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595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709160" y="475488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E8E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47548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 이해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63640" y="47548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595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629400" y="4754880"/>
            <a:ext cx="12344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E8E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47548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체험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863840" y="47548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595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229600" y="475488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0057FF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0" y="47548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렌탈 고려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청호나이스 2030 브랜드 커뮤니케이션 전략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134295" y="6492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04088"/>
            <a:ext cx="256032" cy="29261"/>
          </a:xfrm>
          <a:prstGeom prst="rect">
            <a:avLst/>
          </a:prstGeom>
          <a:solidFill>
            <a:srgbClr val="0057F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813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전략 요약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흩어진 준비를 하나로 줄이고,
</a:t>
            </a:r>
            <a:pPr indent="0" marL="0">
              <a:lnSpc>
                <a:spcPts val="2700"/>
              </a:lnSpc>
              <a:buNone/>
            </a:pPr>
            <a:r>
              <a:rPr lang="en-US" sz="21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흩어진 브랜드 접점을 </a:t>
            </a:r>
            <a:pPr indent="0" marL="0">
              <a:lnSpc>
                <a:spcPts val="2700"/>
              </a:lnSpc>
              <a:buNone/>
            </a:pPr>
            <a:r>
              <a:rPr lang="en-US" sz="2100" b="1" dirty="0">
                <a:solidFill>
                  <a:srgbClr val="005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하나의 펭귄</a:t>
            </a:r>
            <a:pPr indent="0" marL="0">
              <a:lnSpc>
                <a:spcPts val="2700"/>
              </a:lnSpc>
              <a:buNone/>
            </a:pPr>
            <a:r>
              <a:rPr lang="en-US" sz="21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으로 묶는다.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685800" y="2240280"/>
            <a:ext cx="310896" cy="310896"/>
          </a:xfrm>
          <a:prstGeom prst="ellipse">
            <a:avLst/>
          </a:prstGeom>
          <a:solidFill>
            <a:srgbClr val="1E9BE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240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41248" y="2551176"/>
            <a:ext cx="0" cy="365760"/>
          </a:xfrm>
          <a:prstGeom prst="line">
            <a:avLst/>
          </a:prstGeom>
          <a:noFill/>
          <a:ln w="25400">
            <a:solidFill>
              <a:srgbClr val="DEE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2221992"/>
            <a:ext cx="103446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물과 커피에 반복 지출하는 독립 2030.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생수를 사고 아이스커피를 매일 마시는 1~2인 가구.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2898648"/>
            <a:ext cx="310896" cy="310896"/>
          </a:xfrm>
          <a:prstGeom prst="ellipse">
            <a:avLst/>
          </a:prstGeom>
          <a:solidFill>
            <a:srgbClr val="1E9BE6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898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41248" y="3209544"/>
            <a:ext cx="0" cy="365760"/>
          </a:xfrm>
          <a:prstGeom prst="line">
            <a:avLst/>
          </a:prstGeom>
          <a:noFill/>
          <a:ln w="25400">
            <a:solidFill>
              <a:srgbClr val="DEE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2880360"/>
            <a:ext cx="103446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준비의 번거로움.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물, 얼음, 커피를 각각 사고 얼리고 씻는 행동이 매일 쌓인다.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3557016"/>
            <a:ext cx="310896" cy="310896"/>
          </a:xfrm>
          <a:prstGeom prst="ellipse">
            <a:avLst/>
          </a:prstGeom>
          <a:solidFill>
            <a:srgbClr val="1E9BE6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557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41248" y="3867912"/>
            <a:ext cx="0" cy="365760"/>
          </a:xfrm>
          <a:prstGeom prst="line">
            <a:avLst/>
          </a:prstGeom>
          <a:noFill/>
          <a:ln w="25400">
            <a:solidFill>
              <a:srgbClr val="DEE8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61288" y="3538728"/>
            <a:ext cx="103446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정수·얼음·커피를 통합한 에스프레카페.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세 가지 준비를 한 기기로 끝낸다.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5800" y="4215384"/>
            <a:ext cx="310896" cy="310896"/>
          </a:xfrm>
          <a:prstGeom prst="ellipse">
            <a:avLst/>
          </a:prstGeom>
          <a:solidFill>
            <a:srgbClr val="1E9BE6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215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41248" y="4526280"/>
            <a:ext cx="0" cy="365760"/>
          </a:xfrm>
          <a:prstGeom prst="line">
            <a:avLst/>
          </a:prstGeom>
          <a:noFill/>
          <a:ln w="25400">
            <a:solidFill>
              <a:srgbClr val="DEE8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61288" y="4197096"/>
            <a:ext cx="103446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준비를 먼저 끝내주는 생활 매니저.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기능이 아니라 역할로 브랜드를 정의한다.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5800" y="4873752"/>
            <a:ext cx="310896" cy="310896"/>
          </a:xfrm>
          <a:prstGeom prst="ellipse">
            <a:avLst/>
          </a:prstGeom>
          <a:solidFill>
            <a:srgbClr val="1E9BE6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873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41248" y="5184648"/>
            <a:ext cx="0" cy="365760"/>
          </a:xfrm>
          <a:prstGeom prst="line">
            <a:avLst/>
          </a:prstGeom>
          <a:noFill/>
          <a:ln w="25400">
            <a:solidFill>
              <a:srgbClr val="DEE8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61288" y="4855464"/>
            <a:ext cx="103446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펭귄 중심의 광고·SNS·팝업.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매번 다른 콘텐츠가 하나의 캐릭터로 쌓인다.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5800" y="5532120"/>
            <a:ext cx="310896" cy="310896"/>
          </a:xfrm>
          <a:prstGeom prst="ellipse">
            <a:avLst/>
          </a:prstGeom>
          <a:solidFill>
            <a:srgbClr val="0057FF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5532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61288" y="5513832"/>
            <a:ext cx="103446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브랜드 적합도와 렌탈 고려가 오른다.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이 장만 봐도 제안 전체가 읽혀야 한다.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580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청호나이스 2030 브랜드 커뮤니케이션 전략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134295" y="6492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99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Section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920240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0" b="1" dirty="0">
                <a:solidFill>
                  <a:srgbClr val="2B2B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3000" dirty="0"/>
          </a:p>
        </p:txBody>
      </p:sp>
      <p:sp>
        <p:nvSpPr>
          <p:cNvPr id="4" name="Text 2"/>
          <p:cNvSpPr/>
          <p:nvPr/>
        </p:nvSpPr>
        <p:spPr>
          <a:xfrm>
            <a:off x="685800" y="39776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브랜드 진단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A6A7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카테고리는 무엇을 말하고, 청호나이스는 어디에 서 있으며, 무엇을 이미 갖고 있는가.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299655" y="397764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A8B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· 카테고리 커뮤니케이션</a:t>
            </a:r>
            <a:endParaRPr lang="en-US" sz="1200" dirty="0"/>
          </a:p>
          <a:p>
            <a:pPr algn="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A8B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· 청호나이스의 현재 커뮤니케이션</a:t>
            </a:r>
            <a:endParaRPr lang="en-US" sz="1200" dirty="0"/>
          </a:p>
          <a:p>
            <a:pPr algn="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A8B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· 청호나이스만의 자산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04088"/>
            <a:ext cx="256032" cy="29261"/>
          </a:xfrm>
          <a:prstGeom prst="rect">
            <a:avLst/>
          </a:prstGeom>
          <a:solidFill>
            <a:srgbClr val="0057F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813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· 브랜드 진단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얼음정수기 광고는 서로 다르지만,
</a:t>
            </a:r>
            <a:pPr indent="0" marL="0">
              <a:lnSpc>
                <a:spcPts val="2700"/>
              </a:lnSpc>
              <a:buNone/>
            </a:pPr>
            <a:r>
              <a:rPr lang="en-US" sz="21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기억에는 </a:t>
            </a:r>
            <a:pPr indent="0" marL="0">
              <a:lnSpc>
                <a:spcPts val="2700"/>
              </a:lnSpc>
              <a:buNone/>
            </a:pPr>
            <a:r>
              <a:rPr lang="en-US" sz="2100" b="1" dirty="0">
                <a:solidFill>
                  <a:srgbClr val="005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비슷하게</a:t>
            </a:r>
            <a:pPr indent="0" marL="0">
              <a:lnSpc>
                <a:spcPts val="2700"/>
              </a:lnSpc>
              <a:buNone/>
            </a:pPr>
            <a:r>
              <a:rPr lang="en-US" sz="21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남는다.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85800" y="2286000"/>
            <a:ext cx="25541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코웨이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2615184"/>
            <a:ext cx="2554148" cy="1408176"/>
          </a:xfrm>
          <a:prstGeom prst="roundRect">
            <a:avLst>
              <a:gd name="adj" fmla="val 5195"/>
            </a:avLst>
          </a:prstGeom>
          <a:solidFill>
            <a:srgbClr val="F5F5F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743200"/>
            <a:ext cx="227982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아이콘 얼음정수기, </a:t>
            </a:r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C241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슬림한 크기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와 </a:t>
            </a:r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05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풍부한 제빙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IoT 맞춤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기능 (BTS 모델)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41116" y="2286000"/>
            <a:ext cx="25541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SK매직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41116" y="2615184"/>
            <a:ext cx="2554148" cy="1408176"/>
          </a:xfrm>
          <a:prstGeom prst="roundRect">
            <a:avLst>
              <a:gd name="adj" fmla="val 5195"/>
            </a:avLst>
          </a:prstGeom>
          <a:solidFill>
            <a:srgbClr val="F5F5F7"/>
          </a:solidFill>
          <a:ln/>
        </p:spPr>
      </p:sp>
      <p:sp>
        <p:nvSpPr>
          <p:cNvPr id="10" name="Text 8"/>
          <p:cNvSpPr/>
          <p:nvPr/>
        </p:nvSpPr>
        <p:spPr>
          <a:xfrm>
            <a:off x="3578276" y="2743200"/>
            <a:ext cx="227982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ICE IS MAGIC, </a:t>
            </a:r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C241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크고 단단한 얼음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쉽게 녹지 않는 </a:t>
            </a:r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05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빙질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 </a:t>
            </a:r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E8F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위생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(변우석 모델)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96432" y="2286000"/>
            <a:ext cx="25541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쿠쿠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96432" y="2615184"/>
            <a:ext cx="2554148" cy="1408176"/>
          </a:xfrm>
          <a:prstGeom prst="roundRect">
            <a:avLst>
              <a:gd name="adj" fmla="val 5195"/>
            </a:avLst>
          </a:prstGeom>
          <a:solidFill>
            <a:srgbClr val="F5F5F7"/>
          </a:solidFill>
          <a:ln/>
        </p:spPr>
      </p:sp>
      <p:sp>
        <p:nvSpPr>
          <p:cNvPr id="13" name="Text 11"/>
          <p:cNvSpPr/>
          <p:nvPr/>
        </p:nvSpPr>
        <p:spPr>
          <a:xfrm>
            <a:off x="6333592" y="2743200"/>
            <a:ext cx="227982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스팀100 바리스타, 100도 물맛과 </a:t>
            </a:r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드립커피 기능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E8F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끓인 물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위생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951747" y="2286000"/>
            <a:ext cx="25541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LG전자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51747" y="2615184"/>
            <a:ext cx="2554148" cy="1408176"/>
          </a:xfrm>
          <a:prstGeom prst="roundRect">
            <a:avLst>
              <a:gd name="adj" fmla="val 5195"/>
            </a:avLst>
          </a:prstGeom>
          <a:solidFill>
            <a:srgbClr val="F5F5F7"/>
          </a:solidFill>
          <a:ln/>
        </p:spPr>
      </p:sp>
      <p:sp>
        <p:nvSpPr>
          <p:cNvPr id="16" name="Text 14"/>
          <p:cNvSpPr/>
          <p:nvPr/>
        </p:nvSpPr>
        <p:spPr>
          <a:xfrm>
            <a:off x="9088907" y="2743200"/>
            <a:ext cx="227982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퓨리케어, </a:t>
            </a:r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ThinQ · AI 음성제어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맞춤 출수, 전 구간 </a:t>
            </a:r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E8F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고온 살균</a:t>
            </a:r>
            <a:pPr indent="0" marL="0">
              <a:lnSpc>
                <a:spcPts val="1500"/>
              </a:lnSpc>
              <a:buNone/>
            </a:pP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4306824"/>
            <a:ext cx="109728" cy="109728"/>
          </a:xfrm>
          <a:prstGeom prst="rect">
            <a:avLst/>
          </a:prstGeom>
          <a:solidFill>
            <a:srgbClr val="0057FF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2519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얼음·빙질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423160" y="4306824"/>
            <a:ext cx="109728" cy="109728"/>
          </a:xfrm>
          <a:prstGeom prst="rect">
            <a:avLst/>
          </a:prstGeom>
          <a:solidFill>
            <a:srgbClr val="0E8F6A"/>
          </a:solidFill>
          <a:ln/>
        </p:spPr>
      </p:sp>
      <p:sp>
        <p:nvSpPr>
          <p:cNvPr id="20" name="Text 18"/>
          <p:cNvSpPr/>
          <p:nvPr/>
        </p:nvSpPr>
        <p:spPr>
          <a:xfrm>
            <a:off x="2606040" y="42519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위생·살균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60520" y="4306824"/>
            <a:ext cx="109728" cy="109728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22" name="Text 20"/>
          <p:cNvSpPr/>
          <p:nvPr/>
        </p:nvSpPr>
        <p:spPr>
          <a:xfrm>
            <a:off x="4343400" y="42519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크기·용량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897880" y="4306824"/>
            <a:ext cx="109728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6080760" y="42519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앱·AI 기능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5800" y="4663440"/>
            <a:ext cx="10820095" cy="868680"/>
          </a:xfrm>
          <a:prstGeom prst="roundRect">
            <a:avLst>
              <a:gd name="adj" fmla="val 8421"/>
            </a:avLst>
          </a:prstGeom>
          <a:solidFill>
            <a:srgbClr val="F5F5F7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4773168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경쟁은 치열하지만, 소비자가 듣는 이야기는 여전히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05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기능의 차이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 머문다. SK매직은 모델과 얼음 비주얼로 주목을 만들고, 쿠쿠는 물과 커피를 연결해 사용 장면을 설득한다. 청호나이스에는 아직 그 장면을 반복해서 기억시킬 자산이 없다.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5800" y="5623560"/>
            <a:ext cx="108200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9595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각 사 2025 공식 캠페인·제품 페이지 및 광고 평론 종합. 모델·카피는 공개 자료 기준, 최종본 전 재확인.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8580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청호나이스 2030 브랜드 커뮤니케이션 전략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134295" y="6492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04088"/>
            <a:ext cx="256032" cy="29261"/>
          </a:xfrm>
          <a:prstGeom prst="rect">
            <a:avLst/>
          </a:prstGeom>
          <a:solidFill>
            <a:srgbClr val="0057F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813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· 브랜드 진단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069848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콘텐츠는 젊어졌는데,
</a:t>
            </a:r>
            <a:pPr indent="0" marL="0">
              <a:lnSpc>
                <a:spcPts val="2700"/>
              </a:lnSpc>
              <a:buNone/>
            </a:pPr>
            <a:r>
              <a:rPr lang="en-US" sz="21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구매 이유는 </a:t>
            </a:r>
            <a:pPr indent="0" marL="0">
              <a:lnSpc>
                <a:spcPts val="2700"/>
              </a:lnSpc>
              <a:buNone/>
            </a:pPr>
            <a:r>
              <a:rPr lang="en-US" sz="2100" b="1" dirty="0">
                <a:solidFill>
                  <a:srgbClr val="005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선명해지지</a:t>
            </a:r>
            <a:pPr indent="0" marL="0">
              <a:lnSpc>
                <a:spcPts val="2700"/>
              </a:lnSpc>
              <a:buNone/>
            </a:pPr>
            <a:r>
              <a:rPr lang="en-US" sz="21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않았다.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85800" y="233172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청호나이스는 숏폼과 AI 콘텐츠를 이미 적극적으로 만든다. 문제는 형식이 아니라 축적이다.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85800" y="306324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콘텐츠마다 말이 달라서, 2030이 제품을 선택할 이유가 하나의 브랜드 인상으로 남지 않는다.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85800" y="5074920"/>
            <a:ext cx="3383280" cy="777240"/>
          </a:xfrm>
          <a:prstGeom prst="roundRect">
            <a:avLst>
              <a:gd name="adj" fmla="val 9412"/>
            </a:avLst>
          </a:prstGeom>
          <a:solidFill>
            <a:srgbClr val="F5F5F7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516636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5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541324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양은 충분하다. 지금 필요한 건 </a:t>
            </a:r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방향으로 쌓이는 언어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26280" y="685800"/>
            <a:ext cx="6979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최근 콘텐츠 감사 (예시 분류)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26280" y="1069848"/>
            <a:ext cx="2204618" cy="758952"/>
          </a:xfrm>
          <a:prstGeom prst="roundRect">
            <a:avLst>
              <a:gd name="adj" fmla="val 9639"/>
            </a:avLst>
          </a:prstGeom>
          <a:solidFill>
            <a:srgbClr val="ECEEF2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228600" dist="63500" dir="5400000">
              <a:srgbClr val="191919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99432" y="1143000"/>
            <a:ext cx="205831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595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[콘텐츠 01]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26280" y="1865376"/>
            <a:ext cx="1188720" cy="237744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/>
        </p:spPr>
      </p:sp>
      <p:sp>
        <p:nvSpPr>
          <p:cNvPr id="14" name="Text 12"/>
          <p:cNvSpPr/>
          <p:nvPr/>
        </p:nvSpPr>
        <p:spPr>
          <a:xfrm>
            <a:off x="4526280" y="186537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5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소개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913778" y="1069848"/>
            <a:ext cx="2204618" cy="758952"/>
          </a:xfrm>
          <a:prstGeom prst="roundRect">
            <a:avLst>
              <a:gd name="adj" fmla="val 9639"/>
            </a:avLst>
          </a:prstGeom>
          <a:solidFill>
            <a:srgbClr val="ECEEF2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228600" dist="63500" dir="5400000">
              <a:srgbClr val="191919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86930" y="1143000"/>
            <a:ext cx="205831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595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[콘텐츠 02]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913778" y="1865376"/>
            <a:ext cx="1188720" cy="237744"/>
          </a:xfrm>
          <a:prstGeom prst="roundRect">
            <a:avLst>
              <a:gd name="adj" fmla="val 50000"/>
            </a:avLst>
          </a:prstGeom>
          <a:solidFill>
            <a:srgbClr val="F3E8FF"/>
          </a:solidFill>
          <a:ln/>
        </p:spPr>
      </p:sp>
      <p:sp>
        <p:nvSpPr>
          <p:cNvPr id="18" name="Text 16"/>
          <p:cNvSpPr/>
          <p:nvPr/>
        </p:nvSpPr>
        <p:spPr>
          <a:xfrm>
            <a:off x="6913778" y="186537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트렌드 활용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9301277" y="1069848"/>
            <a:ext cx="2204618" cy="758952"/>
          </a:xfrm>
          <a:prstGeom prst="roundRect">
            <a:avLst>
              <a:gd name="adj" fmla="val 9639"/>
            </a:avLst>
          </a:prstGeom>
          <a:solidFill>
            <a:srgbClr val="ECEEF2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228600" dist="63500" dir="5400000">
              <a:srgbClr val="191919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374429" y="1143000"/>
            <a:ext cx="205831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595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[콘텐츠 03]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301277" y="1865376"/>
            <a:ext cx="1188720" cy="237744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/>
        </p:spPr>
      </p:sp>
      <p:sp>
        <p:nvSpPr>
          <p:cNvPr id="22" name="Text 20"/>
          <p:cNvSpPr/>
          <p:nvPr/>
        </p:nvSpPr>
        <p:spPr>
          <a:xfrm>
            <a:off x="9301277" y="186537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5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소개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26280" y="2395728"/>
            <a:ext cx="2204618" cy="758952"/>
          </a:xfrm>
          <a:prstGeom prst="roundRect">
            <a:avLst>
              <a:gd name="adj" fmla="val 9639"/>
            </a:avLst>
          </a:prstGeom>
          <a:solidFill>
            <a:srgbClr val="ECEEF2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228600" dist="63500" dir="5400000">
              <a:srgbClr val="191919">
                <a:alpha val="2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99432" y="2468880"/>
            <a:ext cx="205831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595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[콘텐츠 04]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26280" y="3191256"/>
            <a:ext cx="1188720" cy="237744"/>
          </a:xfrm>
          <a:prstGeom prst="roundRect">
            <a:avLst>
              <a:gd name="adj" fmla="val 50000"/>
            </a:avLst>
          </a:prstGeom>
          <a:solidFill>
            <a:srgbClr val="E7F6EE"/>
          </a:solidFill>
          <a:ln/>
        </p:spPr>
      </p:sp>
      <p:sp>
        <p:nvSpPr>
          <p:cNvPr id="26" name="Text 24"/>
          <p:cNvSpPr/>
          <p:nvPr/>
        </p:nvSpPr>
        <p:spPr>
          <a:xfrm>
            <a:off x="4526280" y="319125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8F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 공감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913778" y="2395728"/>
            <a:ext cx="2204618" cy="758952"/>
          </a:xfrm>
          <a:prstGeom prst="roundRect">
            <a:avLst>
              <a:gd name="adj" fmla="val 9639"/>
            </a:avLst>
          </a:prstGeom>
          <a:solidFill>
            <a:srgbClr val="ECEEF2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228600" dist="63500" dir="5400000">
              <a:srgbClr val="191919">
                <a:alpha val="2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86930" y="2468880"/>
            <a:ext cx="205831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595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[콘텐츠 05]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913778" y="3191256"/>
            <a:ext cx="1188720" cy="237744"/>
          </a:xfrm>
          <a:prstGeom prst="roundRect">
            <a:avLst>
              <a:gd name="adj" fmla="val 50000"/>
            </a:avLst>
          </a:prstGeom>
          <a:solidFill>
            <a:srgbClr val="F3E8FF"/>
          </a:solidFill>
          <a:ln/>
        </p:spPr>
      </p:sp>
      <p:sp>
        <p:nvSpPr>
          <p:cNvPr id="30" name="Text 28"/>
          <p:cNvSpPr/>
          <p:nvPr/>
        </p:nvSpPr>
        <p:spPr>
          <a:xfrm>
            <a:off x="6913778" y="319125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트렌드 활용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9301277" y="2395728"/>
            <a:ext cx="2204618" cy="758952"/>
          </a:xfrm>
          <a:prstGeom prst="roundRect">
            <a:avLst>
              <a:gd name="adj" fmla="val 9639"/>
            </a:avLst>
          </a:prstGeom>
          <a:solidFill>
            <a:srgbClr val="ECEEF2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228600" dist="63500" dir="5400000">
              <a:srgbClr val="191919">
                <a:alpha val="2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374429" y="2468880"/>
            <a:ext cx="205831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595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[콘텐츠 06]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301277" y="3191256"/>
            <a:ext cx="1188720" cy="237744"/>
          </a:xfrm>
          <a:prstGeom prst="roundRect">
            <a:avLst>
              <a:gd name="adj" fmla="val 50000"/>
            </a:avLst>
          </a:prstGeom>
          <a:solidFill>
            <a:srgbClr val="FDEAEA"/>
          </a:solidFill>
          <a:ln/>
        </p:spPr>
      </p:sp>
      <p:sp>
        <p:nvSpPr>
          <p:cNvPr id="34" name="Text 32"/>
          <p:cNvSpPr/>
          <p:nvPr/>
        </p:nvSpPr>
        <p:spPr>
          <a:xfrm>
            <a:off x="9301277" y="319125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548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전환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526280" y="3721608"/>
            <a:ext cx="2204618" cy="758952"/>
          </a:xfrm>
          <a:prstGeom prst="roundRect">
            <a:avLst>
              <a:gd name="adj" fmla="val 9639"/>
            </a:avLst>
          </a:prstGeom>
          <a:solidFill>
            <a:srgbClr val="ECEEF2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228600" dist="63500" dir="5400000">
              <a:srgbClr val="191919">
                <a:alpha val="2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599432" y="3794760"/>
            <a:ext cx="205831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595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[콘텐츠 07]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26280" y="4517136"/>
            <a:ext cx="1188720" cy="237744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/>
        </p:spPr>
      </p:sp>
      <p:sp>
        <p:nvSpPr>
          <p:cNvPr id="38" name="Text 36"/>
          <p:cNvSpPr/>
          <p:nvPr/>
        </p:nvSpPr>
        <p:spPr>
          <a:xfrm>
            <a:off x="4526280" y="451713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5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소개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913778" y="3721608"/>
            <a:ext cx="2204618" cy="758952"/>
          </a:xfrm>
          <a:prstGeom prst="roundRect">
            <a:avLst>
              <a:gd name="adj" fmla="val 9639"/>
            </a:avLst>
          </a:prstGeom>
          <a:solidFill>
            <a:srgbClr val="ECEEF2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228600" dist="63500" dir="5400000">
              <a:srgbClr val="191919">
                <a:alpha val="2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986930" y="3794760"/>
            <a:ext cx="205831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595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[콘텐츠 08]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913778" y="4517136"/>
            <a:ext cx="1188720" cy="237744"/>
          </a:xfrm>
          <a:prstGeom prst="roundRect">
            <a:avLst>
              <a:gd name="adj" fmla="val 50000"/>
            </a:avLst>
          </a:prstGeom>
          <a:solidFill>
            <a:srgbClr val="E7F6EE"/>
          </a:solidFill>
          <a:ln/>
        </p:spPr>
      </p:sp>
      <p:sp>
        <p:nvSpPr>
          <p:cNvPr id="42" name="Text 40"/>
          <p:cNvSpPr/>
          <p:nvPr/>
        </p:nvSpPr>
        <p:spPr>
          <a:xfrm>
            <a:off x="6913778" y="451713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8F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 공감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9301277" y="3721608"/>
            <a:ext cx="2204618" cy="758952"/>
          </a:xfrm>
          <a:prstGeom prst="roundRect">
            <a:avLst>
              <a:gd name="adj" fmla="val 9639"/>
            </a:avLst>
          </a:prstGeom>
          <a:solidFill>
            <a:srgbClr val="ECEEF2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228600" dist="63500" dir="5400000">
              <a:srgbClr val="191919">
                <a:alpha val="2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9374429" y="3794760"/>
            <a:ext cx="205831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595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[콘텐츠 09]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9301277" y="4517136"/>
            <a:ext cx="1188720" cy="237744"/>
          </a:xfrm>
          <a:prstGeom prst="roundRect">
            <a:avLst>
              <a:gd name="adj" fmla="val 50000"/>
            </a:avLst>
          </a:prstGeom>
          <a:solidFill>
            <a:srgbClr val="F3E8FF"/>
          </a:solidFill>
          <a:ln/>
        </p:spPr>
      </p:sp>
      <p:sp>
        <p:nvSpPr>
          <p:cNvPr id="46" name="Text 44"/>
          <p:cNvSpPr/>
          <p:nvPr/>
        </p:nvSpPr>
        <p:spPr>
          <a:xfrm>
            <a:off x="9301277" y="451713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트렌드 활용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526280" y="5001768"/>
            <a:ext cx="69796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9595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채널 콘텐츠 캡처로 교체 예정. 분류·비중은 감사 결과 반영.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68580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청호나이스 2030 브랜드 커뮤니케이션 전략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0134295" y="6492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04088"/>
            <a:ext cx="256032" cy="29261"/>
          </a:xfrm>
          <a:prstGeom prst="rect">
            <a:avLst/>
          </a:prstGeom>
          <a:solidFill>
            <a:srgbClr val="0057F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813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· 브랜드 진단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 만들기 전에,
</a:t>
            </a:r>
            <a:pPr indent="0" marL="0">
              <a:lnSpc>
                <a:spcPts val="2700"/>
              </a:lnSpc>
              <a:buNone/>
            </a:pPr>
            <a:r>
              <a:rPr lang="en-US" sz="21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가진 것을 </a:t>
            </a:r>
            <a:pPr indent="0" marL="0">
              <a:lnSpc>
                <a:spcPts val="2700"/>
              </a:lnSpc>
              <a:buNone/>
            </a:pPr>
            <a:r>
              <a:rPr lang="en-US" sz="2100" b="1" dirty="0">
                <a:solidFill>
                  <a:srgbClr val="005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묶을</a:t>
            </a:r>
            <a:pPr indent="0" marL="0">
              <a:lnSpc>
                <a:spcPts val="2700"/>
              </a:lnSpc>
              <a:buNone/>
            </a:pPr>
            <a:r>
              <a:rPr lang="en-US" sz="21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수 있다.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685800" y="2743200"/>
            <a:ext cx="10820095" cy="0"/>
          </a:xfrm>
          <a:prstGeom prst="line">
            <a:avLst/>
          </a:prstGeom>
          <a:noFill/>
          <a:ln w="19050">
            <a:solidFill>
              <a:srgbClr val="E8E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359152"/>
            <a:ext cx="21640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5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717518" y="2692908"/>
            <a:ext cx="100584" cy="100584"/>
          </a:xfrm>
          <a:prstGeom prst="ellipse">
            <a:avLst/>
          </a:prstGeom>
          <a:solidFill>
            <a:srgbClr val="0057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889504"/>
            <a:ext cx="19811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얼음정수기를 알린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펭귄 광고 캐릭터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849819" y="2359152"/>
            <a:ext cx="21640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5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2014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81537" y="2692908"/>
            <a:ext cx="100584" cy="100584"/>
          </a:xfrm>
          <a:prstGeom prst="ellipse">
            <a:avLst/>
          </a:prstGeom>
          <a:solidFill>
            <a:srgbClr val="0057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41259" y="2889504"/>
            <a:ext cx="19811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에스프레카페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커피정수기 등장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13838" y="2359152"/>
            <a:ext cx="21640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5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45556" y="2692908"/>
            <a:ext cx="100584" cy="100584"/>
          </a:xfrm>
          <a:prstGeom prst="ellipse">
            <a:avLst/>
          </a:prstGeom>
          <a:solidFill>
            <a:srgbClr val="0057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05278" y="2889504"/>
            <a:ext cx="19811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커피사업부 신설,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캡슐 생태계 확장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177857" y="2359152"/>
            <a:ext cx="21640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5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09575" y="2692908"/>
            <a:ext cx="100584" cy="100584"/>
          </a:xfrm>
          <a:prstGeom prst="ellipse">
            <a:avLst/>
          </a:prstGeom>
          <a:solidFill>
            <a:srgbClr val="0057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69297" y="2889504"/>
            <a:ext cx="19811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휘카페 멤버십 라운지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오픈, 캡슐 CRM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341876" y="2359152"/>
            <a:ext cx="21640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5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373594" y="2692908"/>
            <a:ext cx="100584" cy="100584"/>
          </a:xfrm>
          <a:prstGeom prst="ellipse">
            <a:avLst/>
          </a:prstGeom>
          <a:solidFill>
            <a:srgbClr val="1E9BE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33316" y="2889504"/>
            <a:ext cx="19811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펭귄 중심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마스코트 시스템 재정비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85800" y="4160520"/>
            <a:ext cx="339333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34340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14.5</a:t>
            </a:r>
            <a:pPr indent="0" marL="0">
              <a:buNone/>
            </a:pPr>
            <a:r>
              <a:rPr lang="en-US" sz="1500" b="1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 대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868680" y="4937760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에스프레카페 누적 판매 (2022 기준)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99178" y="4160520"/>
            <a:ext cx="339333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82058" y="434340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+330</a:t>
            </a:r>
            <a:pPr indent="0" marL="0">
              <a:buNone/>
            </a:pPr>
            <a:r>
              <a:rPr lang="en-US" sz="1500" b="1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%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4582058" y="4937760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2022년 2분기 판매량 증가 (전년 동기 대비)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112557" y="4160520"/>
            <a:ext cx="339333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5437" y="4325112"/>
            <a:ext cx="30275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 연혁과 커뮤니케이션 연혁을 </a:t>
            </a:r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하나의 타임라인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으로 묶으면, 펭귄은 귀여운 동물이 아니라 얼음정수기의 원조성과 연결된다.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" y="5532120"/>
            <a:ext cx="108200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9595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청호나이스 발표·업계 보도 종합. “세계 최초”·연도·누적 수치는 공식 자료로 최종 확인 예정.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8580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청호나이스 2030 브랜드 커뮤니케이션 전략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134295" y="6492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99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Section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920240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0" b="1" dirty="0">
                <a:solidFill>
                  <a:srgbClr val="2B2B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3000" dirty="0"/>
          </a:p>
        </p:txBody>
      </p:sp>
      <p:sp>
        <p:nvSpPr>
          <p:cNvPr id="4" name="Text 2"/>
          <p:cNvSpPr/>
          <p:nvPr/>
        </p:nvSpPr>
        <p:spPr>
          <a:xfrm>
            <a:off x="685800" y="39776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타깃과 인사이트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A6A7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누구를 보고, 그들의 하루는 어떻게 흐르며, 우리가 건드릴 진짜 문제는 무엇인가.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299655" y="397764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A8B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 · 핵심 타깃</a:t>
            </a:r>
            <a:endParaRPr lang="en-US" sz="1200" dirty="0"/>
          </a:p>
          <a:p>
            <a:pPr algn="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A8B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 · 생활 시나리오</a:t>
            </a:r>
            <a:endParaRPr lang="en-US" sz="1200" dirty="0"/>
          </a:p>
          <a:p>
            <a:pPr algn="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A8B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 · 현실적인 경제성</a:t>
            </a:r>
            <a:endParaRPr lang="en-US" sz="1200" dirty="0"/>
          </a:p>
          <a:p>
            <a:pPr algn="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A8B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· 핵심 인사이트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04088"/>
            <a:ext cx="256032" cy="29261"/>
          </a:xfrm>
          <a:prstGeom prst="rect">
            <a:avLst/>
          </a:prstGeom>
          <a:solidFill>
            <a:srgbClr val="0057F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813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· 타깃과 인사이트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06984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우리가 볼 사람은 2030이 아니라,
</a:t>
            </a:r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005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 소비가 큰 독립 생활자</a:t>
            </a:r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005840" y="2514600"/>
            <a:ext cx="0" cy="2834640"/>
          </a:xfrm>
          <a:prstGeom prst="line">
            <a:avLst/>
          </a:prstGeom>
          <a:noFill/>
          <a:ln w="19050">
            <a:solidFill>
              <a:srgbClr val="19191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5349240"/>
            <a:ext cx="2834640" cy="0"/>
          </a:xfrm>
          <a:prstGeom prst="line">
            <a:avLst/>
          </a:prstGeom>
          <a:noFill/>
          <a:ln w="19050">
            <a:solidFill>
              <a:srgbClr val="19191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8992" y="2587752"/>
            <a:ext cx="1271016" cy="1271016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1152144" y="2587752"/>
            <a:ext cx="1124712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지불 의향은 높지만</a:t>
            </a:r>
            <a:endParaRPr lang="en-US" sz="9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소비 빈도 낮음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96312" y="2587752"/>
            <a:ext cx="1271016" cy="1271016"/>
          </a:xfrm>
          <a:prstGeom prst="roundRect">
            <a:avLst>
              <a:gd name="adj" fmla="val 4317"/>
            </a:avLst>
          </a:prstGeom>
          <a:solidFill>
            <a:srgbClr val="0057FF"/>
          </a:solidFill>
          <a:ln/>
        </p:spPr>
      </p:sp>
      <p:sp>
        <p:nvSpPr>
          <p:cNvPr id="10" name="Text 8"/>
          <p:cNvSpPr/>
          <p:nvPr/>
        </p:nvSpPr>
        <p:spPr>
          <a:xfrm>
            <a:off x="2569464" y="2587752"/>
            <a:ext cx="1124712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타깃</a:t>
            </a:r>
            <a:endParaRPr lang="en-US" sz="10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 소비 크고 지불 의향 높음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078992" y="4005072"/>
            <a:ext cx="1271016" cy="1271016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1152144" y="4005072"/>
            <a:ext cx="1124712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저관여 소비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496312" y="4005072"/>
            <a:ext cx="1271016" cy="1271016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2569464" y="4005072"/>
            <a:ext cx="1124712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소비는 많지만</a:t>
            </a:r>
            <a:endParaRPr lang="en-US" sz="9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지불 의향 낮음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05840" y="542239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커피·생수 소비 빈도 →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 rot="16200000">
            <a:off x="-704088" y="38176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 절감 지불 의향 →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685800"/>
            <a:ext cx="6522415" cy="5486400"/>
          </a:xfrm>
          <a:prstGeom prst="roundRect">
            <a:avLst>
              <a:gd name="adj" fmla="val 1333"/>
            </a:avLst>
          </a:prstGeom>
          <a:solidFill>
            <a:srgbClr val="F5F5F7"/>
          </a:solidFill>
          <a:ln/>
        </p:spPr>
      </p:sp>
      <p:sp>
        <p:nvSpPr>
          <p:cNvPr id="18" name="Shape 16"/>
          <p:cNvSpPr/>
          <p:nvPr/>
        </p:nvSpPr>
        <p:spPr>
          <a:xfrm>
            <a:off x="5257800" y="960120"/>
            <a:ext cx="777240" cy="777240"/>
          </a:xfrm>
          <a:prstGeom prst="ellipse">
            <a:avLst/>
          </a:prstGeom>
          <a:solidFill>
            <a:srgbClr val="ECEEF2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228600" dist="63500" dir="5400000">
              <a:srgbClr val="191919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330952" y="1033272"/>
            <a:ext cx="63093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595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[인물]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217920" y="960120"/>
            <a:ext cx="47393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5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내부 타깃명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17920" y="1161288"/>
            <a:ext cx="47393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Home Routine Optimizer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17920" y="1463040"/>
            <a:ext cx="47393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27~34세 · 1~2인 가구 · 독립 1~5년차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257800" y="1965960"/>
            <a:ext cx="158191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E8E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57800" y="1965960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아이스커피 주 4회+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949440" y="1965960"/>
            <a:ext cx="122529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E8E8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0" y="1965960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생수 정기 구매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284464" y="1965960"/>
            <a:ext cx="110642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E8E8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84464" y="1965960"/>
            <a:ext cx="1106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자기관리 소비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500616" y="1965960"/>
            <a:ext cx="13441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E8E8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500616" y="1965960"/>
            <a:ext cx="1344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편의에 비용 지불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257800" y="25328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준비·관리 절감 니즈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0317175" y="25328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높음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257800" y="2770632"/>
            <a:ext cx="5973775" cy="82296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/>
        </p:spPr>
      </p:sp>
      <p:sp>
        <p:nvSpPr>
          <p:cNvPr id="34" name="Shape 32"/>
          <p:cNvSpPr/>
          <p:nvPr/>
        </p:nvSpPr>
        <p:spPr>
          <a:xfrm>
            <a:off x="5257800" y="2770632"/>
            <a:ext cx="5256922" cy="82296"/>
          </a:xfrm>
          <a:prstGeom prst="roundRect">
            <a:avLst>
              <a:gd name="adj" fmla="val 50000"/>
            </a:avLst>
          </a:prstGeom>
          <a:solidFill>
            <a:srgbClr val="0057FF"/>
          </a:solidFill>
          <a:ln/>
        </p:spPr>
      </p:sp>
      <p:sp>
        <p:nvSpPr>
          <p:cNvPr id="35" name="Text 33"/>
          <p:cNvSpPr/>
          <p:nvPr/>
        </p:nvSpPr>
        <p:spPr>
          <a:xfrm>
            <a:off x="5257800" y="29900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 민감도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0317175" y="29900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중간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257800" y="3227832"/>
            <a:ext cx="5973775" cy="82296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/>
        </p:spPr>
      </p:sp>
      <p:sp>
        <p:nvSpPr>
          <p:cNvPr id="38" name="Shape 36"/>
          <p:cNvSpPr/>
          <p:nvPr/>
        </p:nvSpPr>
        <p:spPr>
          <a:xfrm>
            <a:off x="5257800" y="3227832"/>
            <a:ext cx="3345314" cy="82296"/>
          </a:xfrm>
          <a:prstGeom prst="roundRect">
            <a:avLst>
              <a:gd name="adj" fmla="val 50000"/>
            </a:avLst>
          </a:prstGeom>
          <a:solidFill>
            <a:srgbClr val="0057FF"/>
          </a:solidFill>
          <a:ln/>
        </p:spPr>
      </p:sp>
      <p:sp>
        <p:nvSpPr>
          <p:cNvPr id="39" name="Text 37"/>
          <p:cNvSpPr/>
          <p:nvPr/>
        </p:nvSpPr>
        <p:spPr>
          <a:xfrm>
            <a:off x="5257800" y="34472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실외활동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9402775" y="34472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실내활동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257800" y="3685032"/>
            <a:ext cx="5973775" cy="82296"/>
          </a:xfrm>
          <a:prstGeom prst="roundRect">
            <a:avLst>
              <a:gd name="adj" fmla="val 50000"/>
            </a:avLst>
          </a:prstGeom>
          <a:solidFill>
            <a:srgbClr val="E8E8E8"/>
          </a:solidFill>
          <a:ln/>
        </p:spPr>
      </p:sp>
      <p:sp>
        <p:nvSpPr>
          <p:cNvPr id="42" name="Shape 40"/>
          <p:cNvSpPr/>
          <p:nvPr/>
        </p:nvSpPr>
        <p:spPr>
          <a:xfrm>
            <a:off x="9485766" y="3648456"/>
            <a:ext cx="155448" cy="155448"/>
          </a:xfrm>
          <a:prstGeom prst="ellipse">
            <a:avLst/>
          </a:prstGeom>
          <a:solidFill>
            <a:srgbClr val="0057FF"/>
          </a:solidFill>
          <a:ln/>
        </p:spPr>
      </p:sp>
      <p:sp>
        <p:nvSpPr>
          <p:cNvPr id="43" name="Text 41"/>
          <p:cNvSpPr/>
          <p:nvPr/>
        </p:nvSpPr>
        <p:spPr>
          <a:xfrm>
            <a:off x="5257800" y="5486400"/>
            <a:ext cx="5973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‘웰니스 2030’ 전체로 넓히면 제품과 메시지가 모두 흐려진다. 세대가 아니라 </a:t>
            </a:r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행동 패턴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으로 좁힌다.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8580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청호나이스 2030 브랜드 커뮤니케이션 전략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0134295" y="6492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04088"/>
            <a:ext cx="256032" cy="29261"/>
          </a:xfrm>
          <a:prstGeom prst="rect">
            <a:avLst/>
          </a:prstGeom>
          <a:solidFill>
            <a:srgbClr val="0057F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813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· 타깃과 인사이트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커피를 마시는 데보다,
</a:t>
            </a:r>
            <a:pPr indent="0" marL="0">
              <a:lnSpc>
                <a:spcPts val="2700"/>
              </a:lnSpc>
              <a:buNone/>
            </a:pPr>
            <a:r>
              <a:rPr lang="en-US" sz="2100" b="1" dirty="0">
                <a:solidFill>
                  <a:srgbClr val="005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준비하는 데</a:t>
            </a:r>
            <a:pPr indent="0" marL="0">
              <a:lnSpc>
                <a:spcPts val="2700"/>
              </a:lnSpc>
              <a:buNone/>
            </a:pPr>
            <a:r>
              <a:rPr lang="en-US" sz="21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더 많은 행동을 쓴다.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685800" y="2377440"/>
            <a:ext cx="10820095" cy="0"/>
          </a:xfrm>
          <a:prstGeom prst="line">
            <a:avLst/>
          </a:prstGeom>
          <a:noFill/>
          <a:ln w="25400">
            <a:solidFill>
              <a:srgbClr val="0057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505456"/>
            <a:ext cx="180334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595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기상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85800" y="2706624"/>
            <a:ext cx="18033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물·영양제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514323" y="3108960"/>
            <a:ext cx="100584" cy="100584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9" name="Text 7"/>
          <p:cNvSpPr/>
          <p:nvPr/>
        </p:nvSpPr>
        <p:spPr>
          <a:xfrm>
            <a:off x="2489149" y="2505456"/>
            <a:ext cx="180334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595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출근길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489149" y="2706624"/>
            <a:ext cx="18033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테이크아웃 커피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17672" y="3108960"/>
            <a:ext cx="100584" cy="100584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12" name="Text 10"/>
          <p:cNvSpPr/>
          <p:nvPr/>
        </p:nvSpPr>
        <p:spPr>
          <a:xfrm>
            <a:off x="4292498" y="2505456"/>
            <a:ext cx="180334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595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오전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292498" y="2706624"/>
            <a:ext cx="18033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중 물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95848" y="2505456"/>
            <a:ext cx="180334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595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오후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095848" y="2706624"/>
            <a:ext cx="18033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아이스커피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1218" y="3108960"/>
            <a:ext cx="100584" cy="100584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17" name="Shape 15"/>
          <p:cNvSpPr/>
          <p:nvPr/>
        </p:nvSpPr>
        <p:spPr>
          <a:xfrm>
            <a:off x="6997522" y="3108960"/>
            <a:ext cx="100584" cy="100584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18" name="Text 16"/>
          <p:cNvSpPr/>
          <p:nvPr/>
        </p:nvSpPr>
        <p:spPr>
          <a:xfrm>
            <a:off x="7899197" y="2505456"/>
            <a:ext cx="180334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595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저녁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899197" y="2706624"/>
            <a:ext cx="18033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운동 후 냉수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727719" y="3108960"/>
            <a:ext cx="100584" cy="100584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21" name="Text 19"/>
          <p:cNvSpPr/>
          <p:nvPr/>
        </p:nvSpPr>
        <p:spPr>
          <a:xfrm>
            <a:off x="9702546" y="2505456"/>
            <a:ext cx="180334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595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주말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702546" y="2706624"/>
            <a:ext cx="18033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생수 주문·정리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457917" y="3108960"/>
            <a:ext cx="100584" cy="100584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24" name="Shape 22"/>
          <p:cNvSpPr/>
          <p:nvPr/>
        </p:nvSpPr>
        <p:spPr>
          <a:xfrm>
            <a:off x="10604221" y="3108960"/>
            <a:ext cx="100584" cy="100584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39776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 행동에서 반복되는 마찰 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429000" y="4041648"/>
            <a:ext cx="91440" cy="91440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4343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생수 주문·운반·보관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794760" y="4343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카페 방문과 대기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5800" y="46542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얼음 트레이 관리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794760" y="46542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머신·캡슐 세척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5800" y="49651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필터·위생 걱정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794760" y="49651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여러 기기의 공간 점유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995160" y="3977640"/>
            <a:ext cx="4510735" cy="1280160"/>
          </a:xfrm>
          <a:prstGeom prst="roundRect">
            <a:avLst>
              <a:gd name="adj" fmla="val 5714"/>
            </a:avLst>
          </a:prstGeom>
          <a:solidFill>
            <a:srgbClr val="F5F5F7"/>
          </a:solidFill>
          <a:ln/>
        </p:spPr>
      </p:sp>
      <p:sp>
        <p:nvSpPr>
          <p:cNvPr id="34" name="Text 32"/>
          <p:cNvSpPr/>
          <p:nvPr/>
        </p:nvSpPr>
        <p:spPr>
          <a:xfrm>
            <a:off x="7223760" y="4160520"/>
            <a:ext cx="4053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“집에서 마시려고 머신은 샀는데, 얼음 없으면 결국 편의점에 가요.”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85800" y="5577840"/>
            <a:ext cx="108200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9595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인터뷰 종료 후 팀 문장을 실제 응답자 발화로 교체. 마찰 지점 개수는 관찰 기록 반영.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8580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청호나이스 2030 브랜드 커뮤니케이션 전략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134295" y="6492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04088"/>
            <a:ext cx="256032" cy="29261"/>
          </a:xfrm>
          <a:prstGeom prst="rect">
            <a:avLst/>
          </a:prstGeom>
          <a:solidFill>
            <a:srgbClr val="0057F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813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· 타깃과 인사이트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069848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모두에게 싸지는 않다.
</a:t>
            </a:r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많이 쓰는 사람에게는 </a:t>
            </a:r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005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합칠 이유</a:t>
            </a:r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있다.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23317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저가 아메리카노 한 잔은 아이스 2,000원 선이다. 커피를 거의 안 마시면 월 렌탈 제품의 경제성 메시지는 약해진다.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32004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반면 생수를 정기 구매하고 아이스커피를 자주 마시는 사용자에게는, 월 비용보다 </a:t>
            </a:r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 노동 절감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더 큰 가치가 된다.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5166360"/>
            <a:ext cx="3566160" cy="685800"/>
          </a:xfrm>
          <a:prstGeom prst="roundRect">
            <a:avLst>
              <a:gd name="adj" fmla="val 10667"/>
            </a:avLst>
          </a:prstGeom>
          <a:solidFill>
            <a:srgbClr val="EAF1FF"/>
          </a:solidFill>
          <a:ln w="15875">
            <a:solidFill>
              <a:srgbClr val="0057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527608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에스프레카페는 저빈도 소비자보다, 물과 아이스커피를 반복 구매하는 생활자에게 더 설득력 있는 </a:t>
            </a:r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005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대안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이다.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663440" y="685800"/>
            <a:ext cx="68424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3가지 소비 시나리오의 월 지출 (개념 비교)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3734410"/>
            <a:ext cx="777240" cy="380390"/>
          </a:xfrm>
          <a:prstGeom prst="rect">
            <a:avLst/>
          </a:prstGeom>
          <a:solidFill>
            <a:srgbClr val="9FC0FF"/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3401568"/>
            <a:ext cx="777240" cy="332842"/>
          </a:xfrm>
          <a:prstGeom prst="rect">
            <a:avLst/>
          </a:prstGeom>
          <a:solidFill>
            <a:srgbClr val="5B8C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663440" y="3163824"/>
            <a:ext cx="777240" cy="237744"/>
          </a:xfrm>
          <a:prstGeom prst="rect">
            <a:avLst/>
          </a:prstGeom>
          <a:solidFill>
            <a:srgbClr val="C9D8F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420624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저빈도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1인 가구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33188" y="4645152"/>
            <a:ext cx="82296" cy="82296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15" name="Shape 13"/>
          <p:cNvSpPr/>
          <p:nvPr/>
        </p:nvSpPr>
        <p:spPr>
          <a:xfrm>
            <a:off x="5052060" y="4645152"/>
            <a:ext cx="82296" cy="82296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16" name="Shape 14"/>
          <p:cNvSpPr/>
          <p:nvPr/>
        </p:nvSpPr>
        <p:spPr>
          <a:xfrm>
            <a:off x="6685178" y="3601273"/>
            <a:ext cx="777240" cy="513527"/>
          </a:xfrm>
          <a:prstGeom prst="rect">
            <a:avLst/>
          </a:prstGeom>
          <a:solidFill>
            <a:srgbClr val="9FC0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685178" y="2830982"/>
            <a:ext cx="777240" cy="770291"/>
          </a:xfrm>
          <a:prstGeom prst="rect">
            <a:avLst/>
          </a:prstGeom>
          <a:solidFill>
            <a:srgbClr val="5B8CFF"/>
          </a:solidFill>
          <a:ln/>
        </p:spPr>
      </p:sp>
      <p:sp>
        <p:nvSpPr>
          <p:cNvPr id="18" name="Shape 16"/>
          <p:cNvSpPr/>
          <p:nvPr/>
        </p:nvSpPr>
        <p:spPr>
          <a:xfrm>
            <a:off x="6685178" y="2403043"/>
            <a:ext cx="777240" cy="427939"/>
          </a:xfrm>
          <a:prstGeom prst="rect">
            <a:avLst/>
          </a:prstGeom>
          <a:solidFill>
            <a:srgbClr val="C9D8FF"/>
          </a:solidFill>
          <a:ln/>
        </p:spPr>
      </p:sp>
      <p:sp>
        <p:nvSpPr>
          <p:cNvPr id="19" name="Text 17"/>
          <p:cNvSpPr/>
          <p:nvPr/>
        </p:nvSpPr>
        <p:spPr>
          <a:xfrm>
            <a:off x="6593738" y="420624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05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타깃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05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1인 가구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36054" y="4645152"/>
            <a:ext cx="82296" cy="82296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21" name="Shape 19"/>
          <p:cNvSpPr/>
          <p:nvPr/>
        </p:nvSpPr>
        <p:spPr>
          <a:xfrm>
            <a:off x="6954926" y="4645152"/>
            <a:ext cx="82296" cy="82296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22" name="Shape 20"/>
          <p:cNvSpPr/>
          <p:nvPr/>
        </p:nvSpPr>
        <p:spPr>
          <a:xfrm>
            <a:off x="7073798" y="4645152"/>
            <a:ext cx="82296" cy="82296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23" name="Shape 21"/>
          <p:cNvSpPr/>
          <p:nvPr/>
        </p:nvSpPr>
        <p:spPr>
          <a:xfrm>
            <a:off x="7192670" y="4645152"/>
            <a:ext cx="82296" cy="82296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24" name="Shape 22"/>
          <p:cNvSpPr/>
          <p:nvPr/>
        </p:nvSpPr>
        <p:spPr>
          <a:xfrm>
            <a:off x="8706917" y="3475744"/>
            <a:ext cx="777240" cy="639056"/>
          </a:xfrm>
          <a:prstGeom prst="rect">
            <a:avLst/>
          </a:prstGeom>
          <a:solidFill>
            <a:srgbClr val="9FC0FF"/>
          </a:solidFill>
          <a:ln/>
        </p:spPr>
      </p:sp>
      <p:sp>
        <p:nvSpPr>
          <p:cNvPr id="25" name="Shape 23"/>
          <p:cNvSpPr/>
          <p:nvPr/>
        </p:nvSpPr>
        <p:spPr>
          <a:xfrm>
            <a:off x="8706917" y="2380220"/>
            <a:ext cx="777240" cy="1095524"/>
          </a:xfrm>
          <a:prstGeom prst="rect">
            <a:avLst/>
          </a:prstGeom>
          <a:solidFill>
            <a:srgbClr val="5B8CFF"/>
          </a:solidFill>
          <a:ln/>
        </p:spPr>
      </p:sp>
      <p:sp>
        <p:nvSpPr>
          <p:cNvPr id="26" name="Shape 24"/>
          <p:cNvSpPr/>
          <p:nvPr/>
        </p:nvSpPr>
        <p:spPr>
          <a:xfrm>
            <a:off x="8706917" y="1832458"/>
            <a:ext cx="777240" cy="547762"/>
          </a:xfrm>
          <a:prstGeom prst="rect">
            <a:avLst/>
          </a:prstGeom>
          <a:solidFill>
            <a:srgbClr val="C9D8FF"/>
          </a:solidFill>
          <a:ln/>
        </p:spPr>
      </p:sp>
      <p:sp>
        <p:nvSpPr>
          <p:cNvPr id="27" name="Text 25"/>
          <p:cNvSpPr/>
          <p:nvPr/>
        </p:nvSpPr>
        <p:spPr>
          <a:xfrm>
            <a:off x="8615477" y="420624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고빈도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2인 가구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738921" y="4645152"/>
            <a:ext cx="82296" cy="82296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29" name="Shape 27"/>
          <p:cNvSpPr/>
          <p:nvPr/>
        </p:nvSpPr>
        <p:spPr>
          <a:xfrm>
            <a:off x="8857793" y="4645152"/>
            <a:ext cx="82296" cy="82296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30" name="Shape 28"/>
          <p:cNvSpPr/>
          <p:nvPr/>
        </p:nvSpPr>
        <p:spPr>
          <a:xfrm>
            <a:off x="8976665" y="4645152"/>
            <a:ext cx="82296" cy="82296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31" name="Shape 29"/>
          <p:cNvSpPr/>
          <p:nvPr/>
        </p:nvSpPr>
        <p:spPr>
          <a:xfrm>
            <a:off x="9095537" y="4645152"/>
            <a:ext cx="82296" cy="82296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32" name="Shape 30"/>
          <p:cNvSpPr/>
          <p:nvPr/>
        </p:nvSpPr>
        <p:spPr>
          <a:xfrm>
            <a:off x="9214409" y="4645152"/>
            <a:ext cx="82296" cy="82296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33" name="Shape 31"/>
          <p:cNvSpPr/>
          <p:nvPr/>
        </p:nvSpPr>
        <p:spPr>
          <a:xfrm>
            <a:off x="9333281" y="4645152"/>
            <a:ext cx="82296" cy="82296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34" name="Shape 32"/>
          <p:cNvSpPr/>
          <p:nvPr/>
        </p:nvSpPr>
        <p:spPr>
          <a:xfrm>
            <a:off x="10728655" y="2688336"/>
            <a:ext cx="777240" cy="1426464"/>
          </a:xfrm>
          <a:prstGeom prst="rect">
            <a:avLst/>
          </a:prstGeom>
          <a:solidFill>
            <a:srgbClr val="0057FF"/>
          </a:solidFill>
          <a:ln/>
        </p:spPr>
      </p:sp>
      <p:sp>
        <p:nvSpPr>
          <p:cNvPr id="35" name="Text 33"/>
          <p:cNvSpPr/>
          <p:nvPr/>
        </p:nvSpPr>
        <p:spPr>
          <a:xfrm>
            <a:off x="10637215" y="420624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05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에스프레카페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05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렌탈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1057839" y="4645152"/>
            <a:ext cx="82296" cy="82296"/>
          </a:xfrm>
          <a:prstGeom prst="ellipse">
            <a:avLst/>
          </a:prstGeom>
          <a:solidFill>
            <a:srgbClr val="0057FF"/>
          </a:solidFill>
          <a:ln/>
        </p:spPr>
      </p:sp>
      <p:sp>
        <p:nvSpPr>
          <p:cNvPr id="37" name="Shape 35"/>
          <p:cNvSpPr/>
          <p:nvPr/>
        </p:nvSpPr>
        <p:spPr>
          <a:xfrm>
            <a:off x="4663440" y="4937760"/>
            <a:ext cx="100584" cy="100584"/>
          </a:xfrm>
          <a:prstGeom prst="rect">
            <a:avLst/>
          </a:prstGeom>
          <a:solidFill>
            <a:srgbClr val="9FC0FF"/>
          </a:solidFill>
          <a:ln/>
        </p:spPr>
      </p:sp>
      <p:sp>
        <p:nvSpPr>
          <p:cNvPr id="38" name="Text 36"/>
          <p:cNvSpPr/>
          <p:nvPr/>
        </p:nvSpPr>
        <p:spPr>
          <a:xfrm>
            <a:off x="4828032" y="48920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생수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715000" y="4937760"/>
            <a:ext cx="100584" cy="100584"/>
          </a:xfrm>
          <a:prstGeom prst="rect">
            <a:avLst/>
          </a:prstGeom>
          <a:solidFill>
            <a:srgbClr val="5B8CFF"/>
          </a:solidFill>
          <a:ln/>
        </p:spPr>
      </p:sp>
      <p:sp>
        <p:nvSpPr>
          <p:cNvPr id="40" name="Text 38"/>
          <p:cNvSpPr/>
          <p:nvPr/>
        </p:nvSpPr>
        <p:spPr>
          <a:xfrm>
            <a:off x="5879592" y="48920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카페 커피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766560" y="4937760"/>
            <a:ext cx="100584" cy="100584"/>
          </a:xfrm>
          <a:prstGeom prst="rect">
            <a:avLst/>
          </a:prstGeom>
          <a:solidFill>
            <a:srgbClr val="C9D8FF"/>
          </a:solidFill>
          <a:ln/>
        </p:spPr>
      </p:sp>
      <p:sp>
        <p:nvSpPr>
          <p:cNvPr id="42" name="Text 40"/>
          <p:cNvSpPr/>
          <p:nvPr/>
        </p:nvSpPr>
        <p:spPr>
          <a:xfrm>
            <a:off x="6931152" y="48920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얼음·캡슐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818120" y="4937760"/>
            <a:ext cx="100584" cy="100584"/>
          </a:xfrm>
          <a:prstGeom prst="rect">
            <a:avLst/>
          </a:prstGeom>
          <a:solidFill>
            <a:srgbClr val="0057FF"/>
          </a:solidFill>
          <a:ln/>
        </p:spPr>
      </p:sp>
      <p:sp>
        <p:nvSpPr>
          <p:cNvPr id="44" name="Text 42"/>
          <p:cNvSpPr/>
          <p:nvPr/>
        </p:nvSpPr>
        <p:spPr>
          <a:xfrm>
            <a:off x="7982712" y="48920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렌탈(체감 2.5~3.6만원)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663440" y="5212080"/>
            <a:ext cx="6842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9595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막대 높이는 개념 비교. 실제 금액은 시나리오별 계산으로 확정. 체감 렌탈료는 제휴카드 최대 할인 가정(60개월 기준 48,900원 → 25,900~35,900원).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8580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청호나이스 2030 브랜드 커뮤니케이션 전략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0134295" y="6492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04088"/>
            <a:ext cx="256032" cy="29261"/>
          </a:xfrm>
          <a:prstGeom prst="rect">
            <a:avLst/>
          </a:prstGeom>
          <a:solidFill>
            <a:srgbClr val="0057F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813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· 타깃과 인사이트 · 핵심 인사이트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8503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루틴은 의지가 아니라,
</a:t>
            </a:r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005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준비에서</a:t>
            </a:r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무너진다.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85800" y="3063240"/>
            <a:ext cx="522716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246120"/>
            <a:ext cx="476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인터뷰 발화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3566160"/>
            <a:ext cx="476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“막상 얼리는 게 귀찮아서 홈카페를 자주 포기해요.”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4434840"/>
            <a:ext cx="476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응답으로 교체 예정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278728" y="3063240"/>
            <a:ext cx="522716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07328" y="3246120"/>
            <a:ext cx="476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설문 결과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07328" y="3566160"/>
            <a:ext cx="476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홈카페를 포기하는 이유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1위 얼음 준비 · 2위 세척 · 3위 시간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07328" y="429768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 w="15875">
            <a:solidFill>
              <a:srgbClr val="E8E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42976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조사 후 수치 반영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85800" y="5897880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근거가 확정되기 전까지 숫자는 비워 둔다. 위치만 잡고, 조사 결과로 채운다.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청호나이스 2030 브랜드 커뮤니케이션 전략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134295" y="6492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99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Section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920240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0" b="1" dirty="0">
                <a:solidFill>
                  <a:srgbClr val="2B2B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3000" dirty="0"/>
          </a:p>
        </p:txBody>
      </p:sp>
      <p:sp>
        <p:nvSpPr>
          <p:cNvPr id="4" name="Text 2"/>
          <p:cNvSpPr/>
          <p:nvPr/>
        </p:nvSpPr>
        <p:spPr>
          <a:xfrm>
            <a:off x="685800" y="39776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브랜드 전략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A6A7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브랜드가 맡을 역할, 캐릭터가 필요한 이유, 그리고 펭귄을 다시 세우기 위한 검증.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299655" y="397764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A8B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· 브랜드가 맡을 역할</a:t>
            </a:r>
            <a:endParaRPr lang="en-US" sz="1200" dirty="0"/>
          </a:p>
          <a:p>
            <a:pPr algn="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A8B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· 왜 캐릭터인가</a:t>
            </a:r>
            <a:endParaRPr lang="en-US" sz="1200" dirty="0"/>
          </a:p>
          <a:p>
            <a:pPr algn="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A8B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· 펭귄의 재정의</a:t>
            </a:r>
            <a:endParaRPr lang="en-US" sz="1200" dirty="0"/>
          </a:p>
          <a:p>
            <a:pPr algn="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A8B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 · 펭귄 자산 검증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04088"/>
            <a:ext cx="256032" cy="29261"/>
          </a:xfrm>
          <a:prstGeom prst="rect">
            <a:avLst/>
          </a:prstGeom>
          <a:solidFill>
            <a:srgbClr val="0057F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813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· 브랜드 전략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기능이 많은 정수기가 아니라,
</a:t>
            </a:r>
            <a:pPr indent="0" marL="0">
              <a:lnSpc>
                <a:spcPts val="2700"/>
              </a:lnSpc>
              <a:buNone/>
            </a:pPr>
            <a:r>
              <a:rPr lang="en-US" sz="2100" b="1" dirty="0">
                <a:solidFill>
                  <a:srgbClr val="005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준비를 끝내주는</a:t>
            </a:r>
            <a:pPr indent="0" marL="0">
              <a:lnSpc>
                <a:spcPts val="2700"/>
              </a:lnSpc>
              <a:buNone/>
            </a:pPr>
            <a:r>
              <a:rPr lang="en-US" sz="21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가전으로.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85800" y="233172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5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Brand Proposition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260604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 따로 준비하던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물·얼음·커피를 하나로.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347472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5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Brand Role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374904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사용자가 신경 쓰기 전에, 생활의 기본을 먼저 준비하는 브랜드.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2857500"/>
            <a:ext cx="1417320" cy="1417320"/>
          </a:xfrm>
          <a:prstGeom prst="ellipse">
            <a:avLst/>
          </a:prstGeom>
          <a:solidFill>
            <a:srgbClr val="0057FF"/>
          </a:solidFill>
          <a:ln/>
          <a:effectLst>
            <a:outerShdw sx="100000" sy="100000" kx="0" ky="0" algn="bl" rotWithShape="0" blurRad="177800" dist="50800" dir="5400000">
              <a:srgbClr val="191919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09360" y="2857500"/>
            <a:ext cx="1234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에스프레카페
</a:t>
            </a:r>
            <a:pPr algn="ctr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정수 · 얼음 · 커피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11880" y="2807208"/>
            <a:ext cx="228600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224028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생수 구매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01000" y="2807208"/>
            <a:ext cx="3504895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0" y="2240280"/>
            <a:ext cx="35048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정수 · 냉수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11880" y="3374136"/>
            <a:ext cx="228600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11880" y="2807208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얼음 준비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01000" y="3374136"/>
            <a:ext cx="3504895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01000" y="2807208"/>
            <a:ext cx="35048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제빙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11880" y="3941064"/>
            <a:ext cx="228600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11880" y="3374136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커피 구매·제조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01000" y="3941064"/>
            <a:ext cx="3504895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01000" y="3374136"/>
            <a:ext cx="35048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커피 추출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11880" y="4507992"/>
            <a:ext cx="228600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11880" y="3941064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세척·위생 걱정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01000" y="4507992"/>
            <a:ext cx="3504895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01000" y="3941064"/>
            <a:ext cx="35048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세척·관리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11880" y="5074920"/>
            <a:ext cx="228600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11880" y="4507992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기기의 공간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01000" y="5074920"/>
            <a:ext cx="3504895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01000" y="4507992"/>
            <a:ext cx="35048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올인원 구조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5800" y="571500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왼쪽은 줄어드는 일,  →  </a:t>
            </a:r>
            <a:pPr algn="ctr" indent="0" marL="0">
              <a:buNone/>
            </a:pPr>
            <a:r>
              <a:rPr lang="en-US" sz="105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오른쪽은 제품이 대신하는 일. 표를 복잡하게 만들지 않고 제품을 가운데 두어 연결한다.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8580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청호나이스 2030 브랜드 커뮤니케이션 전략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134295" y="6492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04088"/>
            <a:ext cx="256032" cy="29261"/>
          </a:xfrm>
          <a:prstGeom prst="rect">
            <a:avLst/>
          </a:prstGeom>
          <a:solidFill>
            <a:srgbClr val="0057F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813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· 브랜드 전략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펭귄이 필요한 이유는,
</a:t>
            </a:r>
            <a:pPr indent="0" marL="0">
              <a:lnSpc>
                <a:spcPts val="2700"/>
              </a:lnSpc>
              <a:buNone/>
            </a:pPr>
            <a:r>
              <a:rPr lang="en-US" sz="2100" b="1" dirty="0">
                <a:solidFill>
                  <a:srgbClr val="005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귀여워서가</a:t>
            </a:r>
            <a:pPr indent="0" marL="0">
              <a:lnSpc>
                <a:spcPts val="2700"/>
              </a:lnSpc>
              <a:buNone/>
            </a:pPr>
            <a:r>
              <a:rPr lang="en-US" sz="21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아니다.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685800" y="2286000"/>
            <a:ext cx="339333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487168"/>
            <a:ext cx="29361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5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· 기억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29361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캐릭터의 독창성과 친밀감이 브랜드 인지와 기억 형성을 돕는다.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99178" y="2286000"/>
            <a:ext cx="339333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27778" y="2487168"/>
            <a:ext cx="29361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5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· 이해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27778" y="2834640"/>
            <a:ext cx="29361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복잡한 제품 기능을 하나의 성격과 행동으로 번역할 수 있다.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12557" y="2286000"/>
            <a:ext cx="339333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1157" y="2487168"/>
            <a:ext cx="29361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5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· 관계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41157" y="2834640"/>
            <a:ext cx="29361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의인화된 캐릭터는 거래적으로 느껴지는 렌탈 서비스에 친숙함을 더한다.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44348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캐릭터가 만드는 흐름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4800600"/>
            <a:ext cx="2533574" cy="502920"/>
          </a:xfrm>
          <a:prstGeom prst="roundRect">
            <a:avLst>
              <a:gd name="adj" fmla="val 14545"/>
            </a:avLst>
          </a:prstGeom>
          <a:solidFill>
            <a:srgbClr val="F5F5F7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800600"/>
            <a:ext cx="25335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캐릭터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19374" y="4800600"/>
            <a:ext cx="228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447974" y="4800600"/>
            <a:ext cx="2533574" cy="502920"/>
          </a:xfrm>
          <a:prstGeom prst="roundRect">
            <a:avLst>
              <a:gd name="adj" fmla="val 14545"/>
            </a:avLst>
          </a:prstGeom>
          <a:solidFill>
            <a:srgbClr val="F5F5F7"/>
          </a:solidFill>
          <a:ln/>
        </p:spPr>
      </p:sp>
      <p:sp>
        <p:nvSpPr>
          <p:cNvPr id="19" name="Text 17"/>
          <p:cNvSpPr/>
          <p:nvPr/>
        </p:nvSpPr>
        <p:spPr>
          <a:xfrm>
            <a:off x="3447974" y="4800600"/>
            <a:ext cx="25335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주목·이해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81548" y="4800600"/>
            <a:ext cx="228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10148" y="4800600"/>
            <a:ext cx="2533574" cy="502920"/>
          </a:xfrm>
          <a:prstGeom prst="roundRect">
            <a:avLst>
              <a:gd name="adj" fmla="val 14545"/>
            </a:avLst>
          </a:prstGeom>
          <a:solidFill>
            <a:srgbClr val="F5F5F7"/>
          </a:solidFill>
          <a:ln/>
        </p:spPr>
      </p:sp>
      <p:sp>
        <p:nvSpPr>
          <p:cNvPr id="22" name="Text 20"/>
          <p:cNvSpPr/>
          <p:nvPr/>
        </p:nvSpPr>
        <p:spPr>
          <a:xfrm>
            <a:off x="6210148" y="4800600"/>
            <a:ext cx="25335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브랜드 친숙도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743721" y="4800600"/>
            <a:ext cx="228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972321" y="4800600"/>
            <a:ext cx="2533574" cy="502920"/>
          </a:xfrm>
          <a:prstGeom prst="roundRect">
            <a:avLst>
              <a:gd name="adj" fmla="val 14545"/>
            </a:avLst>
          </a:prstGeom>
          <a:solidFill>
            <a:srgbClr val="0057FF"/>
          </a:solidFill>
          <a:ln/>
        </p:spPr>
      </p:sp>
      <p:sp>
        <p:nvSpPr>
          <p:cNvPr id="25" name="Text 23"/>
          <p:cNvSpPr/>
          <p:nvPr/>
        </p:nvSpPr>
        <p:spPr>
          <a:xfrm>
            <a:off x="8972321" y="4800600"/>
            <a:ext cx="25335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 관심·관계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" y="5623560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캐릭터 마케팅 학술 연구는 부록에 상세. 재인용된 회상률·수익 증가 수치는 원 출처 확인 전까지 본문에서 제외.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8580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청호나이스 2030 브랜드 커뮤니케이션 전략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134295" y="6492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04088"/>
            <a:ext cx="256032" cy="29261"/>
          </a:xfrm>
          <a:prstGeom prst="rect">
            <a:avLst/>
          </a:prstGeom>
          <a:solidFill>
            <a:srgbClr val="0057F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813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· 브랜드 전략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그때의 펭귄을,
</a:t>
            </a:r>
            <a:pPr indent="0" marL="0">
              <a:lnSpc>
                <a:spcPts val="2700"/>
              </a:lnSpc>
              <a:buNone/>
            </a:pPr>
            <a:r>
              <a:rPr lang="en-US" sz="21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그대로 </a:t>
            </a:r>
            <a:pPr indent="0" marL="0">
              <a:lnSpc>
                <a:spcPts val="2700"/>
              </a:lnSpc>
              <a:buNone/>
            </a:pPr>
            <a:r>
              <a:rPr lang="en-US" sz="2100" b="1" dirty="0">
                <a:solidFill>
                  <a:srgbClr val="005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복원하지</a:t>
            </a:r>
            <a:pPr indent="0" marL="0">
              <a:lnSpc>
                <a:spcPts val="2700"/>
              </a:lnSpc>
              <a:buNone/>
            </a:pPr>
            <a:r>
              <a:rPr lang="en-US" sz="21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않는다.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685800" y="2286000"/>
            <a:ext cx="5135728" cy="2148840"/>
          </a:xfrm>
          <a:prstGeom prst="roundRect">
            <a:avLst>
              <a:gd name="adj" fmla="val 3404"/>
            </a:avLst>
          </a:prstGeom>
          <a:solidFill>
            <a:srgbClr val="F5F5F7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514600"/>
            <a:ext cx="458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그때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60120" y="2980944"/>
            <a:ext cx="54864" cy="54864"/>
          </a:xfrm>
          <a:prstGeom prst="ellipse">
            <a:avLst/>
          </a:prstGeom>
          <a:solidFill>
            <a:srgbClr val="0057FF"/>
          </a:solidFill>
          <a:ln/>
        </p:spPr>
      </p:sp>
      <p:sp>
        <p:nvSpPr>
          <p:cNvPr id="8" name="Text 6"/>
          <p:cNvSpPr/>
          <p:nvPr/>
        </p:nvSpPr>
        <p:spPr>
          <a:xfrm>
            <a:off x="1124712" y="2880360"/>
            <a:ext cx="442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얼음정수기를 알리는 광고 캐릭터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60120" y="3364992"/>
            <a:ext cx="54864" cy="54864"/>
          </a:xfrm>
          <a:prstGeom prst="ellipse">
            <a:avLst/>
          </a:prstGeom>
          <a:solidFill>
            <a:srgbClr val="0057FF"/>
          </a:solidFill>
          <a:ln/>
        </p:spPr>
      </p:sp>
      <p:sp>
        <p:nvSpPr>
          <p:cNvPr id="10" name="Text 8"/>
          <p:cNvSpPr/>
          <p:nvPr/>
        </p:nvSpPr>
        <p:spPr>
          <a:xfrm>
            <a:off x="1124712" y="3264408"/>
            <a:ext cx="442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귀엽고 활발한 표현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60120" y="3749040"/>
            <a:ext cx="54864" cy="54864"/>
          </a:xfrm>
          <a:prstGeom prst="ellipse">
            <a:avLst/>
          </a:prstGeom>
          <a:solidFill>
            <a:srgbClr val="0057FF"/>
          </a:solidFill>
          <a:ln/>
        </p:spPr>
      </p:sp>
      <p:sp>
        <p:nvSpPr>
          <p:cNvPr id="12" name="Text 10"/>
          <p:cNvSpPr/>
          <p:nvPr/>
        </p:nvSpPr>
        <p:spPr>
          <a:xfrm>
            <a:off x="1124712" y="3648456"/>
            <a:ext cx="442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 주방의 이미지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821528" y="31318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5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370168" y="2286000"/>
            <a:ext cx="5135728" cy="2148840"/>
          </a:xfrm>
          <a:prstGeom prst="roundRect">
            <a:avLst>
              <a:gd name="adj" fmla="val 3404"/>
            </a:avLst>
          </a:prstGeom>
          <a:solidFill>
            <a:srgbClr val="191919"/>
          </a:solidFill>
          <a:ln/>
        </p:spPr>
      </p:sp>
      <p:sp>
        <p:nvSpPr>
          <p:cNvPr id="15" name="Text 13"/>
          <p:cNvSpPr/>
          <p:nvPr/>
        </p:nvSpPr>
        <p:spPr>
          <a:xfrm>
            <a:off x="6644488" y="2514600"/>
            <a:ext cx="458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99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44488" y="2980944"/>
            <a:ext cx="54864" cy="54864"/>
          </a:xfrm>
          <a:prstGeom prst="ellipse">
            <a:avLst/>
          </a:prstGeom>
          <a:solidFill>
            <a:srgbClr val="2997FF"/>
          </a:solidFill>
          <a:ln/>
        </p:spPr>
      </p:sp>
      <p:sp>
        <p:nvSpPr>
          <p:cNvPr id="17" name="Text 15"/>
          <p:cNvSpPr/>
          <p:nvPr/>
        </p:nvSpPr>
        <p:spPr>
          <a:xfrm>
            <a:off x="6809080" y="2880360"/>
            <a:ext cx="442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6D7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생활의 준비를 먼저 끝내는 루틴 매니저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44488" y="3364992"/>
            <a:ext cx="54864" cy="54864"/>
          </a:xfrm>
          <a:prstGeom prst="ellipse">
            <a:avLst/>
          </a:prstGeom>
          <a:solidFill>
            <a:srgbClr val="2997FF"/>
          </a:solidFill>
          <a:ln/>
        </p:spPr>
      </p:sp>
      <p:sp>
        <p:nvSpPr>
          <p:cNvPr id="19" name="Text 17"/>
          <p:cNvSpPr/>
          <p:nvPr/>
        </p:nvSpPr>
        <p:spPr>
          <a:xfrm>
            <a:off x="6809080" y="3264408"/>
            <a:ext cx="442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6D7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차분하고 능숙한 행동, 건조하고 짧은 유머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44488" y="3749040"/>
            <a:ext cx="54864" cy="54864"/>
          </a:xfrm>
          <a:prstGeom prst="ellipse">
            <a:avLst/>
          </a:prstGeom>
          <a:solidFill>
            <a:srgbClr val="2997FF"/>
          </a:solidFill>
          <a:ln/>
        </p:spPr>
      </p:sp>
      <p:sp>
        <p:nvSpPr>
          <p:cNvPr id="21" name="Text 19"/>
          <p:cNvSpPr/>
          <p:nvPr/>
        </p:nvSpPr>
        <p:spPr>
          <a:xfrm>
            <a:off x="6809080" y="3648456"/>
            <a:ext cx="442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6D7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독립한 2030의 집, 제품과 항상 함께 등장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4709160"/>
            <a:ext cx="10820095" cy="822960"/>
          </a:xfrm>
          <a:prstGeom prst="roundRect">
            <a:avLst>
              <a:gd name="adj" fmla="val 8889"/>
            </a:avLst>
          </a:prstGeom>
          <a:solidFill>
            <a:srgbClr val="EAF1FF"/>
          </a:solidFill>
          <a:ln w="15875">
            <a:solidFill>
              <a:srgbClr val="0057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837176"/>
            <a:ext cx="108200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5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 정의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" y="507492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말보다 행동이 빠른, 우리 집 준비 매니저.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85800" y="5623560"/>
            <a:ext cx="108200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초기 리런칭은 대표 펭귄 한 마리로 시작. ‘아빠·여성 펭귄’ 관계 설정과 캐릭터군 확장은 마스코트가 정착한 뒤 단계.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8580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청호나이스 2030 브랜드 커뮤니케이션 전략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134295" y="6492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04088"/>
            <a:ext cx="256032" cy="29261"/>
          </a:xfrm>
          <a:prstGeom prst="rect">
            <a:avLst/>
          </a:prstGeom>
          <a:solidFill>
            <a:srgbClr val="0057F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813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· 브랜드 전략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069848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기억되는가보다 중요한 건,
</a:t>
            </a:r>
            <a:pPr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지금도 </a:t>
            </a:r>
            <a:pPr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005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청호나이스답게</a:t>
            </a:r>
            <a:pPr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작동하는가.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85800" y="23774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공개 자료만으로는 과거 펭귄 광고가 지금 2030에게 강한 인지도를 가진다고 말할 수 없다.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31089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필요한 건 감성적 확신이 아니라 조사 설계다. 이 장은 설문 계획이 아니라 </a:t>
            </a:r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의사결정 장표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420624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F5F5F7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3708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측정할 지표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461772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비보조 회상 · 광고 보조 인지 · 청호나이스 연결률 · 얼음정수기 연상 · 현대화 시안 선호 · 노출 전후 제품 관심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166360" y="2194560"/>
            <a:ext cx="0" cy="3291840"/>
          </a:xfrm>
          <a:prstGeom prst="line">
            <a:avLst/>
          </a:prstGeom>
          <a:noFill/>
          <a:ln w="19050">
            <a:solidFill>
              <a:srgbClr val="19191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66360" y="5486400"/>
            <a:ext cx="4572000" cy="0"/>
          </a:xfrm>
          <a:prstGeom prst="line">
            <a:avLst/>
          </a:prstGeom>
          <a:noFill/>
          <a:ln w="19050">
            <a:solidFill>
              <a:srgbClr val="19191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57800" y="2286000"/>
            <a:ext cx="210312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5394960" y="2423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 아카이브로만 활용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94960" y="3337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인지 높음 · 적합 낮음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543800" y="2286000"/>
            <a:ext cx="2103120" cy="1463040"/>
          </a:xfrm>
          <a:prstGeom prst="roundRect">
            <a:avLst>
              <a:gd name="adj" fmla="val 3750"/>
            </a:avLst>
          </a:prstGeom>
          <a:solidFill>
            <a:srgbClr val="0057FF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0" y="2423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헤리티지 리바이벌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680960" y="3337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인지 높음 · 적합 높음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257800" y="3931920"/>
            <a:ext cx="210312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5394960" y="4069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메인 전략에서 제외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94960" y="4983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인지 낮음 · 적합 낮음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543800" y="3931920"/>
            <a:ext cx="2103120" cy="1463040"/>
          </a:xfrm>
          <a:prstGeom prst="roundRect">
            <a:avLst>
              <a:gd name="adj" fmla="val 3750"/>
            </a:avLst>
          </a:prstGeom>
          <a:solidFill>
            <a:srgbClr val="EAF1FF"/>
          </a:solidFill>
          <a:ln w="19050">
            <a:solidFill>
              <a:srgbClr val="0057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0" y="4069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05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과거 자산 기반 신규 마스코트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680960" y="4983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인지 낮음 · 적합 높음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166360" y="55595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과거 광고 인지도 →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 rot="16200000">
            <a:off x="3200400" y="37261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현대적 브랜드 적합도 →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청호나이스 2030 브랜드 커뮤니케이션 전략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134295" y="6492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99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Section 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920240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0" b="1" dirty="0">
                <a:solidFill>
                  <a:srgbClr val="2B2B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3000" dirty="0"/>
          </a:p>
        </p:txBody>
      </p:sp>
      <p:sp>
        <p:nvSpPr>
          <p:cNvPr id="4" name="Text 2"/>
          <p:cNvSpPr/>
          <p:nvPr/>
        </p:nvSpPr>
        <p:spPr>
          <a:xfrm>
            <a:off x="685800" y="39776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캠페인 전략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A6A7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 아이디어부터 온라인 콘텐츠, 팝업까지. 발견에서 렌탈로 이어지는 하나의 흐름.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299655" y="397764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A8B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 · 빅 아이디어</a:t>
            </a:r>
            <a:endParaRPr lang="en-US" sz="1200" dirty="0"/>
          </a:p>
          <a:p>
            <a:pPr algn="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A8B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 · 캠페인 구조</a:t>
            </a:r>
            <a:endParaRPr lang="en-US" sz="1200" dirty="0"/>
          </a:p>
          <a:p>
            <a:pPr algn="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A8B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 · 온라인 콘텐츠</a:t>
            </a:r>
            <a:endParaRPr lang="en-US" sz="1200" dirty="0"/>
          </a:p>
          <a:p>
            <a:pPr algn="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A8B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 · 팝업 캠페인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04088"/>
            <a:ext cx="256032" cy="29261"/>
          </a:xfrm>
          <a:prstGeom prst="rect">
            <a:avLst/>
          </a:prstGeom>
          <a:solidFill>
            <a:srgbClr val="2997F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813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· 캠페인 전략 · 빅 아이디어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554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99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BIG IDEA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187452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루틴은 내가,
</a:t>
            </a:r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준비는 </a:t>
            </a:r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299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청호</a:t>
            </a:r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85800" y="3520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D0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준비까지 열심히 살 필요는 없으니까.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4434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6A7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펭귄이 2030의 일상에서 반복되는 준비를 발견하고, 청호나이스의 기능으로 하나씩 줄여주는 캠페인.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5029200"/>
            <a:ext cx="1792224" cy="384048"/>
          </a:xfrm>
          <a:prstGeom prst="roundRect">
            <a:avLst>
              <a:gd name="adj" fmla="val 50000"/>
            </a:avLst>
          </a:prstGeom>
          <a:ln w="15875">
            <a:solidFill>
              <a:srgbClr val="5A5A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5029200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7E7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갓생을 강요하지 않는다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642616" y="5029200"/>
            <a:ext cx="2029968" cy="384048"/>
          </a:xfrm>
          <a:prstGeom prst="roundRect">
            <a:avLst>
              <a:gd name="adj" fmla="val 50000"/>
            </a:avLst>
          </a:prstGeom>
          <a:ln w="15875">
            <a:solidFill>
              <a:srgbClr val="5A5A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42616" y="502920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7E7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바쁜 삶을 미화하지 않는다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37176" y="5029200"/>
            <a:ext cx="2267712" cy="384048"/>
          </a:xfrm>
          <a:prstGeom prst="roundRect">
            <a:avLst>
              <a:gd name="adj" fmla="val 50000"/>
            </a:avLst>
          </a:prstGeom>
          <a:ln w="15875">
            <a:solidFill>
              <a:srgbClr val="5A5A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37176" y="5029200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7E7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펭귄이 인생을 해결하지 않는다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269480" y="5029200"/>
            <a:ext cx="2862072" cy="384048"/>
          </a:xfrm>
          <a:prstGeom prst="roundRect">
            <a:avLst>
              <a:gd name="adj" fmla="val 50000"/>
            </a:avLst>
          </a:prstGeom>
          <a:ln w="15875">
            <a:solidFill>
              <a:srgbClr val="5A5A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69480" y="5029200"/>
            <a:ext cx="2862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7E7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물·얼음·커피, 구체적인 준비만 맡는다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134295" y="6492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8B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04088"/>
            <a:ext cx="256032" cy="29261"/>
          </a:xfrm>
          <a:prstGeom prst="rect">
            <a:avLst/>
          </a:prstGeom>
          <a:solidFill>
            <a:srgbClr val="0057F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813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· 캠페인 전략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 한 편이 아니라,
</a:t>
            </a:r>
            <a:pPr indent="0" marL="0">
              <a:lnSpc>
                <a:spcPts val="2700"/>
              </a:lnSpc>
              <a:buNone/>
            </a:pPr>
            <a:r>
              <a:rPr lang="en-US" sz="21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발견에서 렌탈까지 이어지는 </a:t>
            </a:r>
            <a:pPr indent="0" marL="0">
              <a:lnSpc>
                <a:spcPts val="2700"/>
              </a:lnSpc>
              <a:buNone/>
            </a:pPr>
            <a:r>
              <a:rPr lang="en-US" sz="2100" b="1" dirty="0">
                <a:solidFill>
                  <a:srgbClr val="005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흐름</a:t>
            </a:r>
            <a:pPr indent="0" marL="0">
              <a:lnSpc>
                <a:spcPts val="2700"/>
              </a:lnSpc>
              <a:buNone/>
            </a:pPr>
            <a:r>
              <a:rPr lang="en-US" sz="21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685800" y="2834640"/>
            <a:ext cx="1711909" cy="54864"/>
          </a:xfrm>
          <a:prstGeom prst="roundRect">
            <a:avLst>
              <a:gd name="adj" fmla="val 50000"/>
            </a:avLst>
          </a:prstGeom>
          <a:solidFill>
            <a:srgbClr val="DEE8FF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" y="2788920"/>
            <a:ext cx="146304" cy="146304"/>
          </a:xfrm>
          <a:prstGeom prst="ellipse">
            <a:avLst/>
          </a:prstGeom>
          <a:solidFill>
            <a:srgbClr val="0057FF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3017520"/>
            <a:ext cx="171190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5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3236976"/>
            <a:ext cx="17119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발견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3529584"/>
            <a:ext cx="171190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펭귄 마스코트 리런칭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85800" y="4069080"/>
            <a:ext cx="17119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5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등장한다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07437" y="2834640"/>
            <a:ext cx="1711909" cy="54864"/>
          </a:xfrm>
          <a:prstGeom prst="roundRect">
            <a:avLst>
              <a:gd name="adj" fmla="val 50000"/>
            </a:avLst>
          </a:prstGeom>
          <a:solidFill>
            <a:srgbClr val="DEE8FF"/>
          </a:solidFill>
          <a:ln/>
        </p:spPr>
      </p:sp>
      <p:sp>
        <p:nvSpPr>
          <p:cNvPr id="12" name="Shape 10"/>
          <p:cNvSpPr/>
          <p:nvPr/>
        </p:nvSpPr>
        <p:spPr>
          <a:xfrm>
            <a:off x="2434285" y="2788920"/>
            <a:ext cx="146304" cy="146304"/>
          </a:xfrm>
          <a:prstGeom prst="ellipse">
            <a:avLst/>
          </a:prstGeom>
          <a:solidFill>
            <a:srgbClr val="0057FF"/>
          </a:solidFill>
          <a:ln/>
        </p:spPr>
      </p:sp>
      <p:sp>
        <p:nvSpPr>
          <p:cNvPr id="13" name="Text 11"/>
          <p:cNvSpPr/>
          <p:nvPr/>
        </p:nvSpPr>
        <p:spPr>
          <a:xfrm>
            <a:off x="2507437" y="3017520"/>
            <a:ext cx="171190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5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507437" y="3236976"/>
            <a:ext cx="17119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공감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507437" y="3529584"/>
            <a:ext cx="171190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 노동을 다룬 숏폼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507437" y="4069080"/>
            <a:ext cx="17119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5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관찰한다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29074" y="2834640"/>
            <a:ext cx="1711909" cy="54864"/>
          </a:xfrm>
          <a:prstGeom prst="roundRect">
            <a:avLst>
              <a:gd name="adj" fmla="val 50000"/>
            </a:avLst>
          </a:prstGeom>
          <a:solidFill>
            <a:srgbClr val="DEE8FF"/>
          </a:solidFill>
          <a:ln/>
        </p:spPr>
      </p:sp>
      <p:sp>
        <p:nvSpPr>
          <p:cNvPr id="18" name="Shape 16"/>
          <p:cNvSpPr/>
          <p:nvPr/>
        </p:nvSpPr>
        <p:spPr>
          <a:xfrm>
            <a:off x="4255922" y="2788920"/>
            <a:ext cx="146304" cy="146304"/>
          </a:xfrm>
          <a:prstGeom prst="ellipse">
            <a:avLst/>
          </a:prstGeom>
          <a:solidFill>
            <a:srgbClr val="0057FF"/>
          </a:solidFill>
          <a:ln/>
        </p:spPr>
      </p:sp>
      <p:sp>
        <p:nvSpPr>
          <p:cNvPr id="19" name="Text 17"/>
          <p:cNvSpPr/>
          <p:nvPr/>
        </p:nvSpPr>
        <p:spPr>
          <a:xfrm>
            <a:off x="4329074" y="3017520"/>
            <a:ext cx="171190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5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329074" y="3236976"/>
            <a:ext cx="17119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이해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329074" y="3529584"/>
            <a:ext cx="171190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 기능·비용 진단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329074" y="4069080"/>
            <a:ext cx="17119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5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설명한다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50712" y="2834640"/>
            <a:ext cx="1711909" cy="54864"/>
          </a:xfrm>
          <a:prstGeom prst="roundRect">
            <a:avLst>
              <a:gd name="adj" fmla="val 50000"/>
            </a:avLst>
          </a:prstGeom>
          <a:solidFill>
            <a:srgbClr val="DEE8FF"/>
          </a:solidFill>
          <a:ln/>
        </p:spPr>
      </p:sp>
      <p:sp>
        <p:nvSpPr>
          <p:cNvPr id="24" name="Shape 22"/>
          <p:cNvSpPr/>
          <p:nvPr/>
        </p:nvSpPr>
        <p:spPr>
          <a:xfrm>
            <a:off x="6077560" y="2788920"/>
            <a:ext cx="146304" cy="146304"/>
          </a:xfrm>
          <a:prstGeom prst="ellipse">
            <a:avLst/>
          </a:prstGeom>
          <a:solidFill>
            <a:srgbClr val="0057FF"/>
          </a:solidFill>
          <a:ln/>
        </p:spPr>
      </p:sp>
      <p:sp>
        <p:nvSpPr>
          <p:cNvPr id="25" name="Text 23"/>
          <p:cNvSpPr/>
          <p:nvPr/>
        </p:nvSpPr>
        <p:spPr>
          <a:xfrm>
            <a:off x="6150712" y="3017520"/>
            <a:ext cx="171190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5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150712" y="3236976"/>
            <a:ext cx="17119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체험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150712" y="3529584"/>
            <a:ext cx="171190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팝업 시음·제품 조작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150712" y="4069080"/>
            <a:ext cx="17119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5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안내한다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972349" y="2834640"/>
            <a:ext cx="1711909" cy="54864"/>
          </a:xfrm>
          <a:prstGeom prst="roundRect">
            <a:avLst>
              <a:gd name="adj" fmla="val 50000"/>
            </a:avLst>
          </a:prstGeom>
          <a:solidFill>
            <a:srgbClr val="DEE8FF"/>
          </a:solidFill>
          <a:ln/>
        </p:spPr>
      </p:sp>
      <p:sp>
        <p:nvSpPr>
          <p:cNvPr id="30" name="Shape 28"/>
          <p:cNvSpPr/>
          <p:nvPr/>
        </p:nvSpPr>
        <p:spPr>
          <a:xfrm>
            <a:off x="7899197" y="2788920"/>
            <a:ext cx="146304" cy="146304"/>
          </a:xfrm>
          <a:prstGeom prst="ellipse">
            <a:avLst/>
          </a:prstGeom>
          <a:solidFill>
            <a:srgbClr val="0057FF"/>
          </a:solidFill>
          <a:ln/>
        </p:spPr>
      </p:sp>
      <p:sp>
        <p:nvSpPr>
          <p:cNvPr id="31" name="Text 29"/>
          <p:cNvSpPr/>
          <p:nvPr/>
        </p:nvSpPr>
        <p:spPr>
          <a:xfrm>
            <a:off x="7972349" y="3017520"/>
            <a:ext cx="171190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5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972349" y="3236976"/>
            <a:ext cx="17119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고려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972349" y="3529584"/>
            <a:ext cx="171190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상담·견적·리타게팅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972349" y="4069080"/>
            <a:ext cx="17119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5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권한다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793986" y="2834640"/>
            <a:ext cx="1711909" cy="54864"/>
          </a:xfrm>
          <a:prstGeom prst="roundRect">
            <a:avLst>
              <a:gd name="adj" fmla="val 50000"/>
            </a:avLst>
          </a:prstGeom>
          <a:solidFill>
            <a:srgbClr val="DEE8FF"/>
          </a:solidFill>
          <a:ln/>
        </p:spPr>
      </p:sp>
      <p:sp>
        <p:nvSpPr>
          <p:cNvPr id="36" name="Shape 34"/>
          <p:cNvSpPr/>
          <p:nvPr/>
        </p:nvSpPr>
        <p:spPr>
          <a:xfrm>
            <a:off x="9720834" y="2788920"/>
            <a:ext cx="146304" cy="146304"/>
          </a:xfrm>
          <a:prstGeom prst="ellipse">
            <a:avLst/>
          </a:prstGeom>
          <a:solidFill>
            <a:srgbClr val="0057FF"/>
          </a:solidFill>
          <a:ln/>
        </p:spPr>
      </p:sp>
      <p:sp>
        <p:nvSpPr>
          <p:cNvPr id="37" name="Text 35"/>
          <p:cNvSpPr/>
          <p:nvPr/>
        </p:nvSpPr>
        <p:spPr>
          <a:xfrm>
            <a:off x="9793986" y="3017520"/>
            <a:ext cx="171190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5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793986" y="3236976"/>
            <a:ext cx="17119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관계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9793986" y="3529584"/>
            <a:ext cx="171190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 알림·개인화 루틴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9793986" y="4069080"/>
            <a:ext cx="17119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5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산다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85800" y="4709160"/>
            <a:ext cx="10820095" cy="1051560"/>
          </a:xfrm>
          <a:prstGeom prst="roundRect">
            <a:avLst>
              <a:gd name="adj" fmla="val 6957"/>
            </a:avLst>
          </a:prstGeom>
          <a:solidFill>
            <a:srgbClr val="F5F5F7"/>
          </a:solidFill>
          <a:ln/>
        </p:spPr>
      </p:sp>
      <p:sp>
        <p:nvSpPr>
          <p:cNvPr id="42" name="Text 40"/>
          <p:cNvSpPr/>
          <p:nvPr/>
        </p:nvSpPr>
        <p:spPr>
          <a:xfrm>
            <a:off x="914400" y="484632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필요한 건 콘텐츠 양이 아니라 구조다. 각 단계에서 펭귄이 맡는 역할이 달라지고, 마지막 관계 단계의 씨앗은 이미 </a:t>
            </a:r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휘카페 멤버십 라운지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 있다. MY NICE ROUTINE 앱은 이 단계에서만 짧게 언급하고 상세는 부록으로.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8580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청호나이스 2030 브랜드 커뮤니케이션 전략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0134295" y="6492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04088"/>
            <a:ext cx="256032" cy="29261"/>
          </a:xfrm>
          <a:prstGeom prst="rect">
            <a:avLst/>
          </a:prstGeom>
          <a:solidFill>
            <a:srgbClr val="0057F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813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· 캠페인 전략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콘텐츠마다 말은 달라도,
</a:t>
            </a:r>
            <a:pPr indent="0" marL="0">
              <a:lnSpc>
                <a:spcPts val="2700"/>
              </a:lnSpc>
              <a:buNone/>
            </a:pPr>
            <a:r>
              <a:rPr lang="en-US" sz="21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줄여주는 준비는 </a:t>
            </a:r>
            <a:pPr indent="0" marL="0">
              <a:lnSpc>
                <a:spcPts val="2700"/>
              </a:lnSpc>
              <a:buNone/>
            </a:pPr>
            <a:r>
              <a:rPr lang="en-US" sz="2100" b="1" dirty="0">
                <a:solidFill>
                  <a:srgbClr val="005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하나씩</a:t>
            </a:r>
            <a:pPr indent="0" marL="0">
              <a:lnSpc>
                <a:spcPts val="2700"/>
              </a:lnSpc>
              <a:buNone/>
            </a:pPr>
            <a:r>
              <a:rPr lang="en-US" sz="21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685800" y="2286000"/>
            <a:ext cx="3393338" cy="2514600"/>
          </a:xfrm>
          <a:prstGeom prst="roundRect">
            <a:avLst>
              <a:gd name="adj" fmla="val 2909"/>
            </a:avLst>
          </a:prstGeom>
          <a:solidFill>
            <a:srgbClr val="ECEEF2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228600" dist="63500" dir="5400000">
              <a:srgbClr val="191919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58952" y="2359152"/>
            <a:ext cx="3247034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595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인스타그램 릴스 목업 ]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4928616"/>
            <a:ext cx="33933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5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시리즈 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5129784"/>
            <a:ext cx="33933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펭귄이 미리 준비했습니다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5367528"/>
            <a:ext cx="33933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출근·재택·운동 후·주말 홈카페 상황의 10~15초 숏폼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99178" y="2286000"/>
            <a:ext cx="3393338" cy="2514600"/>
          </a:xfrm>
          <a:prstGeom prst="roundRect">
            <a:avLst>
              <a:gd name="adj" fmla="val 2909"/>
            </a:avLst>
          </a:prstGeom>
          <a:solidFill>
            <a:srgbClr val="ECEEF2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228600" dist="63500" dir="5400000">
              <a:srgbClr val="191919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72330" y="2359152"/>
            <a:ext cx="3247034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595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댓글 상담 콘텐츠 목업 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99178" y="4928616"/>
            <a:ext cx="33933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5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시리즈 B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99178" y="5129784"/>
            <a:ext cx="33933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펭귄의 냉정한 루틴 상담소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99178" y="5367528"/>
            <a:ext cx="33933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사연과 댓글에 건조하게 답한다. “아직 절반만 홈카페입니다.”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112557" y="2286000"/>
            <a:ext cx="3393338" cy="2514600"/>
          </a:xfrm>
          <a:prstGeom prst="roundRect">
            <a:avLst>
              <a:gd name="adj" fmla="val 2909"/>
            </a:avLst>
          </a:prstGeom>
          <a:solidFill>
            <a:srgbClr val="ECEEF2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228600" dist="63500" dir="5400000">
              <a:srgbClr val="191919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185709" y="2359152"/>
            <a:ext cx="3247034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595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계산기 랜딩페이지 목업 ]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112557" y="4928616"/>
            <a:ext cx="33933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5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시리즈 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112557" y="5129784"/>
            <a:ext cx="33933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나의 준비 노동 계산기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12557" y="5367528"/>
            <a:ext cx="33933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생수·커피·얼음 구매 횟수를 넣으면 월간 준비 행동을 보여주고 상담으로 연결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85800" y="5989320"/>
            <a:ext cx="108200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피드·릴스·랜딩 목업으로 교체. 설명문보다 목업이 화면의 70% 이상을 차지하도록 구성.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8580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청호나이스 2030 브랜드 커뮤니케이션 전략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134295" y="6492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04088"/>
            <a:ext cx="256032" cy="29261"/>
          </a:xfrm>
          <a:prstGeom prst="rect">
            <a:avLst/>
          </a:prstGeom>
          <a:solidFill>
            <a:srgbClr val="0057F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813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· 캠페인 전략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팝업은 캐릭터 전시가 아니라,
</a:t>
            </a:r>
            <a:pPr indent="0" marL="0">
              <a:lnSpc>
                <a:spcPts val="2700"/>
              </a:lnSpc>
              <a:buNone/>
            </a:pPr>
            <a:r>
              <a:rPr lang="en-US" sz="21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제품을 이해시키는 </a:t>
            </a:r>
            <a:pPr indent="0" marL="0">
              <a:lnSpc>
                <a:spcPts val="2700"/>
              </a:lnSpc>
              <a:buNone/>
            </a:pPr>
            <a:r>
              <a:rPr lang="en-US" sz="2100" b="1" dirty="0">
                <a:solidFill>
                  <a:srgbClr val="005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실험실</a:t>
            </a:r>
            <a:pPr indent="0" marL="0">
              <a:lnSpc>
                <a:spcPts val="2700"/>
              </a:lnSpc>
              <a:buNone/>
            </a:pPr>
            <a:r>
              <a:rPr lang="en-US" sz="21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이다.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685800" y="2331720"/>
            <a:ext cx="2554148" cy="1234440"/>
          </a:xfrm>
          <a:prstGeom prst="roundRect">
            <a:avLst>
              <a:gd name="adj" fmla="val 5926"/>
            </a:avLst>
          </a:prstGeom>
          <a:solidFill>
            <a:srgbClr val="F5F5F7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468880"/>
            <a:ext cx="310896" cy="310896"/>
          </a:xfrm>
          <a:prstGeom prst="ellipse">
            <a:avLst/>
          </a:prstGeom>
          <a:solidFill>
            <a:srgbClr val="0057FF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468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834640"/>
            <a:ext cx="21883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진단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3136392"/>
            <a:ext cx="21883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물·얼음·커피에 쓰는 비용과 행동 수 확인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41116" y="2331720"/>
            <a:ext cx="2554148" cy="1234440"/>
          </a:xfrm>
          <a:prstGeom prst="roundRect">
            <a:avLst>
              <a:gd name="adj" fmla="val 5926"/>
            </a:avLst>
          </a:prstGeom>
          <a:solidFill>
            <a:srgbClr val="F5F5F7"/>
          </a:solidFill>
          <a:ln/>
        </p:spPr>
      </p:sp>
      <p:sp>
        <p:nvSpPr>
          <p:cNvPr id="11" name="Shape 9"/>
          <p:cNvSpPr/>
          <p:nvPr/>
        </p:nvSpPr>
        <p:spPr>
          <a:xfrm>
            <a:off x="3559988" y="2468880"/>
            <a:ext cx="310896" cy="310896"/>
          </a:xfrm>
          <a:prstGeom prst="ellipse">
            <a:avLst/>
          </a:prstGeom>
          <a:solidFill>
            <a:srgbClr val="0057FF"/>
          </a:solidFill>
          <a:ln/>
        </p:spPr>
      </p:sp>
      <p:sp>
        <p:nvSpPr>
          <p:cNvPr id="12" name="Text 10"/>
          <p:cNvSpPr/>
          <p:nvPr/>
        </p:nvSpPr>
        <p:spPr>
          <a:xfrm>
            <a:off x="3559988" y="2468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23996" y="2834640"/>
            <a:ext cx="21883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체험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23996" y="3136392"/>
            <a:ext cx="21883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정수·얼음·커피를 직접 조작하고 시음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96432" y="2331720"/>
            <a:ext cx="2554148" cy="1234440"/>
          </a:xfrm>
          <a:prstGeom prst="roundRect">
            <a:avLst>
              <a:gd name="adj" fmla="val 5926"/>
            </a:avLst>
          </a:prstGeom>
          <a:solidFill>
            <a:srgbClr val="F5F5F7"/>
          </a:solidFill>
          <a:ln/>
        </p:spPr>
      </p:sp>
      <p:sp>
        <p:nvSpPr>
          <p:cNvPr id="16" name="Shape 14"/>
          <p:cNvSpPr/>
          <p:nvPr/>
        </p:nvSpPr>
        <p:spPr>
          <a:xfrm>
            <a:off x="6315304" y="2468880"/>
            <a:ext cx="310896" cy="310896"/>
          </a:xfrm>
          <a:prstGeom prst="ellipse">
            <a:avLst/>
          </a:prstGeom>
          <a:solidFill>
            <a:srgbClr val="0057FF"/>
          </a:solidFill>
          <a:ln/>
        </p:spPr>
      </p:sp>
      <p:sp>
        <p:nvSpPr>
          <p:cNvPr id="17" name="Text 15"/>
          <p:cNvSpPr/>
          <p:nvPr/>
        </p:nvSpPr>
        <p:spPr>
          <a:xfrm>
            <a:off x="6315304" y="2468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79312" y="2834640"/>
            <a:ext cx="21883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79312" y="3136392"/>
            <a:ext cx="21883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생활 방식과 렌탈 시나리오 비교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951747" y="2331720"/>
            <a:ext cx="2554148" cy="1234440"/>
          </a:xfrm>
          <a:prstGeom prst="roundRect">
            <a:avLst>
              <a:gd name="adj" fmla="val 5926"/>
            </a:avLst>
          </a:prstGeom>
          <a:solidFill>
            <a:srgbClr val="0057FF"/>
          </a:solidFill>
          <a:ln/>
        </p:spPr>
      </p:sp>
      <p:sp>
        <p:nvSpPr>
          <p:cNvPr id="21" name="Shape 19"/>
          <p:cNvSpPr/>
          <p:nvPr/>
        </p:nvSpPr>
        <p:spPr>
          <a:xfrm>
            <a:off x="9070619" y="2468880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9070619" y="2468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34627" y="2834640"/>
            <a:ext cx="21883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상담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34627" y="3136392"/>
            <a:ext cx="21883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 가능 여부와 맞춤 견적 확인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85800" y="3886200"/>
            <a:ext cx="5250028" cy="1417320"/>
          </a:xfrm>
          <a:prstGeom prst="roundRect">
            <a:avLst>
              <a:gd name="adj" fmla="val 5161"/>
            </a:avLst>
          </a:prstGeom>
          <a:solidFill>
            <a:srgbClr val="F5F5F7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4069080"/>
            <a:ext cx="4792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가칭 · 우리 집 루틴 매니저 연구소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4400" y="4325112"/>
            <a:ext cx="47928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펭귄 포토존과 굿즈는 동선 끝에 둔다. 캐릭터를 보러 와서 제품을 써보고 나가게 만드는 구조다. 스태프는 ‘펭귄 루틴 연구소 직원’으로, 방문객은 루틴 정비 미션을 해결한다.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55868" y="3886200"/>
            <a:ext cx="525002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875">
            <a:solidFill>
              <a:srgbClr val="0057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84468" y="4069080"/>
            <a:ext cx="4792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5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KPI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84468" y="4343400"/>
            <a:ext cx="23964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진단 완료율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880881" y="4343400"/>
            <a:ext cx="23964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제품 조작률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84468" y="4636008"/>
            <a:ext cx="23964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시음 완료율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880881" y="4636008"/>
            <a:ext cx="23964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상담 QR 클릭률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84468" y="4928616"/>
            <a:ext cx="23964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설치 상담률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880881" y="4928616"/>
            <a:ext cx="23964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체험 전후 이해도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5800" y="5440680"/>
            <a:ext cx="108200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근거: 2025 팝업 3,077개, 서울 87.81%·성수 35.38% 집중, 8~14일 운영이 최고 효율. 팝업+AI 검색량 전년 대비 +30% (Sweetspot 2025).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8580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청호나이스 2030 브랜드 커뮤니케이션 전략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0134295" y="6492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99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Section 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920240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0" b="1" dirty="0">
                <a:solidFill>
                  <a:srgbClr val="2B2B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3000" dirty="0"/>
          </a:p>
        </p:txBody>
      </p:sp>
      <p:sp>
        <p:nvSpPr>
          <p:cNvPr id="4" name="Text 2"/>
          <p:cNvSpPr/>
          <p:nvPr/>
        </p:nvSpPr>
        <p:spPr>
          <a:xfrm>
            <a:off x="685800" y="39776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검증과 기대효과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A6A7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조회수가 아니라, 청호나이스가 떠오르고 제품이 궁금해졌는지로 성과를 본다.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299655" y="397764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A8B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 · 결과 검증</a:t>
            </a:r>
            <a:endParaRPr lang="en-US" sz="1200" dirty="0"/>
          </a:p>
          <a:p>
            <a:pPr algn="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A8B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 · 기대효과와 마무리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04088"/>
            <a:ext cx="256032" cy="29261"/>
          </a:xfrm>
          <a:prstGeom prst="rect">
            <a:avLst/>
          </a:prstGeom>
          <a:solidFill>
            <a:srgbClr val="0057F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813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· 검증과 기대효과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069848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조회수보다,</a:t>
            </a:r>
            <a:endParaRPr lang="en-US" sz="17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청호나이스가 떠오르고</a:t>
            </a:r>
            <a:endParaRPr lang="en-US" sz="17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제품이 </a:t>
            </a:r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005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궁금해졌는지</a:t>
            </a:r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본다.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28803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가설을 여섯 개 나열하지 않는다. 브랜드 연결에서 관계까지 하나의 퍼널로 본다.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35661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 조사, 광고 노출자와 비노출자 비교, 캠페인 후 조사를 </a:t>
            </a:r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항목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으로 설계한다.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00600" y="2148840"/>
            <a:ext cx="6705295" cy="896112"/>
          </a:xfrm>
          <a:prstGeom prst="roundRect">
            <a:avLst>
              <a:gd name="adj" fmla="val 8163"/>
            </a:avLst>
          </a:prstGeom>
          <a:solidFill>
            <a:srgbClr val="9FC0FF"/>
          </a:solidFill>
          <a:ln/>
        </p:spPr>
      </p:sp>
      <p:sp>
        <p:nvSpPr>
          <p:cNvPr id="8" name="Text 6"/>
          <p:cNvSpPr/>
          <p:nvPr/>
        </p:nvSpPr>
        <p:spPr>
          <a:xfrm>
            <a:off x="4983480" y="2276856"/>
            <a:ext cx="6339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브랜드 연결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83480" y="2569464"/>
            <a:ext cx="6339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펭귄을 보고 청호나이스를 떠올리는가 · 2030에게 적합하다 느끼는가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269971" y="3136392"/>
            <a:ext cx="5766554" cy="896112"/>
          </a:xfrm>
          <a:prstGeom prst="roundRect">
            <a:avLst>
              <a:gd name="adj" fmla="val 8163"/>
            </a:avLst>
          </a:prstGeom>
          <a:solidFill>
            <a:srgbClr val="5B8CFF"/>
          </a:solidFill>
          <a:ln/>
        </p:spPr>
      </p:sp>
      <p:sp>
        <p:nvSpPr>
          <p:cNvPr id="11" name="Text 9"/>
          <p:cNvSpPr/>
          <p:nvPr/>
        </p:nvSpPr>
        <p:spPr>
          <a:xfrm>
            <a:off x="5452851" y="3264408"/>
            <a:ext cx="54007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 이해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52851" y="3557016"/>
            <a:ext cx="54007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정수·얼음·커피 통합을 이해하는가 · ‘준비 감소’ 편익을 기억하는가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739341" y="4123944"/>
            <a:ext cx="4827813" cy="896112"/>
          </a:xfrm>
          <a:prstGeom prst="roundRect">
            <a:avLst>
              <a:gd name="adj" fmla="val 8163"/>
            </a:avLst>
          </a:prstGeom>
          <a:solidFill>
            <a:srgbClr val="2F6BFF"/>
          </a:solidFill>
          <a:ln/>
        </p:spPr>
      </p:sp>
      <p:sp>
        <p:nvSpPr>
          <p:cNvPr id="14" name="Text 12"/>
          <p:cNvSpPr/>
          <p:nvPr/>
        </p:nvSpPr>
        <p:spPr>
          <a:xfrm>
            <a:off x="5922221" y="4251960"/>
            <a:ext cx="44620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행동 변화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22221" y="4544568"/>
            <a:ext cx="446205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 검색 · 비용 진단 · 팝업 체험 · 상담 신청 · 렌탈 고려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08712" y="5111496"/>
            <a:ext cx="3889071" cy="896112"/>
          </a:xfrm>
          <a:prstGeom prst="roundRect">
            <a:avLst>
              <a:gd name="adj" fmla="val 8163"/>
            </a:avLst>
          </a:prstGeom>
          <a:solidFill>
            <a:srgbClr val="0057FF"/>
          </a:solidFill>
          <a:ln/>
        </p:spPr>
      </p:sp>
      <p:sp>
        <p:nvSpPr>
          <p:cNvPr id="17" name="Text 15"/>
          <p:cNvSpPr/>
          <p:nvPr/>
        </p:nvSpPr>
        <p:spPr>
          <a:xfrm>
            <a:off x="6391592" y="5239512"/>
            <a:ext cx="35233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관계 변화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91592" y="5532120"/>
            <a:ext cx="352331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앱·CRM 반응 · 동일 브랜드 재선택 의향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8580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청호나이스 2030 브랜드 커뮤니케이션 전략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134295" y="6492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04088"/>
            <a:ext cx="256032" cy="29261"/>
          </a:xfrm>
          <a:prstGeom prst="rect">
            <a:avLst/>
          </a:prstGeom>
          <a:solidFill>
            <a:srgbClr val="2997F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813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· 검증과 기대효과 · 기대효과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2499284" cy="1920240"/>
          </a:xfrm>
          <a:prstGeom prst="roundRect">
            <a:avLst>
              <a:gd name="adj" fmla="val 3810"/>
            </a:avLst>
          </a:prstGeom>
          <a:solidFill>
            <a:srgbClr val="2A2A2D"/>
          </a:solidFill>
          <a:ln w="12700">
            <a:solidFill>
              <a:srgbClr val="3A3A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764792"/>
            <a:ext cx="2170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99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브랜드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50392" y="2057400"/>
            <a:ext cx="21701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6A7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중심 정수기 브랜드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50392" y="2514600"/>
            <a:ext cx="2170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99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50392" y="2770632"/>
            <a:ext cx="2170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생활을 이해하는 브랜드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59404" y="1600200"/>
            <a:ext cx="2499284" cy="1920240"/>
          </a:xfrm>
          <a:prstGeom prst="roundRect">
            <a:avLst>
              <a:gd name="adj" fmla="val 3810"/>
            </a:avLst>
          </a:prstGeom>
          <a:solidFill>
            <a:srgbClr val="2A2A2D"/>
          </a:solidFill>
          <a:ln w="12700">
            <a:solidFill>
              <a:srgbClr val="3A3A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23996" y="1764792"/>
            <a:ext cx="2170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99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23996" y="2057400"/>
            <a:ext cx="21701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6A7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기능이 많은 복합 제품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23996" y="2514600"/>
            <a:ext cx="2170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99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23996" y="2770632"/>
            <a:ext cx="2170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 준비를 줄이는 생활 기반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33008" y="1600200"/>
            <a:ext cx="2499284" cy="1920240"/>
          </a:xfrm>
          <a:prstGeom prst="roundRect">
            <a:avLst>
              <a:gd name="adj" fmla="val 3810"/>
            </a:avLst>
          </a:prstGeom>
          <a:solidFill>
            <a:srgbClr val="2A2A2D"/>
          </a:solidFill>
          <a:ln w="12700">
            <a:solidFill>
              <a:srgbClr val="3A3A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97600" y="1764792"/>
            <a:ext cx="2170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99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커뮤니케이션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397600" y="2057400"/>
            <a:ext cx="21701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6A7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그때마다 달라지는 콘텐츠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97600" y="2514600"/>
            <a:ext cx="2170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99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97600" y="2770632"/>
            <a:ext cx="2170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펭귄으로 쌓이는 브랜드 언어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06611" y="1600200"/>
            <a:ext cx="2499284" cy="1920240"/>
          </a:xfrm>
          <a:prstGeom prst="roundRect">
            <a:avLst>
              <a:gd name="adj" fmla="val 3810"/>
            </a:avLst>
          </a:prstGeom>
          <a:solidFill>
            <a:srgbClr val="2A2A2D"/>
          </a:solidFill>
          <a:ln w="12700">
            <a:solidFill>
              <a:srgbClr val="3A3A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71203" y="1764792"/>
            <a:ext cx="2170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99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비즈니스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171203" y="2057400"/>
            <a:ext cx="21701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6A7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 노출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71203" y="2514600"/>
            <a:ext cx="2170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99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71203" y="2770632"/>
            <a:ext cx="2170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체험·상담·렌탈 고려로 이어지는 흐름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" y="3977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6A7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부모님 집의 정수기에서, 나의 첫 생활가전으로.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85800" y="43434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루틴은 내가, 준비는 </a:t>
            </a:r>
            <a:pPr indent="0" marL="0">
              <a:buNone/>
            </a:pPr>
            <a:r>
              <a:rPr lang="en-US" sz="3800" b="1" dirty="0">
                <a:solidFill>
                  <a:srgbClr val="299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청호</a:t>
            </a:r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가.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10134295" y="6492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8B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04088"/>
            <a:ext cx="256032" cy="29261"/>
          </a:xfrm>
          <a:prstGeom prst="rect">
            <a:avLst/>
          </a:prstGeom>
          <a:solidFill>
            <a:srgbClr val="0057F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813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Appendix · Evidence Library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본문에 넣으면 덱이 무거워지는 근거는,
</a:t>
            </a:r>
            <a:pPr indent="0" marL="0">
              <a:lnSpc>
                <a:spcPts val="2700"/>
              </a:lnSpc>
              <a:buNone/>
            </a:pPr>
            <a:r>
              <a:rPr lang="en-US" sz="21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여기에 </a:t>
            </a:r>
            <a:pPr indent="0" marL="0">
              <a:lnSpc>
                <a:spcPts val="2700"/>
              </a:lnSpc>
              <a:buNone/>
            </a:pPr>
            <a:r>
              <a:rPr lang="en-US" sz="2100" b="1" dirty="0">
                <a:solidFill>
                  <a:srgbClr val="005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따로</a:t>
            </a:r>
            <a:pPr indent="0" marL="0">
              <a:lnSpc>
                <a:spcPts val="2700"/>
              </a:lnSpc>
              <a:buNone/>
            </a:pPr>
            <a:r>
              <a:rPr lang="en-US" sz="2100" b="1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둔다.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694944" y="2368296"/>
            <a:ext cx="274320" cy="274320"/>
          </a:xfrm>
          <a:prstGeom prst="ellipse">
            <a:avLst/>
          </a:prstGeom>
          <a:solidFill>
            <a:srgbClr val="1E9BE6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" y="23682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69848" y="2377440"/>
            <a:ext cx="475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경쟁사 광고 카피 전체 코딩표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79312" y="2368296"/>
            <a:ext cx="274320" cy="274320"/>
          </a:xfrm>
          <a:prstGeom prst="ellipse">
            <a:avLst/>
          </a:prstGeom>
          <a:solidFill>
            <a:srgbClr val="1E9BE6"/>
          </a:solidFill>
          <a:ln/>
        </p:spPr>
      </p:sp>
      <p:sp>
        <p:nvSpPr>
          <p:cNvPr id="9" name="Text 7"/>
          <p:cNvSpPr/>
          <p:nvPr/>
        </p:nvSpPr>
        <p:spPr>
          <a:xfrm>
            <a:off x="6379312" y="23682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754216" y="2377440"/>
            <a:ext cx="475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청호나이스 SNS 콘텐츠 감사 결과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94944" y="2871216"/>
            <a:ext cx="274320" cy="274320"/>
          </a:xfrm>
          <a:prstGeom prst="ellipse">
            <a:avLst/>
          </a:prstGeom>
          <a:solidFill>
            <a:srgbClr val="1E9BE6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" y="28712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69848" y="2880360"/>
            <a:ext cx="475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캐릭터 마케팅 학술 연구 상세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79312" y="2871216"/>
            <a:ext cx="274320" cy="274320"/>
          </a:xfrm>
          <a:prstGeom prst="ellipse">
            <a:avLst/>
          </a:prstGeom>
          <a:solidFill>
            <a:srgbClr val="1E9BE6"/>
          </a:solidFill>
          <a:ln/>
        </p:spPr>
      </p:sp>
      <p:sp>
        <p:nvSpPr>
          <p:cNvPr id="15" name="Text 13"/>
          <p:cNvSpPr/>
          <p:nvPr/>
        </p:nvSpPr>
        <p:spPr>
          <a:xfrm>
            <a:off x="6379312" y="28712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54216" y="2880360"/>
            <a:ext cx="475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펭귄 설문지와 인터뷰 질문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94944" y="3374136"/>
            <a:ext cx="274320" cy="274320"/>
          </a:xfrm>
          <a:prstGeom prst="ellipse">
            <a:avLst/>
          </a:prstGeom>
          <a:solidFill>
            <a:srgbClr val="1E9BE6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" y="33741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69848" y="3383280"/>
            <a:ext cx="475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렌탈료·캡슐·전기료 세부 계산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79312" y="3374136"/>
            <a:ext cx="274320" cy="274320"/>
          </a:xfrm>
          <a:prstGeom prst="ellipse">
            <a:avLst/>
          </a:prstGeom>
          <a:solidFill>
            <a:srgbClr val="1E9BE6"/>
          </a:solidFill>
          <a:ln/>
        </p:spPr>
      </p:sp>
      <p:sp>
        <p:nvSpPr>
          <p:cNvPr id="21" name="Text 19"/>
          <p:cNvSpPr/>
          <p:nvPr/>
        </p:nvSpPr>
        <p:spPr>
          <a:xfrm>
            <a:off x="6379312" y="33741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54216" y="3383280"/>
            <a:ext cx="475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 NICE ROUTINE 앱 및 관계형 제품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94944" y="3877056"/>
            <a:ext cx="274320" cy="274320"/>
          </a:xfrm>
          <a:prstGeom prst="ellipse">
            <a:avLst/>
          </a:prstGeom>
          <a:solidFill>
            <a:srgbClr val="1E9BE6"/>
          </a:solidFill>
          <a:ln/>
        </p:spPr>
      </p:sp>
      <p:sp>
        <p:nvSpPr>
          <p:cNvPr id="24" name="Text 22"/>
          <p:cNvSpPr/>
          <p:nvPr/>
        </p:nvSpPr>
        <p:spPr>
          <a:xfrm>
            <a:off x="694944" y="3877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69848" y="3886200"/>
            <a:ext cx="475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펭귄 저작권·상표권 체크리스트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379312" y="3877056"/>
            <a:ext cx="274320" cy="274320"/>
          </a:xfrm>
          <a:prstGeom prst="ellipse">
            <a:avLst/>
          </a:prstGeom>
          <a:solidFill>
            <a:srgbClr val="1E9BE6"/>
          </a:solidFill>
          <a:ln/>
        </p:spPr>
      </p:sp>
      <p:sp>
        <p:nvSpPr>
          <p:cNvPr id="27" name="Text 25"/>
          <p:cNvSpPr/>
          <p:nvPr/>
        </p:nvSpPr>
        <p:spPr>
          <a:xfrm>
            <a:off x="6379312" y="3877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54216" y="3886200"/>
            <a:ext cx="475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미디어 예산과 주차별 운영안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94944" y="4379976"/>
            <a:ext cx="274320" cy="274320"/>
          </a:xfrm>
          <a:prstGeom prst="ellipse">
            <a:avLst/>
          </a:prstGeom>
          <a:solidFill>
            <a:srgbClr val="1E9BE6"/>
          </a:solidFill>
          <a:ln/>
        </p:spPr>
      </p:sp>
      <p:sp>
        <p:nvSpPr>
          <p:cNvPr id="30" name="Text 28"/>
          <p:cNvSpPr/>
          <p:nvPr/>
        </p:nvSpPr>
        <p:spPr>
          <a:xfrm>
            <a:off x="694944" y="4379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69848" y="4389120"/>
            <a:ext cx="475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919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Hero 콘텐츠 후보 비교 (발명가 광고 포함)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85800" y="5760720"/>
            <a:ext cx="108200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발명가 광고는 아직 확정 전이므로 본문 전략에서 빼고 Hero 후보 비교로만 둔다.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8580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청호나이스 2030 브랜드 커뮤니케이션 전략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0134295" y="6492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5959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2026-07-23T12:20:08Z</dcterms:created>
  <dcterms:modified xsi:type="dcterms:W3CDTF">2026-07-23T12:20:08Z</dcterms:modified>
</cp:coreProperties>
</file>