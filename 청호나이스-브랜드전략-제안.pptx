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embeddedFontLst>
    <p:embeddedFont>
      <p:font typeface="Pretendard"/>
      <p:regular r:id="rId34"/>
      <p:bold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오준상 · 이민욱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961327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· 브랜드 커뮤니케이션 전략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14173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78308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루틴은 내가,</a:t>
            </a:r>
            <a:endParaRPr lang="en-US" sz="4600" dirty="0"/>
          </a:p>
          <a:p>
            <a:pPr algn="ctr"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준비는 </a:t>
            </a:r>
            <a:pPr algn="ctr"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</a:t>
            </a:r>
            <a:pPr algn="ctr"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352648" y="34290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26262B"/>
          </a:solidFill>
          <a:ln w="12700">
            <a:solidFill>
              <a:srgbClr val="303036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07512" y="3483864"/>
            <a:ext cx="537667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D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에스프레카페 정수기 옆에 펭귄이 지키고 선 이미지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61327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Communication Strategy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정의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42416"/>
            <a:ext cx="108749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젊은 고객의 </a:t>
            </a:r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첫번째 정수기</a:t>
            </a:r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되기 위해.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2030은 생애가치가 높다. 한번 선택하면 오래 이어지기 때문에, 첫 구매를 잡으려면 이들이 관심 있어 하는 제품으로 청호나이스에 진입시켜야 한다.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788920"/>
            <a:ext cx="5254600" cy="1325880"/>
          </a:xfrm>
          <a:prstGeom prst="roundRect">
            <a:avLst>
              <a:gd name="adj" fmla="val 6207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90088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과제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74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신제품과 브랜드를 2030에게 효과적으로 알리는 것.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8728" y="2788920"/>
            <a:ext cx="5254600" cy="1325880"/>
          </a:xfrm>
          <a:prstGeom prst="roundRect">
            <a:avLst>
              <a:gd name="adj" fmla="val 6207"/>
            </a:avLst>
          </a:prstGeom>
          <a:solidFill>
            <a:srgbClr val="EAF1FF"/>
          </a:solidFill>
          <a:ln w="19050">
            <a:solidFill>
              <a:srgbClr val="005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4760" y="2990088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우리의 재해석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4760" y="3337560"/>
            <a:ext cx="4742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청호나이스를 부모님 집에서 보던 정수기에서, 내가 처음 고려하는 생활가전으로 전환하는 것.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0" y="46634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만들어야 할 전환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5680" y="504748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5680" y="50474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노출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4400" y="50474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20160" y="5047488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0160" y="504748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관련성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01488" y="50474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67248" y="504748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7248" y="50474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이해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55968" y="50474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21728" y="5047488"/>
            <a:ext cx="74980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1728" y="504748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71536" y="50474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537296" y="504748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0057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37296" y="50474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렌탈 고려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 요약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번거로운 준비 과정을 없애는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‘매니저 펭귄’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캐릭터 브랜딩 전략.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52546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59736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· 준비의 문제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" y="2907792"/>
            <a:ext cx="64008" cy="64008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816352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물과 커피에 반복 지출하는 독립 2030 — 생수를 사고 아이스커피를 매일 마시는 1~2인 가구.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3474720"/>
            <a:ext cx="64008" cy="64008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38328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물, 얼음, 커피를 각각 사서 만들어야 하는 번거로운 준비 루틴.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" y="4041648"/>
            <a:ext cx="64008" cy="64008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950208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정수·얼음·커피를 통합한 에스프레카페 — 세 가지 준비를 한 기기로 끝낸다.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8728" y="2240280"/>
            <a:ext cx="52546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005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4760" y="2459736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· 아아 준비를 없애는 매니저, 펭귄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53048" y="2907792"/>
            <a:ext cx="64008" cy="64008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6" name="Text 14"/>
          <p:cNvSpPr/>
          <p:nvPr/>
        </p:nvSpPr>
        <p:spPr>
          <a:xfrm>
            <a:off x="6735928" y="2816352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 캐릭터 중심의 광고·SNS·팝업스토어.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53048" y="3474720"/>
            <a:ext cx="64008" cy="64008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8" name="Text 16"/>
          <p:cNvSpPr/>
          <p:nvPr/>
        </p:nvSpPr>
        <p:spPr>
          <a:xfrm>
            <a:off x="6735928" y="3383280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다른 콘텐츠가 하나의 캐릭터 서사로 쌓인다.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53048" y="4041648"/>
            <a:ext cx="64008" cy="64008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35928" y="3950208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청호나이스가 만든 캐릭터 자산을 다시 활용한다.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0" y="462686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261208" y="4956048"/>
            <a:ext cx="5669280" cy="548640"/>
          </a:xfrm>
          <a:prstGeom prst="roundRect">
            <a:avLst>
              <a:gd name="adj" fmla="val 16667"/>
            </a:avLst>
          </a:prstGeom>
          <a:solidFill>
            <a:srgbClr val="0057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61208" y="49560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정수기 렌탈 브랜드의 적합도와 구매 유도 확대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2B2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58368" y="4160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진단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27087" y="3977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카테고리 커뮤니케이션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청호나이스의 현재 커뮤니케이션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청호나이스만의 자산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브랜드 진단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얼음정수기 광고는 다르지만,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기억에는 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비슷하게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남는다.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58368" y="2423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코OO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2752344"/>
            <a:ext cx="3273552" cy="61722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43784"/>
            <a:ext cx="29077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아이콘 얼음정수기, 슬림한 크기와 풍부한 제빙, IoT 맞춤 기능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51376" y="242316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SKOO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51376" y="2752344"/>
            <a:ext cx="3273552" cy="61722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4334256" y="2843784"/>
            <a:ext cx="29077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크고 단단한 얼음, 쉽게 녹지 않는 빙질과 위생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349758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쿠OO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3826764"/>
            <a:ext cx="3273552" cy="61722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918204"/>
            <a:ext cx="29077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100도 물맛과 드립커피 기능, 끓인 물 위생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51376" y="349758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LGOO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51376" y="3826764"/>
            <a:ext cx="3273552" cy="617220"/>
          </a:xfrm>
          <a:prstGeom prst="roundRect">
            <a:avLst>
              <a:gd name="adj" fmla="val 13333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4334256" y="3918204"/>
            <a:ext cx="29077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음성제어, 맞춤 출수, 전 구간 고온 살균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36408" y="2423160"/>
            <a:ext cx="3696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반복되는 공통 언어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36408" y="275234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36408" y="27523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얼음 용량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33104" y="2752344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33104" y="2752344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제빙 속도·빙질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86416" y="275234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86416" y="27523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살균·위생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36408" y="3136392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6408" y="313639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슬림한 크기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51976" y="3136392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51976" y="313639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컬러·디자인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067544" y="313639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67544" y="31363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앱·AI 기능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36408" y="3666744"/>
            <a:ext cx="3696919" cy="996696"/>
          </a:xfrm>
          <a:prstGeom prst="roundRect">
            <a:avLst>
              <a:gd name="adj" fmla="val 8257"/>
            </a:avLst>
          </a:pr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8037576" y="3831336"/>
            <a:ext cx="329458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치열한 경쟁 속에서도 브랜드들의 카피는 여전히 기능에 치중되어 있다. 청호나이스의 카피 역시 비슷해서, 소비자 입장에서는 뾰족한 차별점을 느끼기 어렵다.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" y="6291072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각 사 2025 공식 캠페인·제품 페이지 종합. 브랜드명은 비교 목적상 익명 처리.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브랜드 진단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44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각기 다른 </a:t>
            </a:r>
            <a:pPr indent="0" marL="0">
              <a:lnSpc>
                <a:spcPts val="2944"/>
              </a:lnSpc>
              <a:buNone/>
            </a:pPr>
            <a:r>
              <a:rPr lang="en-US" sz="23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콘텐츠의 방향</a:t>
            </a:r>
            <a:pPr indent="0" marL="0">
              <a:lnSpc>
                <a:spcPts val="2944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26716" cy="2194560"/>
          </a:xfrm>
          <a:prstGeom prst="roundRect">
            <a:avLst>
              <a:gd name="adj" fmla="val 3750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03704"/>
            <a:ext cx="241698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영상 01 ]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41116" y="2148840"/>
            <a:ext cx="2526716" cy="2194560"/>
          </a:xfrm>
          <a:prstGeom prst="roundRect">
            <a:avLst>
              <a:gd name="adj" fmla="val 3750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5980" y="2203704"/>
            <a:ext cx="241698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영상 02 ]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23864" y="2148840"/>
            <a:ext cx="2526716" cy="2194560"/>
          </a:xfrm>
          <a:prstGeom prst="roundRect">
            <a:avLst>
              <a:gd name="adj" fmla="val 3750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78728" y="2203704"/>
            <a:ext cx="241698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영상 03 ]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06611" y="2148840"/>
            <a:ext cx="2526716" cy="2194560"/>
          </a:xfrm>
          <a:prstGeom prst="roundRect">
            <a:avLst>
              <a:gd name="adj" fmla="val 3750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061475" y="2203704"/>
            <a:ext cx="241698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영상 04 ]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4617720"/>
            <a:ext cx="10874959" cy="914400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764024"/>
            <a:ext cx="10417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청호나이스는 숏폼과 AI 콘텐츠를 적극적으로 만들고 있다. 문제는 형식이 아니라 축적이다. 콘텐츠마다 말이 달라, 2030이 제품을 선택해야 할 이유가 하나의 브랜드 인상으로 남지 않는다.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828800"/>
            <a:ext cx="2526716" cy="2377440"/>
          </a:xfrm>
          <a:prstGeom prst="roundRect">
            <a:avLst>
              <a:gd name="adj" fmla="val 3462"/>
            </a:avLst>
          </a:prstGeom>
          <a:solidFill>
            <a:srgbClr val="E7E7EA"/>
          </a:solidFill>
          <a:ln w="12700">
            <a:solidFill>
              <a:srgbClr val="DEDE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41116" y="1828800"/>
            <a:ext cx="2526716" cy="2377440"/>
          </a:xfrm>
          <a:prstGeom prst="roundRect">
            <a:avLst>
              <a:gd name="adj" fmla="val 3462"/>
            </a:avLst>
          </a:prstGeom>
          <a:solidFill>
            <a:srgbClr val="E7E7EA"/>
          </a:solidFill>
          <a:ln w="12700">
            <a:solidFill>
              <a:srgbClr val="DEDE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23864" y="1828800"/>
            <a:ext cx="2526716" cy="2377440"/>
          </a:xfrm>
          <a:prstGeom prst="roundRect">
            <a:avLst>
              <a:gd name="adj" fmla="val 3462"/>
            </a:avLst>
          </a:prstGeom>
          <a:solidFill>
            <a:srgbClr val="E7E7EA"/>
          </a:solidFill>
          <a:ln w="12700">
            <a:solidFill>
              <a:srgbClr val="DE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611" y="1828800"/>
            <a:ext cx="2526716" cy="2377440"/>
          </a:xfrm>
          <a:prstGeom prst="roundRect">
            <a:avLst>
              <a:gd name="adj" fmla="val 3462"/>
            </a:avLst>
          </a:prstGeom>
          <a:solidFill>
            <a:srgbClr val="E7E7EA"/>
          </a:solidFill>
          <a:ln w="12700">
            <a:solidFill>
              <a:srgbClr val="DEDE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>
              <a:alpha val="7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0" y="24688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283464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2030이 제품을 선택할 이유가,</a:t>
            </a:r>
            <a:endParaRPr lang="en-US" sz="30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브랜드 인상</a:t>
            </a:r>
            <a:pPr algn="ctr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남지 않는다.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브랜드 진단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만들기 전에,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가진 것을 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묶을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 있다.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2788920"/>
            <a:ext cx="10874959" cy="0"/>
          </a:xfrm>
          <a:prstGeom prst="line">
            <a:avLst/>
          </a:prstGeom>
          <a:noFill/>
          <a:ln w="1905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404872"/>
            <a:ext cx="217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5572" y="2738628"/>
            <a:ext cx="100584" cy="100584"/>
          </a:xfrm>
          <a:prstGeom prst="ellipse">
            <a:avLst/>
          </a:prstGeom>
          <a:solidFill>
            <a:srgbClr val="0057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35224"/>
            <a:ext cx="199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얼음정수기를 알린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 광고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3360" y="2404872"/>
            <a:ext cx="217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얼음정수기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70564" y="2738628"/>
            <a:ext cx="100584" cy="100584"/>
          </a:xfrm>
          <a:prstGeom prst="ellipse">
            <a:avLst/>
          </a:prstGeom>
          <a:solidFill>
            <a:srgbClr val="0057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4800" y="2935224"/>
            <a:ext cx="199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얼음정수기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기술과 역사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08352" y="2404872"/>
            <a:ext cx="217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커피얼음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45556" y="2738628"/>
            <a:ext cx="100584" cy="100584"/>
          </a:xfrm>
          <a:prstGeom prst="ellipse">
            <a:avLst/>
          </a:prstGeom>
          <a:solidFill>
            <a:srgbClr val="0057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9792" y="2935224"/>
            <a:ext cx="199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커피얼음정수기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83344" y="2404872"/>
            <a:ext cx="217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0547" y="2738628"/>
            <a:ext cx="100584" cy="100584"/>
          </a:xfrm>
          <a:prstGeom prst="ellipse">
            <a:avLst/>
          </a:prstGeom>
          <a:solidFill>
            <a:srgbClr val="0057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4784" y="2935224"/>
            <a:ext cx="199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콘텐츠·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휘카페 멤버십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58335" y="2404872"/>
            <a:ext cx="217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95539" y="2738628"/>
            <a:ext cx="100584" cy="100584"/>
          </a:xfrm>
          <a:prstGeom prst="ellipse">
            <a:avLst/>
          </a:prstGeom>
          <a:solidFill>
            <a:srgbClr val="1E9BE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49775" y="2935224"/>
            <a:ext cx="199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마스코트 시스템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4160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청호나이스가 이미 가진 자산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정수·얼음·커피 올인원 제품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75888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자동 세척과 위생 관리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4855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과거 펭귄 광고 캐릭터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75888" y="4855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휘카페·캡슐·멤버십 접점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01407" y="4160520"/>
            <a:ext cx="1828800" cy="1234440"/>
          </a:xfrm>
          <a:prstGeom prst="roundRect">
            <a:avLst>
              <a:gd name="adj" fmla="val 6667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56271" y="4215384"/>
            <a:ext cx="17190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펭귄 캐릭터 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13087" y="4160520"/>
            <a:ext cx="1920240" cy="1234440"/>
          </a:xfrm>
          <a:prstGeom prst="roundRect">
            <a:avLst>
              <a:gd name="adj" fmla="val 6667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67951" y="4215384"/>
            <a:ext cx="18105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에스프레카페 제품 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6291072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‘세계 최초’·판매량·렌탈료 표현은 최종 제출 전 공식 자료와 날짜로 재확인.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2B2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58368" y="4160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&amp; 인사이트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27087" y="3977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핵심 타깃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· 생활 시나리오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· 현실적인 경제성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· 핵심 인사이트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타깃 &amp; 인사이트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4241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볼 사람은 ‘2030’이 아니라,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소비가 큰 독립 생활자</a:t>
            </a:r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타깃은 2030 중에서도 반복적인 소비가 큰 독립 1~2인 가구다.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78408" y="2926080"/>
            <a:ext cx="0" cy="2743200"/>
          </a:xfrm>
          <a:prstGeom prst="line">
            <a:avLst/>
          </a:prstGeom>
          <a:noFill/>
          <a:ln w="19050">
            <a:solidFill>
              <a:srgbClr val="1919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5669280"/>
            <a:ext cx="2743200" cy="0"/>
          </a:xfrm>
          <a:prstGeom prst="line">
            <a:avLst/>
          </a:prstGeom>
          <a:noFill/>
          <a:ln w="19050">
            <a:solidFill>
              <a:srgbClr val="1919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999232"/>
            <a:ext cx="1225296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124712" y="2999232"/>
            <a:ext cx="10789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지불 의향은 높지만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소비 빈도 낮음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2999232"/>
            <a:ext cx="1225296" cy="1225296"/>
          </a:xfrm>
          <a:prstGeom prst="roundRect">
            <a:avLst>
              <a:gd name="adj" fmla="val 4478"/>
            </a:avLst>
          </a:prstGeom>
          <a:solidFill>
            <a:srgbClr val="0057FF"/>
          </a:solidFill>
          <a:ln/>
        </p:spPr>
      </p:sp>
      <p:sp>
        <p:nvSpPr>
          <p:cNvPr id="11" name="Text 9"/>
          <p:cNvSpPr/>
          <p:nvPr/>
        </p:nvSpPr>
        <p:spPr>
          <a:xfrm>
            <a:off x="2496312" y="2999232"/>
            <a:ext cx="10789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타깃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소비 크고 지불 의향 높음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51560" y="4370832"/>
            <a:ext cx="1225296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124712" y="4370832"/>
            <a:ext cx="10789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저관여 소비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4370832"/>
            <a:ext cx="1225296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496312" y="4370832"/>
            <a:ext cx="10789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소비는 많지만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지불 의향 낮음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78408" y="5742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커피·생수 소비 빈도 →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 rot="16200000">
            <a:off x="-704088" y="41788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준비·관리 감소 지불 의향 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47488" y="658368"/>
            <a:ext cx="6485839" cy="5541264"/>
          </a:xfrm>
          <a:prstGeom prst="roundRect">
            <a:avLst>
              <a:gd name="adj" fmla="val 1485"/>
            </a:avLst>
          </a:pr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5321808" y="932688"/>
            <a:ext cx="777240" cy="777240"/>
          </a:xfrm>
          <a:prstGeom prst="ellipse">
            <a:avLst/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76672" y="987552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[인물]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81928" y="932688"/>
            <a:ext cx="52056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타깃명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81928" y="1133856"/>
            <a:ext cx="5205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생산성 · 2030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81928" y="1463040"/>
            <a:ext cx="5205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27~34세 · 1~2인 가구 · 독립 1~5년차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21808" y="2029968"/>
            <a:ext cx="5937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아이스커피 주 4회 이상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21808" y="2414016"/>
            <a:ext cx="5937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생수 구매 경험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321808" y="2798064"/>
            <a:ext cx="5937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운동·영양·수면 등 자기관리와 생산성에 소비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321808" y="3182112"/>
            <a:ext cx="5937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시간과 편의를 위해 비용을 지불한 경험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321808" y="5513832"/>
            <a:ext cx="59371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‘웰니스 2030’은 너무 넓다. 세대가 아니라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소비와 지불 의향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좁힌다.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타깃 &amp; 인사이트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커피를 마시는 데보다,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준비하는 데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더 많은 행동을 쓴다.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2514600"/>
            <a:ext cx="10874959" cy="0"/>
          </a:xfrm>
          <a:prstGeom prst="line">
            <a:avLst/>
          </a:prstGeom>
          <a:noFill/>
          <a:ln w="25400">
            <a:solidFill>
              <a:srgbClr val="005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642616"/>
            <a:ext cx="1812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2843784"/>
            <a:ext cx="18124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물·영양제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91463" y="3227832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" name="Text 7"/>
          <p:cNvSpPr/>
          <p:nvPr/>
        </p:nvSpPr>
        <p:spPr>
          <a:xfrm>
            <a:off x="2470861" y="2642616"/>
            <a:ext cx="1812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출근길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70861" y="2843784"/>
            <a:ext cx="18124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테이크아웃 커피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03956" y="3227832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" name="Text 10"/>
          <p:cNvSpPr/>
          <p:nvPr/>
        </p:nvSpPr>
        <p:spPr>
          <a:xfrm>
            <a:off x="4283354" y="2642616"/>
            <a:ext cx="1812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83354" y="2843784"/>
            <a:ext cx="18124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중 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5848" y="2642616"/>
            <a:ext cx="1812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95848" y="2843784"/>
            <a:ext cx="18124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아이스커피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5790" y="3227832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7" name="Shape 15"/>
          <p:cNvSpPr/>
          <p:nvPr/>
        </p:nvSpPr>
        <p:spPr>
          <a:xfrm>
            <a:off x="7002094" y="3227832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8" name="Text 16"/>
          <p:cNvSpPr/>
          <p:nvPr/>
        </p:nvSpPr>
        <p:spPr>
          <a:xfrm>
            <a:off x="7908341" y="2642616"/>
            <a:ext cx="1812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08341" y="2843784"/>
            <a:ext cx="18124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운동 후 냉수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41435" y="3227832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1" name="Text 19"/>
          <p:cNvSpPr/>
          <p:nvPr/>
        </p:nvSpPr>
        <p:spPr>
          <a:xfrm>
            <a:off x="9720834" y="2642616"/>
            <a:ext cx="18124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20834" y="2843784"/>
            <a:ext cx="181249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생수 주문·재활용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480777" y="3227832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27081" y="3227832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069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행동에서 반복되는 마찰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64408" y="4123944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453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생수 주문·운반·보관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67328" y="4453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카페 방문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얼음 트레이 관리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67328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캡슐·머신 세척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필터·위생 걱정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67328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여러 기기의 공간 점유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059168" y="4069080"/>
            <a:ext cx="4474159" cy="1325880"/>
          </a:xfrm>
          <a:prstGeom prst="roundRect">
            <a:avLst>
              <a:gd name="adj" fmla="val 6207"/>
            </a:avLst>
          </a:prstGeom>
          <a:solidFill>
            <a:srgbClr val="F5F5F7"/>
          </a:solidFill>
          <a:ln/>
        </p:spPr>
      </p:sp>
      <p:sp>
        <p:nvSpPr>
          <p:cNvPr id="34" name="Text 32"/>
          <p:cNvSpPr/>
          <p:nvPr/>
        </p:nvSpPr>
        <p:spPr>
          <a:xfrm>
            <a:off x="7287768" y="4251960"/>
            <a:ext cx="40169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“집에서 마시려고 머신은 샀는데, 얼음 없으면 결국 편의점에 가요.”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58368" y="6291072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종료 후 팀 문장을 실제 응답자 발화로 교체. 마찰 지점 개수는 관찰 기록 반영.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타깃 &amp; 인사이트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4241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모두에게 싸지는 않다.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많이 쓰는 사람에게는 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합칠 이유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있다.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2423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‘더 싸게’를 무리하게 주장하기보다, 많이 쓰는 사람에게 합칠 이유가 있다고 말하는 편이 신뢰도가 높다.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493776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EAF1FF"/>
          </a:solidFill>
          <a:ln w="15875">
            <a:solidFill>
              <a:srgbClr val="005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50474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에스프레카페는 저빈도 소비자보다, 물과 아이스커피를 반복 구매하는 생활자에게 더 설득력 있는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대안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36008" y="658368"/>
            <a:ext cx="68973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소비 시나리오의 월 지출 (개념 비교)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36008" y="3948379"/>
            <a:ext cx="822960" cy="395021"/>
          </a:xfrm>
          <a:prstGeom prst="rect">
            <a:avLst/>
          </a:prstGeom>
          <a:solidFill>
            <a:srgbClr val="9FC0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36008" y="3602736"/>
            <a:ext cx="822960" cy="345643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1" name="Shape 9"/>
          <p:cNvSpPr/>
          <p:nvPr/>
        </p:nvSpPr>
        <p:spPr>
          <a:xfrm>
            <a:off x="4636008" y="3355848"/>
            <a:ext cx="822960" cy="246888"/>
          </a:xfrm>
          <a:prstGeom prst="rect">
            <a:avLst/>
          </a:prstGeom>
          <a:solidFill>
            <a:srgbClr val="C9D8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4453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저빈도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가구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60794" y="3810122"/>
            <a:ext cx="822960" cy="533278"/>
          </a:xfrm>
          <a:prstGeom prst="rect">
            <a:avLst/>
          </a:prstGeom>
          <a:solidFill>
            <a:srgbClr val="9FC0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60794" y="3010205"/>
            <a:ext cx="822960" cy="799917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60794" y="2565806"/>
            <a:ext cx="822960" cy="444398"/>
          </a:xfrm>
          <a:prstGeom prst="rect">
            <a:avLst/>
          </a:prstGeom>
          <a:solidFill>
            <a:srgbClr val="C9D8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3634" y="4453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타깃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가구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5581" y="3679765"/>
            <a:ext cx="822960" cy="663635"/>
          </a:xfrm>
          <a:prstGeom prst="rect">
            <a:avLst/>
          </a:prstGeom>
          <a:solidFill>
            <a:srgbClr val="9FC0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5581" y="2542105"/>
            <a:ext cx="822960" cy="1137660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5581" y="1973275"/>
            <a:ext cx="822960" cy="568830"/>
          </a:xfrm>
          <a:prstGeom prst="rect">
            <a:avLst/>
          </a:prstGeom>
          <a:solidFill>
            <a:srgbClr val="C9D8FF"/>
          </a:solidFill>
          <a:ln/>
        </p:spPr>
      </p:sp>
      <p:sp>
        <p:nvSpPr>
          <p:cNvPr id="20" name="Text 18"/>
          <p:cNvSpPr/>
          <p:nvPr/>
        </p:nvSpPr>
        <p:spPr>
          <a:xfrm>
            <a:off x="8548421" y="4453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고빈도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가구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710367" y="2862072"/>
            <a:ext cx="822960" cy="14813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73207" y="4453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에스프레카페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36008" y="5065776"/>
            <a:ext cx="109728" cy="109728"/>
          </a:xfrm>
          <a:prstGeom prst="rect">
            <a:avLst/>
          </a:prstGeom>
          <a:solidFill>
            <a:srgbClr val="9FC0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5029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5065776"/>
            <a:ext cx="109728" cy="109728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5029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카페 커피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5065776"/>
            <a:ext cx="109728" cy="109728"/>
          </a:xfrm>
          <a:prstGeom prst="rect">
            <a:avLst/>
          </a:prstGeom>
          <a:solidFill>
            <a:srgbClr val="C9D8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5029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얼음·캡슐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80960" y="5065776"/>
            <a:ext cx="109728" cy="1097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0" y="5029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렌탈료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36008" y="5413248"/>
            <a:ext cx="6897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금액은 누적 막대. 실제 금액은 시나리오별 계산(생수·카페 커피·얼음/캡슐·렌탈료·원료비·전기료·시간)으로 확정.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타깃 &amp; 인사이트 · 핵심 인사이트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루틴은 의지가 아니라,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준비에서</a:t>
            </a:r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무너진다.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3291840"/>
            <a:ext cx="525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3493008"/>
            <a:ext cx="479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발화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3803904"/>
            <a:ext cx="479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“막상 얼리는 게 귀찮아서 홈카페를 자주 포기해요.”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4663440"/>
            <a:ext cx="479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응답으로 교체 예정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78728" y="3291840"/>
            <a:ext cx="52546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3493008"/>
            <a:ext cx="479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 결과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07328" y="3803904"/>
            <a:ext cx="479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홈카페를 자주 포기하는 이유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1위 얼음 준비 · 2위 세척 · 3위 시간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07328" y="455371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45537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 후 수치 반영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" y="6291072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 숫자를 채우지 않고 조사 예정 위치만 정한다.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2B2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58368" y="4160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27087" y="3977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· 브랜드가 맡을 역할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· 캐릭터 마케팅의 효과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· 펭귄을 선택한 이유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· 펭귄의 재정의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· 펭귄 자산 검증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브랜드 전략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‘기능이 많은 정수기’가 아니라,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준비를 끝내주는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가전으로.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58368" y="246888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Proposition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따로 준비하던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물·얼음·커피를 하나로.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6576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Role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39319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신경 쓰기 전에, 생활의 기본을 준비하는 브랜드.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3063240"/>
            <a:ext cx="1463040" cy="1463040"/>
          </a:xfrm>
          <a:prstGeom prst="ellipse">
            <a:avLst/>
          </a:prstGeom>
          <a:solidFill>
            <a:srgbClr val="0057FF"/>
          </a:solidFill>
          <a:ln/>
          <a:effectLst>
            <a:outerShdw sx="100000" sy="100000" kx="0" ky="0" algn="bl" rotWithShape="0" blurRad="177800" dist="50800" dir="5400000">
              <a:srgbClr val="191919">
                <a:alpha val="2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81928" y="306324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에스프레카페
</a:t>
            </a:r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정수 · 얼음 · 커피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84448" y="2990088"/>
            <a:ext cx="22860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242316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생수 구매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19288" y="2990088"/>
            <a:ext cx="3514039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2423160"/>
            <a:ext cx="3514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정수 · 냉수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84448" y="3557016"/>
            <a:ext cx="22860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84448" y="299008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얼음 준비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19288" y="3557016"/>
            <a:ext cx="3514039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19288" y="2990088"/>
            <a:ext cx="3514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84448" y="4123944"/>
            <a:ext cx="22860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355701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 구매·제조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19288" y="4123944"/>
            <a:ext cx="3514039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19288" y="3557016"/>
            <a:ext cx="3514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 추출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84448" y="4690872"/>
            <a:ext cx="22860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41239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세척·위생 걱정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19288" y="4690872"/>
            <a:ext cx="3514039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19288" y="4123944"/>
            <a:ext cx="3514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세척·관리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84448" y="5257800"/>
            <a:ext cx="22860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469087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제품의 공간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19288" y="5257800"/>
            <a:ext cx="3514039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19288" y="4690872"/>
            <a:ext cx="35140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올인원 구조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왼쪽은 줄어드는 일,  →  오른쪽은 제품이 제공하는 것. 제품을 가운데 두어 연결한다.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브랜드 전략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28"/>
              </a:lnSpc>
              <a:buNone/>
            </a:pPr>
            <a:r>
              <a:rPr lang="en-US" sz="26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캐릭터를 이용한 </a:t>
            </a:r>
            <a:pPr indent="0" marL="0">
              <a:lnSpc>
                <a:spcPts val="3328"/>
              </a:lnSpc>
              <a:buNone/>
            </a:pPr>
            <a:r>
              <a:rPr lang="en-US" sz="26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마케팅</a:t>
            </a:r>
            <a:pPr indent="0" marL="0">
              <a:lnSpc>
                <a:spcPts val="3328"/>
              </a:lnSpc>
              <a:buNone/>
            </a:pPr>
            <a:r>
              <a:rPr lang="en-US" sz="26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효과.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캐릭터가 작동하는 방식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5528" y="2514600"/>
            <a:ext cx="0" cy="393192"/>
          </a:xfrm>
          <a:prstGeom prst="line">
            <a:avLst/>
          </a:prstGeom>
          <a:noFill/>
          <a:ln w="19050">
            <a:solidFill>
              <a:srgbClr val="DEE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240280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" y="22219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69848" y="245973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사람은 얼굴과 캐릭터에 먼저 시선을 준다.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" y="3182112"/>
            <a:ext cx="0" cy="393192"/>
          </a:xfrm>
          <a:prstGeom prst="line">
            <a:avLst/>
          </a:prstGeom>
          <a:noFill/>
          <a:ln w="19050">
            <a:solidFill>
              <a:srgbClr val="DEE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07792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9848" y="28895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69848" y="31272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기능을 하나의 성격과 행동으로 번역한다.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" y="3849624"/>
            <a:ext cx="0" cy="393192"/>
          </a:xfrm>
          <a:prstGeom prst="line">
            <a:avLst/>
          </a:prstGeom>
          <a:noFill/>
          <a:ln w="19050">
            <a:solidFill>
              <a:srgbClr val="DE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575304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69848" y="35570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친숙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69848" y="379476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의인화된 존재는 거래처럼 느껴지는 서비스에 관계감을 더한다.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4242816"/>
            <a:ext cx="274320" cy="274320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69848" y="42245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9848" y="446227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채널이 달라도 같은 캐릭터가 하나의 인상으로 쌓인다.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18888" y="1874520"/>
            <a:ext cx="6714439" cy="1444752"/>
          </a:xfrm>
          <a:prstGeom prst="roundRect">
            <a:avLst>
              <a:gd name="adj" fmla="val 5696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5038344" y="2048256"/>
            <a:ext cx="6275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학술 근거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56632" y="2432304"/>
            <a:ext cx="50292" cy="50292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350008"/>
            <a:ext cx="6083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캐릭터의 독창성·친밀감이 브랜드 인지도를 높이고, 인지도를 거쳐 구매의도로 이어진다.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56632" y="2761488"/>
            <a:ext cx="50292" cy="50292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2679192"/>
            <a:ext cx="6083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 활용은 브랜드 퍼소나와 자기일치를 높여 광고 태도·구매의도를 개선한다.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56632" y="3090672"/>
            <a:ext cx="50292" cy="50292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008376"/>
            <a:ext cx="6083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캐릭터 도입이 인지된 품질·인지도·충성도를 높여 브랜드 자산으로 이어진 사례가 보고된다.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18888" y="3456432"/>
            <a:ext cx="6714439" cy="1444752"/>
          </a:xfrm>
          <a:prstGeom prst="roundRect">
            <a:avLst>
              <a:gd name="adj" fmla="val 5696"/>
            </a:avLst>
          </a:prstGeom>
          <a:solidFill>
            <a:srgbClr val="F5F5F7"/>
          </a:solidFill>
          <a:ln/>
        </p:spPr>
      </p:sp>
      <p:sp>
        <p:nvSpPr>
          <p:cNvPr id="34" name="Text 32"/>
          <p:cNvSpPr/>
          <p:nvPr/>
        </p:nvSpPr>
        <p:spPr>
          <a:xfrm>
            <a:off x="5038344" y="3630168"/>
            <a:ext cx="6275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사례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56632" y="4014216"/>
            <a:ext cx="50292" cy="50292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3931920"/>
            <a:ext cx="6083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캐릭터를 광고 전면에 세워 앱 사용과 주문을 확대한 국내 플랫폼 사례 (수치 출처 확인 예정)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56632" y="4343400"/>
            <a:ext cx="50292" cy="50292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4261104"/>
            <a:ext cx="6083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 자산의 인지도 차이가 그대로 브랜드 파워 차이로 이어진 국내 금융권 비교 사례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56632" y="4672584"/>
            <a:ext cx="50292" cy="50292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4590288"/>
            <a:ext cx="6083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알림·굿즈·팝업까지 하나의 캐릭터로 축적한 브랜드들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" y="5102352"/>
            <a:ext cx="10874959" cy="658368"/>
          </a:xfrm>
          <a:prstGeom prst="roundRect">
            <a:avLst>
              <a:gd name="adj" fmla="val 12500"/>
            </a:avLst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5102352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캐릭터는 장식이 아니라, 흩어진 콘텐츠를 하나의 브랜드 인상으로 묶는 장치다.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8368" y="5870448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재인용된 회상률·수익 수치(88%·73% 등)는 원 출처 확보 전까지 본문에서 제외. 학술 출처는 부록.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브랜드 전략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28"/>
              </a:lnSpc>
              <a:buNone/>
            </a:pPr>
            <a:r>
              <a:rPr lang="en-US" sz="26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그중에서도 </a:t>
            </a:r>
            <a:pPr indent="0" marL="0">
              <a:lnSpc>
                <a:spcPts val="3328"/>
              </a:lnSpc>
              <a:buNone/>
            </a:pPr>
            <a:r>
              <a:rPr lang="en-US" sz="26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</a:t>
            </a:r>
            <a:pPr indent="0" marL="0">
              <a:lnSpc>
                <a:spcPts val="3328"/>
              </a:lnSpc>
              <a:buNone/>
            </a:pPr>
            <a:r>
              <a:rPr lang="en-US" sz="26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선택한 이유.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53003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84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61872" y="1965960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가지고 있는 자산이다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1810512"/>
            <a:ext cx="53003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2464" y="1984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36512" y="1965960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기능과 의미가 맞는다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776472"/>
            <a:ext cx="53003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9502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61872" y="3931920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 기능을 하나의 역할로 번역한다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3776472"/>
            <a:ext cx="53003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2464" y="39502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36512" y="3931920"/>
            <a:ext cx="447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이후에도 계속 쓸 수 있다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" y="2340864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캐릭터를 빌리거나 새로 만드는 것보다, 청호나이스의 얼음정수기 역사와 연결할 수 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7824" y="2834640"/>
            <a:ext cx="486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다만 인지도는 조사 전이므로 “2030이 모두 기억하는 캐릭터”가 아니라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“청호나이스가 보유한 과거 광고 자산 후보”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말한다.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52464" y="2340864"/>
            <a:ext cx="486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펭귄은 설명 없이도 떠올리게 한다.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52464" y="2651760"/>
            <a:ext cx="4663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2464" y="2651760"/>
            <a:ext cx="466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91960" y="2651760"/>
            <a:ext cx="5806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1960" y="2651760"/>
            <a:ext cx="5806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차가움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45756" y="2651760"/>
            <a:ext cx="5806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45756" y="2651760"/>
            <a:ext cx="5806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시원함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99552" y="2651760"/>
            <a:ext cx="5806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9552" y="2651760"/>
            <a:ext cx="5806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깨끗함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52464" y="3035808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 캐릭터를 가져온 것이 아니라, 얼음정수기의 핵심 기능과 자연스럽게 연결되는 캐릭터다.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7824" y="4306824"/>
            <a:ext cx="486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정수·얼음·커피·세척·관리를 기능별로 설명하면 복잡하다. 펭귄의 역할 하나로 압축한다.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7824" y="4745736"/>
            <a:ext cx="4861408" cy="329184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/>
        </p:spPr>
      </p:sp>
      <p:sp>
        <p:nvSpPr>
          <p:cNvPr id="31" name="Text 29"/>
          <p:cNvSpPr/>
          <p:nvPr/>
        </p:nvSpPr>
        <p:spPr>
          <a:xfrm>
            <a:off x="877824" y="4745736"/>
            <a:ext cx="486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말보다 행동이 빠른, 우리 집 준비 매니저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" y="5129784"/>
            <a:ext cx="486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제품과 별개인 장식이 아니라, 에스프레카페의 올인원 기능을 의인화한 존재다.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52464" y="4306824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연예인은 한 캠페인의 주목도를 만들지만, 마스코트는 여러 채널에 축적된다.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52464" y="4654296"/>
            <a:ext cx="8092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2464" y="4654296"/>
            <a:ext cx="8092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광고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34860" y="4654296"/>
            <a:ext cx="9235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34860" y="4654296"/>
            <a:ext cx="923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숏폼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31556" y="4654296"/>
            <a:ext cx="9235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1556" y="4654296"/>
            <a:ext cx="923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계산기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328252" y="4654296"/>
            <a:ext cx="8092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8252" y="4654296"/>
            <a:ext cx="8092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팝업 안내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210648" y="4654296"/>
            <a:ext cx="9235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10648" y="4654296"/>
            <a:ext cx="923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가이드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52464" y="4965192"/>
            <a:ext cx="8092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2464" y="4965192"/>
            <a:ext cx="8092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알림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334860" y="4965192"/>
            <a:ext cx="5806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34860" y="4965192"/>
            <a:ext cx="5806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988656" y="4965192"/>
            <a:ext cx="4663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88656" y="4965192"/>
            <a:ext cx="466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굿즈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58368" y="5742432"/>
            <a:ext cx="10874959" cy="548640"/>
          </a:xfrm>
          <a:prstGeom prst="roundRect">
            <a:avLst>
              <a:gd name="adj" fmla="val 15000"/>
            </a:avLst>
          </a:prstGeom>
          <a:solidFill>
            <a:srgbClr val="EAF1FF"/>
          </a:solidFill>
          <a:ln w="15875">
            <a:solidFill>
              <a:srgbClr val="0057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5742432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펭귄의 핵심 효과는 친근함이 아니라, </a:t>
            </a:r>
            <a:pPr algn="ctr" indent="0" marL="0">
              <a:buNone/>
            </a:pPr>
            <a:r>
              <a:rPr lang="en-US" sz="15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각기 다른 콘텐츠를 하나의 브랜드 인상으로 묶는 것</a:t>
            </a:r>
            <a:pPr algn="ctr"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이다.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브랜드 전략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그때의 펭귄을,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그대로 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복원하지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않는다.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5186020" cy="2926080"/>
          </a:xfrm>
          <a:prstGeom prst="roundRect">
            <a:avLst>
              <a:gd name="adj" fmla="val 2813"/>
            </a:avLst>
          </a:prstGeom>
          <a:solidFill>
            <a:srgbClr val="F5F5F7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4673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4673956" cy="1234440"/>
          </a:xfrm>
          <a:prstGeom prst="roundRect">
            <a:avLst>
              <a:gd name="adj" fmla="val 6667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9264" y="2752344"/>
            <a:ext cx="456422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과거 펭귄 광고 스틸 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32688" y="4178808"/>
            <a:ext cx="50292" cy="50292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0" name="Text 8"/>
          <p:cNvSpPr/>
          <p:nvPr/>
        </p:nvSpPr>
        <p:spPr>
          <a:xfrm>
            <a:off x="1088136" y="4096512"/>
            <a:ext cx="4481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얼음정수기를 알리는 광고 캐릭터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" y="4507992"/>
            <a:ext cx="50292" cy="50292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88136" y="4425696"/>
            <a:ext cx="4481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귀엽고 활발한 표현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" y="4837176"/>
            <a:ext cx="50292" cy="50292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88136" y="4754880"/>
            <a:ext cx="4481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 주방의 이미지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44388" y="3429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47308" y="2194560"/>
            <a:ext cx="5186020" cy="2926080"/>
          </a:xfrm>
          <a:prstGeom prst="roundRect">
            <a:avLst>
              <a:gd name="adj" fmla="val 2813"/>
            </a:avLst>
          </a:prstGeom>
          <a:solidFill>
            <a:srgbClr val="191919"/>
          </a:solidFill>
          <a:ln/>
        </p:spPr>
      </p:sp>
      <p:sp>
        <p:nvSpPr>
          <p:cNvPr id="17" name="Text 15"/>
          <p:cNvSpPr/>
          <p:nvPr/>
        </p:nvSpPr>
        <p:spPr>
          <a:xfrm>
            <a:off x="6603340" y="2377440"/>
            <a:ext cx="4673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03340" y="2697480"/>
            <a:ext cx="4673956" cy="1234440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 w="12700">
            <a:solidFill>
              <a:srgbClr val="303036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58204" y="2752344"/>
            <a:ext cx="456422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6D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현대화 펭귄 시안 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21628" y="4178808"/>
            <a:ext cx="50292" cy="50292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77076" y="4096512"/>
            <a:ext cx="4481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D7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생활의 준비를 먼저 끝내는 루틴 매니저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21628" y="4507992"/>
            <a:ext cx="50292" cy="50292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77076" y="4425696"/>
            <a:ext cx="4481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D7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차분하고 능숙한 행동, 건조하고 짧은 유머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1628" y="4837176"/>
            <a:ext cx="50292" cy="50292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25" name="Text 23"/>
          <p:cNvSpPr/>
          <p:nvPr/>
        </p:nvSpPr>
        <p:spPr>
          <a:xfrm>
            <a:off x="6777076" y="4754880"/>
            <a:ext cx="4481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D7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독립한 2030의 집, 제품과 항상 함께 등장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" y="5340096"/>
            <a:ext cx="10874959" cy="731520"/>
          </a:xfrm>
          <a:prstGeom prst="roundRect">
            <a:avLst>
              <a:gd name="adj" fmla="val 11250"/>
            </a:avLst>
          </a:prstGeom>
          <a:solidFill>
            <a:srgbClr val="EAF1FF"/>
          </a:solidFill>
          <a:ln w="15875">
            <a:solidFill>
              <a:srgbClr val="005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5440680"/>
            <a:ext cx="12191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정의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5650992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말보다 행동이 빠른, 우리 집 준비 매니저.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8368" y="618134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리런칭은 대표 펭귄 한 마리로 시작. 캐릭터군 확장은 마스코트가 정착한 뒤 단계.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브랜드 전략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기억되는가보다 중요한 건,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지금도 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청호나이스답게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작동하는가.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펭귄을 쓰는 근거는 ‘기억’이 아니라 ‘적합’이다. 그래서 조사 결과가 어느 쪽이든 실행은 멈추지 않는다.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2542032"/>
            <a:ext cx="10874959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9050">
            <a:solidFill>
              <a:srgbClr val="005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66090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조사에서 확인할 것 · 1문항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88950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2030은 청호나이스의 과거 펭귄 광고를 기억하는가?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0" y="340156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767328"/>
            <a:ext cx="529117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3950208"/>
            <a:ext cx="1431036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950208"/>
            <a:ext cx="14310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A · 기억한다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77824" y="4297680"/>
            <a:ext cx="485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헤리티지 리바이벌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4636008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광고를 오마주로 전면에 세운다. ‘그 펭귄이 돌아왔다’를 캠페인 진입 후크로 쓴다.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42152" y="3767328"/>
            <a:ext cx="529117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61608" y="3950208"/>
            <a:ext cx="1851660" cy="25603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1608" y="3950208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B · 기억하지 못한다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61608" y="4297680"/>
            <a:ext cx="485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자산 기반 신규 마스코트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1608" y="4636008"/>
            <a:ext cx="485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헤리티지는 브랜드 스토리로만 남기고, 지금의 역할(준비 매니저)로 처음 소개한다.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5321808"/>
            <a:ext cx="10874959" cy="749808"/>
          </a:xfrm>
          <a:prstGeom prst="roundRect">
            <a:avLst>
              <a:gd name="adj" fmla="val 10976"/>
            </a:avLst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4315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 결과는 표현 방식을 정할 뿐,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전략의 방향을 바꾸지 않는다.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13248" y="5541264"/>
            <a:ext cx="5845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3E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경우 모두 그대로 간다 — 펭귄의 역할 정의 · 캠페인 구조(발견 → 관계) · 제품 메시지(준비를 끝내주는 가전)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618134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지표 — 비보조 펭귄 회상률 · 광고 보조 인지 · 청호나이스 연결률 · 얼음정수기 연상 · 현대화 시안 선호 · 노출 전후 제품 관심 · 프리미엄 이미지 훼손 우려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2B2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58368" y="4160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캠페인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27087" y="3977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· 빅 아이디어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· 캠페인 구조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· 온라인 콘텐츠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· 팝업 캠페인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캠페인 전략 · 빅 아이디어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루틴은 내가,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준비는 </a:t>
            </a:r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</a:t>
            </a:r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58368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0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준비까지 열심히 살 필요는 없으니까.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A7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펭귄이 2030의 일상에서 반복되는 준비를 발견하고, 청호나이스의 제품 기능으로 하나씩 줄여주는 캠페인.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5074920"/>
            <a:ext cx="1901952" cy="402336"/>
          </a:xfrm>
          <a:prstGeom prst="roundRect">
            <a:avLst>
              <a:gd name="adj" fmla="val 50000"/>
            </a:avLst>
          </a:prstGeom>
          <a:ln w="15875">
            <a:solidFill>
              <a:srgbClr val="5A5A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507492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7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갓생을 강요하지 않는다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24912" y="5074920"/>
            <a:ext cx="2157984" cy="402336"/>
          </a:xfrm>
          <a:prstGeom prst="roundRect">
            <a:avLst>
              <a:gd name="adj" fmla="val 50000"/>
            </a:avLst>
          </a:prstGeom>
          <a:ln w="15875">
            <a:solidFill>
              <a:srgbClr val="5A5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507492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7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바쁜 삶을 미화하지 않는다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7488" y="5074920"/>
            <a:ext cx="2414016" cy="402336"/>
          </a:xfrm>
          <a:prstGeom prst="roundRect">
            <a:avLst>
              <a:gd name="adj" fmla="val 50000"/>
            </a:avLst>
          </a:prstGeom>
          <a:ln w="15875">
            <a:solidFill>
              <a:srgbClr val="5A5A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50749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7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펭귄이 인생을 해결하지 않는다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26096" y="5074920"/>
            <a:ext cx="3054096" cy="402336"/>
          </a:xfrm>
          <a:prstGeom prst="roundRect">
            <a:avLst>
              <a:gd name="adj" fmla="val 50000"/>
            </a:avLst>
          </a:prstGeom>
          <a:ln w="15875">
            <a:solidFill>
              <a:srgbClr val="5A5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6096" y="5074920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7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물·얼음·커피, 구체적인 준비만 맡는다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캠페인 전략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한 편이 아니라,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발견에서 렌탈까지 이어지는 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2834640"/>
            <a:ext cx="1721053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3017520"/>
            <a:ext cx="17210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3236976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3547872"/>
            <a:ext cx="17210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 마스코트 리런칭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4133088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등장한다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9149" y="2834640"/>
            <a:ext cx="1721053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415997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3" name="Text 11"/>
          <p:cNvSpPr/>
          <p:nvPr/>
        </p:nvSpPr>
        <p:spPr>
          <a:xfrm>
            <a:off x="2489149" y="3017520"/>
            <a:ext cx="17210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89149" y="3236976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89149" y="3547872"/>
            <a:ext cx="17210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노동을 다룬 숏폼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89149" y="4133088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관찰한다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9930" y="2834640"/>
            <a:ext cx="1721053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246778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9" name="Text 17"/>
          <p:cNvSpPr/>
          <p:nvPr/>
        </p:nvSpPr>
        <p:spPr>
          <a:xfrm>
            <a:off x="4319930" y="3017520"/>
            <a:ext cx="17210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19930" y="3236976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19930" y="3547872"/>
            <a:ext cx="17210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기능·비용 진단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19930" y="4133088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설명한다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50712" y="2834640"/>
            <a:ext cx="1721053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077560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25" name="Text 23"/>
          <p:cNvSpPr/>
          <p:nvPr/>
        </p:nvSpPr>
        <p:spPr>
          <a:xfrm>
            <a:off x="6150712" y="3017520"/>
            <a:ext cx="17210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50712" y="3236976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50712" y="3547872"/>
            <a:ext cx="17210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팝업 시음·제품 조작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50712" y="4133088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안내한다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81493" y="2834640"/>
            <a:ext cx="1721053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908341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31" name="Text 29"/>
          <p:cNvSpPr/>
          <p:nvPr/>
        </p:nvSpPr>
        <p:spPr>
          <a:xfrm>
            <a:off x="7981493" y="3017520"/>
            <a:ext cx="17210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81493" y="3236976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81493" y="3547872"/>
            <a:ext cx="17210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상담·견적·리타게팅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81493" y="4133088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권한다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812274" y="2834640"/>
            <a:ext cx="1721053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36" name="Shape 34"/>
          <p:cNvSpPr/>
          <p:nvPr/>
        </p:nvSpPr>
        <p:spPr>
          <a:xfrm>
            <a:off x="9739122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37" name="Text 35"/>
          <p:cNvSpPr/>
          <p:nvPr/>
        </p:nvSpPr>
        <p:spPr>
          <a:xfrm>
            <a:off x="9812274" y="3017520"/>
            <a:ext cx="17210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812274" y="3236976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812274" y="3547872"/>
            <a:ext cx="17210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알림·개인화 루틴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812274" y="4133088"/>
            <a:ext cx="172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산다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" y="4754880"/>
            <a:ext cx="10874959" cy="1051560"/>
          </a:xfrm>
          <a:prstGeom prst="roundRect">
            <a:avLst>
              <a:gd name="adj" fmla="val 7826"/>
            </a:avLst>
          </a:prstGeom>
          <a:solidFill>
            <a:srgbClr val="F5F5F7"/>
          </a:solidFill>
          <a:ln/>
        </p:spPr>
      </p:sp>
      <p:sp>
        <p:nvSpPr>
          <p:cNvPr id="42" name="Text 40"/>
          <p:cNvSpPr/>
          <p:nvPr/>
        </p:nvSpPr>
        <p:spPr>
          <a:xfrm>
            <a:off x="886968" y="4919472"/>
            <a:ext cx="10417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단계에서 펭귄이 맡는 역할이 달라진다. 관계 단계의 씨앗은 이미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휘카페 멤버십 라운지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있다. MY NICE ROUTINE 앱은 이 단계에서만 짧게 언급하고 상세는 부록으로.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캠페인 전략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콘텐츠마다 말은 달라도,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줄여주는 준비는 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하나씩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3411626" cy="2468880"/>
          </a:xfrm>
          <a:prstGeom prst="roundRect">
            <a:avLst>
              <a:gd name="adj" fmla="val 3333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386584"/>
            <a:ext cx="330189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인스타그램 릴스 목업 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4928616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시리즈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5129784"/>
            <a:ext cx="34116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펭귄이 미리 준비했습니다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5367528"/>
            <a:ext cx="3411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출근·재택·운동 후·주말 홈카페 상황의 10~15초 숏폼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90034" y="2331720"/>
            <a:ext cx="3411626" cy="2468880"/>
          </a:xfrm>
          <a:prstGeom prst="roundRect">
            <a:avLst>
              <a:gd name="adj" fmla="val 3333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44898" y="2386584"/>
            <a:ext cx="330189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댓글 상담 콘텐츠 목업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90034" y="4928616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시리즈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90034" y="5129784"/>
            <a:ext cx="34116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펭귄의 냉정한 루틴 상담소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90034" y="5367528"/>
            <a:ext cx="3411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사연과 댓글에 건조하게 답한다. “아직 절반만 홈카페입니다.”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21701" y="2331720"/>
            <a:ext cx="3411626" cy="2468880"/>
          </a:xfrm>
          <a:prstGeom prst="roundRect">
            <a:avLst>
              <a:gd name="adj" fmla="val 3333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03200" dist="63500" dir="5400000">
              <a:srgbClr val="191919">
                <a:alpha val="2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76565" y="2386584"/>
            <a:ext cx="330189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계산기 랜딩페이지 목업 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21701" y="4928616"/>
            <a:ext cx="34116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시리즈 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21701" y="5129784"/>
            <a:ext cx="34116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준비 노동 계산기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1701" y="5367528"/>
            <a:ext cx="3411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생수·커피·얼음 구매 횟수와 시간을 넣으면 월간 준비 행동을 보여주고 상담으로 연결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캠페인 전략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2412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팝업은 캐릭터 전시가 아니라,</a:t>
            </a:r>
            <a:endParaRPr lang="en-US" sz="23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제품을 이해시키는 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실험실</a:t>
            </a:r>
            <a:pPr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이다.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2567864" cy="1280160"/>
          </a:xfrm>
          <a:prstGeom prst="roundRect">
            <a:avLst>
              <a:gd name="adj" fmla="val 6429"/>
            </a:avLst>
          </a:prstGeom>
          <a:solidFill>
            <a:srgbClr val="F5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2532888"/>
            <a:ext cx="310896" cy="310896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218688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물·얼음·커피에 쓰는 비용과 행동 수 확인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7400" y="2377440"/>
            <a:ext cx="2567864" cy="1280160"/>
          </a:xfrm>
          <a:prstGeom prst="roundRect">
            <a:avLst>
              <a:gd name="adj" fmla="val 6429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3564560" y="2532888"/>
            <a:ext cx="310896" cy="310896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6456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0280" y="2907792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0280" y="3218688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정수·얼음·커피를 직접 조작하고 시음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6432" y="2377440"/>
            <a:ext cx="2567864" cy="1280160"/>
          </a:xfrm>
          <a:prstGeom prst="roundRect">
            <a:avLst>
              <a:gd name="adj" fmla="val 6429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33592" y="2532888"/>
            <a:ext cx="310896" cy="310896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33592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79312" y="2907792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9312" y="3218688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생활 방식과 렌탈 시나리오 비교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65463" y="2377440"/>
            <a:ext cx="2567864" cy="1280160"/>
          </a:xfrm>
          <a:prstGeom prst="roundRect">
            <a:avLst>
              <a:gd name="adj" fmla="val 6429"/>
            </a:avLst>
          </a:prstGeom>
          <a:solidFill>
            <a:srgbClr val="005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102623" y="253288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02623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8343" y="2907792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8343" y="3218688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가능 여부와 맞춤 견적 확인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3977640"/>
            <a:ext cx="5277460" cy="13716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" y="4160520"/>
            <a:ext cx="4820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가칭 · 우리 집 루틴 매니저 연구소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" y="4434840"/>
            <a:ext cx="4820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 포토존과 굿즈는 동선 끝에 둔다. 캐릭터를 보러 와서 제품을 써보고 나가게 만드는 구조다.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55868" y="3977640"/>
            <a:ext cx="52774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4468" y="4160520"/>
            <a:ext cx="4820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84468" y="4453128"/>
            <a:ext cx="24101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진단 완료율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94597" y="4453128"/>
            <a:ext cx="24101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제품 조작률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84468" y="4745736"/>
            <a:ext cx="24101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시음 완료율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94597" y="4745736"/>
            <a:ext cx="24101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상담 QR 클릭률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84468" y="5038344"/>
            <a:ext cx="24101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설치 상담률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94597" y="5038344"/>
            <a:ext cx="24101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체험 전후 이해도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" y="6291072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2025 팝업 3,077개, 성수 35.38% 집중, 8~14일 운영이 최고 효율.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2B2B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58368" y="41605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&amp; 효과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27087" y="3977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· 결과 검증</a:t>
            </a:r>
            <a:endParaRPr lang="en-US" sz="1200" dirty="0"/>
          </a:p>
          <a:p>
            <a:pPr algn="r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· 기대효과와 마무리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검증 &amp; 효과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58368" y="1042416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조회수보다,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청호나이스가 떠오르고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제품이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궁금해졌는지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본다.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3017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가설을 여섯 개 나열하지 않는다. 브랜드 연결에서 관계까지 하나의 퍼널로 본다.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조사, 광고 노출자·비노출자 비교, 캠페인 후 조사를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항목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설계한다.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64608" y="2103120"/>
            <a:ext cx="6668719" cy="914400"/>
          </a:xfrm>
          <a:prstGeom prst="roundRect">
            <a:avLst>
              <a:gd name="adj" fmla="val 9000"/>
            </a:avLst>
          </a:prstGeom>
          <a:solidFill>
            <a:srgbClr val="9FC0FF"/>
          </a:solidFill>
          <a:ln/>
        </p:spPr>
      </p:sp>
      <p:sp>
        <p:nvSpPr>
          <p:cNvPr id="8" name="Text 6"/>
          <p:cNvSpPr/>
          <p:nvPr/>
        </p:nvSpPr>
        <p:spPr>
          <a:xfrm>
            <a:off x="5047488" y="2240280"/>
            <a:ext cx="6302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연결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47488" y="2542032"/>
            <a:ext cx="6302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9191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펭귄을 보고 청호나이스를 떠올리는가 · 2030에게 적합하다 느끼는가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31418" y="3108960"/>
            <a:ext cx="5735099" cy="914400"/>
          </a:xfrm>
          <a:prstGeom prst="roundRect">
            <a:avLst>
              <a:gd name="adj" fmla="val 9000"/>
            </a:avLst>
          </a:prstGeom>
          <a:solidFill>
            <a:srgbClr val="5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5514298" y="3246120"/>
            <a:ext cx="5369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이해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14298" y="3547872"/>
            <a:ext cx="53693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정수·얼음·커피 통합을 이해하는가 · ‘준비 감소’ 편익을 기억하는가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98229" y="4114800"/>
            <a:ext cx="4801478" cy="914400"/>
          </a:xfrm>
          <a:prstGeom prst="roundRect">
            <a:avLst>
              <a:gd name="adj" fmla="val 9000"/>
            </a:avLst>
          </a:prstGeom>
          <a:solidFill>
            <a:srgbClr val="2F6B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81109" y="4251960"/>
            <a:ext cx="44357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 변화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1109" y="4553712"/>
            <a:ext cx="44357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검색 · 비용 진단 · 팝업 체험 · 상담 신청 · 렌탈 고려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5039" y="5120640"/>
            <a:ext cx="3867857" cy="914400"/>
          </a:xfrm>
          <a:prstGeom prst="roundRect">
            <a:avLst>
              <a:gd name="adj" fmla="val 9000"/>
            </a:avLst>
          </a:prstGeom>
          <a:solidFill>
            <a:srgbClr val="0057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7919" y="5257800"/>
            <a:ext cx="35020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변화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7919" y="5559552"/>
            <a:ext cx="35020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앱·CRM 반응 · 동일 브랜드 재선택 의향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" y="64922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161727" y="6492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76656"/>
            <a:ext cx="256032" cy="27432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검증 &amp; 효과 · 기대효과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2513000" cy="1920240"/>
          </a:xfrm>
          <a:prstGeom prst="roundRect">
            <a:avLst>
              <a:gd name="adj" fmla="val 3810"/>
            </a:avLst>
          </a:prstGeom>
          <a:solidFill>
            <a:srgbClr val="2A2A2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183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6A7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중심 정수기 브랜드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218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183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생활을 이해하는 브랜드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5688" y="1554480"/>
            <a:ext cx="2513000" cy="1920240"/>
          </a:xfrm>
          <a:prstGeom prst="roundRect">
            <a:avLst>
              <a:gd name="adj" fmla="val 3810"/>
            </a:avLst>
          </a:prstGeom>
          <a:solidFill>
            <a:srgbClr val="2A2A2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0280" y="1719072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0280" y="2011680"/>
            <a:ext cx="2183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6A7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기능이 많은 복합 제품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0280" y="2487168"/>
            <a:ext cx="218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0280" y="2743200"/>
            <a:ext cx="2183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준비를 줄이는 생활 기반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554480"/>
            <a:ext cx="2513000" cy="1920240"/>
          </a:xfrm>
          <a:prstGeom prst="roundRect">
            <a:avLst>
              <a:gd name="adj" fmla="val 3810"/>
            </a:avLst>
          </a:prstGeom>
          <a:solidFill>
            <a:srgbClr val="2A2A2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7600" y="1719072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커뮤니케이션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97600" y="2011680"/>
            <a:ext cx="2183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6A7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그때마다 달라지는 콘텐츠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97600" y="2487168"/>
            <a:ext cx="218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7600" y="2743200"/>
            <a:ext cx="2183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펭귄으로 축적되는 브랜드 언어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20327" y="1554480"/>
            <a:ext cx="2513000" cy="1920240"/>
          </a:xfrm>
          <a:prstGeom prst="roundRect">
            <a:avLst>
              <a:gd name="adj" fmla="val 3810"/>
            </a:avLst>
          </a:prstGeom>
          <a:solidFill>
            <a:srgbClr val="2A2A2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4919" y="1719072"/>
            <a:ext cx="218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84919" y="2011680"/>
            <a:ext cx="2183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6A7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노출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84919" y="2487168"/>
            <a:ext cx="2183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4919" y="2743200"/>
            <a:ext cx="2183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체험·상담·렌탈 고려로 이어지는 흐름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7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부모님 집의 정수기에서, 나의 첫 생활가전으로.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" y="4389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2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루틴은 내가, 준비는 </a:t>
            </a:r>
            <a:pPr indent="0" marL="0">
              <a:lnSpc>
                <a:spcPts val="5120"/>
              </a:lnSpc>
              <a:buNone/>
            </a:pPr>
            <a:r>
              <a:rPr lang="en-US" sz="4000" b="1" dirty="0">
                <a:solidFill>
                  <a:srgbClr val="299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청호</a:t>
            </a:r>
            <a:pPr indent="0" marL="0">
              <a:lnSpc>
                <a:spcPts val="512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가.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58368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오준상 · 이민욱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9012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B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2026-07-25T16:44:12Z</dcterms:created>
  <dcterms:modified xsi:type="dcterms:W3CDTF">2026-07-25T16:44:12Z</dcterms:modified>
</cp:coreProperties>
</file>