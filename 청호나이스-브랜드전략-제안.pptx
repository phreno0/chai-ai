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embedTrueType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embeddedFontLst>
    <p:embeddedFont>
      <p:font typeface="Pretendard"/>
      <p:regular r:id="rId35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61327" y="6583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· 브랜드 커뮤니케이션 전략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0" y="14173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178308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600" dirty="0"/>
          </a:p>
          <a:p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algn="ctr"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600" dirty="0"/>
          </a:p>
        </p:txBody>
      </p:sp>
      <p:pic>
        <p:nvPicPr>
          <p:cNvPr id="6" name="Image 0" descr="/home/user/CHAI-AI/assets/img/espre-produ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52648" y="3429000"/>
            <a:ext cx="5486400" cy="21488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658368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961327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Communication Strategy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젊은 고객의 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첫번째 정수기</a:t>
            </a:r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</a:t>
            </a:r>
            <a:endParaRPr lang="en-US" sz="27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되기 위해.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938528" y="2011680"/>
            <a:ext cx="83146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에스프레카페는 공식적으로 36개월과 60개월 의무사용기간을 운영하는 중이다.
</a:t>
            </a:r>
            <a:pPr algn="ctr"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구매 빈도가 낮고 사용 기간이 긴 제품</a:t>
            </a:r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이므로, 2030의 첫 렌탈 시점에 후보군으로 진입하는 것 자체가 중요하다.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과제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474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신제품과 브랜드를 2030에게 효과적으로 알리는 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788920"/>
            <a:ext cx="5254600" cy="1325880"/>
          </a:xfrm>
          <a:prstGeom prst="roundRect">
            <a:avLst>
              <a:gd name="adj" fmla="val 6207"/>
            </a:avLst>
          </a:prstGeom>
          <a:solidFill>
            <a:srgbClr val="EAF1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4760" y="2990088"/>
            <a:ext cx="479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재해석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34760" y="3337560"/>
            <a:ext cx="47425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청호나이스를 부모님 집에서 보던 정수기에서, 내가 처음 고려하는 생활가전으로 전환하는 것.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4663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 브랜드 커뮤니케이션 단계별 전략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5680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5680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4400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020160" y="5047488"/>
            <a:ext cx="148132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20160" y="50474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관련성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0148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67248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7248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5968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421728" y="5047488"/>
            <a:ext cx="74980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21728" y="5047488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71536" y="50474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37296" y="5047488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0057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37296" y="50474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 고려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 수립 과정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‘지피지기 백전불태 (知彼知己 百戰不殆)’</a:t>
            </a:r>
            <a:endParaRPr lang="en-US" sz="24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상황 진단 및 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 전략</a:t>
            </a:r>
            <a:pPr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제시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· 현재 브랜드 상황 진단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5097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8" name="Text 6"/>
          <p:cNvSpPr/>
          <p:nvPr/>
        </p:nvSpPr>
        <p:spPr>
          <a:xfrm>
            <a:off x="1106424" y="299008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정수기 브랜드의 카피와 동향 분석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50976" y="349300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0" name="Text 8"/>
          <p:cNvSpPr/>
          <p:nvPr/>
        </p:nvSpPr>
        <p:spPr>
          <a:xfrm>
            <a:off x="1106424" y="341071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커뮤니케이션의 현 주소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0976" y="391363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06424" y="3831336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청호나이스의 기존 자산 분석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24448" y="2331720"/>
            <a:ext cx="520888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98768" y="2569464"/>
            <a:ext cx="466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· 커뮤니케이션 전략 제시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17056" y="307238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6" name="Text 14"/>
          <p:cNvSpPr/>
          <p:nvPr/>
        </p:nvSpPr>
        <p:spPr>
          <a:xfrm>
            <a:off x="6772504" y="2990088"/>
            <a:ext cx="44682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설정과 포지셔닝 제안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독립생활 중인 2030에게 청호 얼음정수기와 함께하는 차별적인 홈카페 경험 제공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17056" y="3803904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72504" y="3721608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커뮤니케이션 : 청호나이스의 펭귄 마스코트 캐릭터 전략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17056" y="4224528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0" name="Text 18"/>
          <p:cNvSpPr/>
          <p:nvPr/>
        </p:nvSpPr>
        <p:spPr>
          <a:xfrm>
            <a:off x="6772504" y="4142232"/>
            <a:ext cx="4468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오프라인 커뮤니케이션 캠페인 : 캐릭터 + 팝업스토어 아이디어 제안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5029200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029200"/>
            <a:ext cx="1032631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: 경쟁사의 전략과 청호나이스만의 자산을 살펴본 뒤, 2030에게 차별점을 어필할 수 있는 커뮤니케이션 전략을 수립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진단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카테고리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청호나이스의 현재 커뮤니케이션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청호나이스만의 자산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브랜드마다 광고를 다르게 하지만,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소비자의 기억에는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남는다.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얼음정수기, 슬림한 크기와 풍부한 제빙, IoT 맞춤 기능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51376" y="242316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51376" y="275234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284378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크고 단단한 얼음, 쉽게 녹지 않는 빙질과 위생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100도 물맛과 드립커피 기능, 끓인 물 위생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51376" y="3497580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51376" y="3826764"/>
            <a:ext cx="3273552" cy="617220"/>
          </a:xfrm>
          <a:prstGeom prst="roundRect">
            <a:avLst>
              <a:gd name="adj" fmla="val 13333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4334256" y="3918204"/>
            <a:ext cx="2907792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음성제어, 맞춤 출수, 전 구간 고온 살균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36408" y="2423160"/>
            <a:ext cx="369691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반복되는 공통 언어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836408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36408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용량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3104" y="2752344"/>
            <a:ext cx="126187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33104" y="2752344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 속도·빙질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186416" y="2752344"/>
            <a:ext cx="90525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86416" y="2752344"/>
            <a:ext cx="905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살균·위생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836408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슬림한 크기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951976" y="3136392"/>
            <a:ext cx="102412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51976" y="3136392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컬러·디자인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067544" y="3136392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67544" y="31363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앱·AI 기능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36408" y="3666744"/>
            <a:ext cx="3696919" cy="996696"/>
          </a:xfrm>
          <a:prstGeom prst="roundRect">
            <a:avLst>
              <a:gd name="adj" fmla="val 8257"/>
            </a:avLst>
          </a:prstGeom>
          <a:solidFill>
            <a:srgbClr val="F5F5F7"/>
          </a:solidFill>
          <a:ln/>
        </p:spPr>
      </p:sp>
      <p:sp>
        <p:nvSpPr>
          <p:cNvPr id="31" name="Text 29"/>
          <p:cNvSpPr/>
          <p:nvPr/>
        </p:nvSpPr>
        <p:spPr>
          <a:xfrm>
            <a:off x="8037576" y="3831336"/>
            <a:ext cx="329458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치열한 경쟁 속에서도 브랜드들의 카피는 여전히 기능에 치중되어 있다. 청호나이스의 카피 역시 비슷해서, 소비자 입장에서는 뾰족한 차별점을 느끼기 어렵다.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각 사 2025 공식 캠페인·제품 페이지 종합. 브랜드명은 비교 목적상 익명 처리.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청호나이스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방향</a:t>
            </a:r>
            <a:endParaRPr lang="en-US" sz="2600" dirty="0"/>
          </a:p>
        </p:txBody>
      </p:sp>
      <p:pic>
        <p:nvPicPr>
          <p:cNvPr id="5" name="Image 0" descr="/home/user/CHAI-AI/assets/img/ad-coolcoo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‘시원시원’편 광고 30s</a:t>
            </a:r>
            <a:endParaRPr lang="en-US" sz="850" dirty="0"/>
          </a:p>
        </p:txBody>
      </p:sp>
      <p:pic>
        <p:nvPicPr>
          <p:cNvPr id="7" name="Image 1" descr="/home/user/CHAI-AI/assets/img/ad-lovelytre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4794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4374794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청호나이스┃뉴 러블리트리 ‘러블리한 일상의 시작(캐릭터 ver.)’편 CF</a:t>
            </a:r>
            <a:endParaRPr lang="en-US" sz="850" dirty="0"/>
          </a:p>
        </p:txBody>
      </p:sp>
      <p:pic>
        <p:nvPicPr>
          <p:cNvPr id="9" name="Image 2" descr="/home/user/CHAI-AI/assets/img/ad-seongeutda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1221" y="1920240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8091221" y="3947865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얼음정수기 ‘선긋다’편 광고 30s</a:t>
            </a:r>
            <a:endParaRPr lang="en-US" sz="850" dirty="0"/>
          </a:p>
        </p:txBody>
      </p:sp>
      <p:pic>
        <p:nvPicPr>
          <p:cNvPr id="11" name="Image 3" descr="/home/user/CHAI-AI/assets/img/ad-blackeditio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658368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청호나이스┃‘에스프레카페 블랙 에디션’ AI 활용 콘텐츠</a:t>
            </a:r>
            <a:endParaRPr lang="en-US" sz="850" dirty="0"/>
          </a:p>
        </p:txBody>
      </p:sp>
      <p:pic>
        <p:nvPicPr>
          <p:cNvPr id="13" name="Image 4" descr="/home/user/CHAI-AI/assets/img/ad-yeouido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374794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4374794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청호나이스┃The M 여의도 상륙 작전 (숏폼)</a:t>
            </a:r>
            <a:endParaRPr lang="en-US" sz="850" dirty="0"/>
          </a:p>
        </p:txBody>
      </p:sp>
      <p:pic>
        <p:nvPicPr>
          <p:cNvPr id="15" name="Image 5" descr="/home/user/CHAI-AI/assets/img/ad-summer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91221" y="4478217"/>
            <a:ext cx="3442106" cy="193618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6" name="Text 8"/>
          <p:cNvSpPr/>
          <p:nvPr/>
        </p:nvSpPr>
        <p:spPr>
          <a:xfrm>
            <a:off x="8091221" y="6505842"/>
            <a:ext cx="34421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찾았다 무더운 여름 시원하게 보내는 방법 (숏폼)</a:t>
            </a:r>
            <a:endParaRPr lang="en-US" sz="850" dirty="0"/>
          </a:p>
        </p:txBody>
      </p:sp>
      <p:sp>
        <p:nvSpPr>
          <p:cNvPr id="17" name="Text 9"/>
          <p:cNvSpPr/>
          <p:nvPr/>
        </p:nvSpPr>
        <p:spPr>
          <a:xfrm>
            <a:off x="658368" y="6053328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청호나이스 공식 유튜브</a:t>
            </a:r>
            <a:endParaRPr lang="en-US" sz="800" dirty="0"/>
          </a:p>
        </p:txBody>
      </p:sp>
      <p:sp>
        <p:nvSpPr>
          <p:cNvPr id="18" name="Text 1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9" name="Text 1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I-AI/assets/img/ad-coolcool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658368" y="1600200"/>
            <a:ext cx="3442106" cy="1936185"/>
          </a:xfrm>
          <a:prstGeom prst="rect">
            <a:avLst/>
          </a:prstGeom>
        </p:spPr>
      </p:pic>
      <p:pic>
        <p:nvPicPr>
          <p:cNvPr id="3" name="Image 1" descr="/home/user/CHAI-AI/assets/img/ad-lovelytree.jpg">    </p:cNvPr>
          <p:cNvPicPr>
            <a:picLocks noChangeAspect="1"/>
          </p:cNvPicPr>
          <p:nvPr/>
        </p:nvPicPr>
        <p:blipFill>
          <a:blip r:embed="rId2">
            <a:alphaModFix amt="28000"/>
          </a:blip>
          <a:srcRect l="0" r="0" t="0" b="0"/>
          <a:stretch/>
        </p:blipFill>
        <p:spPr>
          <a:xfrm>
            <a:off x="4374794" y="1600200"/>
            <a:ext cx="3442106" cy="1936185"/>
          </a:xfrm>
          <a:prstGeom prst="rect">
            <a:avLst/>
          </a:prstGeom>
        </p:spPr>
      </p:pic>
      <p:pic>
        <p:nvPicPr>
          <p:cNvPr id="4" name="Image 2" descr="/home/user/CHAI-AI/assets/img/ad-seongeutda.jpg">    </p:cNvPr>
          <p:cNvPicPr>
            <a:picLocks noChangeAspect="1"/>
          </p:cNvPicPr>
          <p:nvPr/>
        </p:nvPicPr>
        <p:blipFill>
          <a:blip r:embed="rId3">
            <a:alphaModFix amt="28000"/>
          </a:blip>
          <a:srcRect l="0" r="0" t="0" b="0"/>
          <a:stretch/>
        </p:blipFill>
        <p:spPr>
          <a:xfrm>
            <a:off x="8091221" y="1600200"/>
            <a:ext cx="3442106" cy="1936185"/>
          </a:xfrm>
          <a:prstGeom prst="rect">
            <a:avLst/>
          </a:prstGeom>
        </p:spPr>
      </p:pic>
      <p:pic>
        <p:nvPicPr>
          <p:cNvPr id="5" name="Image 3" descr="/home/user/CHAI-AI/assets/img/ad-blackedition.jpg">    </p:cNvPr>
          <p:cNvPicPr>
            <a:picLocks noChangeAspect="1"/>
          </p:cNvPicPr>
          <p:nvPr/>
        </p:nvPicPr>
        <p:blipFill>
          <a:blip r:embed="rId4">
            <a:alphaModFix amt="28000"/>
          </a:blip>
          <a:srcRect l="0" r="0" t="0" b="0"/>
          <a:stretch/>
        </p:blipFill>
        <p:spPr>
          <a:xfrm>
            <a:off x="658368" y="3856425"/>
            <a:ext cx="3442106" cy="1936185"/>
          </a:xfrm>
          <a:prstGeom prst="rect">
            <a:avLst/>
          </a:prstGeom>
        </p:spPr>
      </p:pic>
      <p:pic>
        <p:nvPicPr>
          <p:cNvPr id="6" name="Image 4" descr="/home/user/CHAI-AI/assets/img/ad-yeouido.jpg">    </p:cNvPr>
          <p:cNvPicPr>
            <a:picLocks noChangeAspect="1"/>
          </p:cNvPicPr>
          <p:nvPr/>
        </p:nvPicPr>
        <p:blipFill>
          <a:blip r:embed="rId5">
            <a:alphaModFix amt="28000"/>
          </a:blip>
          <a:srcRect l="0" r="0" t="0" b="0"/>
          <a:stretch/>
        </p:blipFill>
        <p:spPr>
          <a:xfrm>
            <a:off x="4374794" y="3856425"/>
            <a:ext cx="3442106" cy="1936185"/>
          </a:xfrm>
          <a:prstGeom prst="rect">
            <a:avLst/>
          </a:prstGeom>
        </p:spPr>
      </p:pic>
      <p:pic>
        <p:nvPicPr>
          <p:cNvPr id="7" name="Image 5" descr="/home/user/CHAI-AI/assets/img/ad-summer.jpg">    </p:cNvPr>
          <p:cNvPicPr>
            <a:picLocks noChangeAspect="1"/>
          </p:cNvPicPr>
          <p:nvPr/>
        </p:nvPicPr>
        <p:blipFill>
          <a:blip r:embed="rId6">
            <a:alphaModFix amt="28000"/>
          </a:blip>
          <a:srcRect l="0" r="0" t="0" b="0"/>
          <a:stretch/>
        </p:blipFill>
        <p:spPr>
          <a:xfrm>
            <a:off x="8091221" y="3856425"/>
            <a:ext cx="3442106" cy="1936185"/>
          </a:xfrm>
          <a:prstGeom prst="rect">
            <a:avLst/>
          </a:prstGeom>
        </p:spPr>
      </p:pic>
      <p:sp>
        <p:nvSpPr>
          <p:cNvPr id="8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>
              <a:alpha val="78000"/>
            </a:srgbClr>
          </a:solidFill>
          <a:ln/>
        </p:spPr>
      </p:sp>
      <p:sp>
        <p:nvSpPr>
          <p:cNvPr id="9" name="Text 1"/>
          <p:cNvSpPr/>
          <p:nvPr/>
        </p:nvSpPr>
        <p:spPr>
          <a:xfrm>
            <a:off x="0" y="2468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Insight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0" y="283464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2030이 제품을 선택할 이유가,</a:t>
            </a:r>
            <a:endParaRPr lang="en-US" sz="30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브랜드 인상</a:t>
            </a:r>
            <a:pPr algn="ctr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남지 않는다.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브랜드 진단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자산을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</a:t>
            </a:r>
            <a:endParaRPr lang="en-US" sz="2600" dirty="0"/>
          </a:p>
        </p:txBody>
      </p:sp>
      <p:pic>
        <p:nvPicPr>
          <p:cNvPr id="5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펭귄 광고 캐릭터</a:t>
            </a:r>
            <a:endParaRPr lang="en-US" sz="850" dirty="0"/>
          </a:p>
        </p:txBody>
      </p:sp>
      <p:pic>
        <p:nvPicPr>
          <p:cNvPr id="7" name="Image 1" descr="/home/user/CHAI-AI/assets/img/asset-min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77251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Text 4"/>
          <p:cNvSpPr/>
          <p:nvPr/>
        </p:nvSpPr>
        <p:spPr>
          <a:xfrm>
            <a:off x="2877251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얼음정수기의 기술과 역사</a:t>
            </a:r>
            <a:endParaRPr lang="en-US" sz="850" dirty="0"/>
          </a:p>
        </p:txBody>
      </p:sp>
      <p:pic>
        <p:nvPicPr>
          <p:cNvPr id="9" name="Image 2" descr="/home/user/CHAI-AI/assets/img/asset-espre-new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096134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0" name="Text 5"/>
          <p:cNvSpPr/>
          <p:nvPr/>
        </p:nvSpPr>
        <p:spPr>
          <a:xfrm>
            <a:off x="5096134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최초 커피 얼음정수기</a:t>
            </a:r>
            <a:endParaRPr lang="en-US" sz="850" dirty="0"/>
          </a:p>
        </p:txBody>
      </p:sp>
      <p:pic>
        <p:nvPicPr>
          <p:cNvPr id="11" name="Image 3" descr="/home/user/CHAI-AI/assets/img/asset-whicafe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15017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2" name="Text 6"/>
          <p:cNvSpPr/>
          <p:nvPr/>
        </p:nvSpPr>
        <p:spPr>
          <a:xfrm>
            <a:off x="7315017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콘텐츠·휘카페 멤버십</a:t>
            </a:r>
            <a:endParaRPr lang="en-US" sz="850" dirty="0"/>
          </a:p>
        </p:txBody>
      </p:sp>
      <p:pic>
        <p:nvPicPr>
          <p:cNvPr id="13" name="Image 4" descr="/home/user/CHAI-AI/assets/img/peng-now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533900" y="2011680"/>
            <a:ext cx="1999427" cy="149957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4" name="Text 7"/>
          <p:cNvSpPr/>
          <p:nvPr/>
        </p:nvSpPr>
        <p:spPr>
          <a:xfrm>
            <a:off x="9533900" y="3602690"/>
            <a:ext cx="19994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새로운 마스코트 캐릭터</a:t>
            </a:r>
            <a:endParaRPr lang="en-US" sz="850" dirty="0"/>
          </a:p>
        </p:txBody>
      </p:sp>
      <p:sp>
        <p:nvSpPr>
          <p:cNvPr id="15" name="Shape 8"/>
          <p:cNvSpPr/>
          <p:nvPr/>
        </p:nvSpPr>
        <p:spPr>
          <a:xfrm>
            <a:off x="658368" y="4352498"/>
            <a:ext cx="10874959" cy="0"/>
          </a:xfrm>
          <a:prstGeom prst="line">
            <a:avLst/>
          </a:prstGeom>
          <a:noFill/>
          <a:ln w="19050">
            <a:solidFill>
              <a:srgbClr val="E8E8E8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658368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1603218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877251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3822101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5096134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얼음정수기</a:t>
            </a:r>
            <a:endParaRPr lang="en-US" sz="1050" dirty="0"/>
          </a:p>
        </p:txBody>
      </p:sp>
      <p:sp>
        <p:nvSpPr>
          <p:cNvPr id="21" name="Shape 14"/>
          <p:cNvSpPr/>
          <p:nvPr/>
        </p:nvSpPr>
        <p:spPr>
          <a:xfrm>
            <a:off x="6040984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7315017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8259867" y="4297634"/>
            <a:ext cx="109728" cy="109728"/>
          </a:xfrm>
          <a:prstGeom prst="ellipse">
            <a:avLst/>
          </a:prstGeom>
          <a:solidFill>
            <a:srgbClr val="0057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9533900" y="4078178"/>
            <a:ext cx="19994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10478750" y="4297634"/>
            <a:ext cx="109728" cy="109728"/>
          </a:xfrm>
          <a:prstGeom prst="ellipse">
            <a:avLst/>
          </a:prstGeom>
          <a:solidFill>
            <a:srgbClr val="1E9BE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58368" y="594360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‘세계 최초’·판매량 표현은 최종 제출 전 공식 자료로 재확인.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7327087" y="594360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새로 만들 것이 아니라, 이미 있는 것을 다시 묶는다.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 &amp; 인사이트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핵심 타깃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생활 시나리오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현실적인 경제성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핵심 인사이트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타깃은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소비가 큰 독립 ‘2030’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생활자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타깃은 2030 중에서도 반복적인 소비가 큰 독립 1~2인 가구다.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978408" y="2926080"/>
            <a:ext cx="0" cy="274320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5669280"/>
            <a:ext cx="2743200" cy="0"/>
          </a:xfrm>
          <a:prstGeom prst="line">
            <a:avLst/>
          </a:prstGeom>
          <a:noFill/>
          <a:ln w="19050">
            <a:solidFill>
              <a:srgbClr val="19191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11247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의향은 높지만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 빈도 낮음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23160" y="29992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0057FF"/>
          </a:solidFill>
          <a:ln/>
        </p:spPr>
      </p:sp>
      <p:sp>
        <p:nvSpPr>
          <p:cNvPr id="11" name="Text 9"/>
          <p:cNvSpPr/>
          <p:nvPr/>
        </p:nvSpPr>
        <p:spPr>
          <a:xfrm>
            <a:off x="2496312" y="29992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 크고 지불 의향 높음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515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11247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저관여 소비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23160" y="4370832"/>
            <a:ext cx="1225296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96312" y="4370832"/>
            <a:ext cx="10789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소비는 많지만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지불 의향 낮음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78408" y="57424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커피·생수 소비 빈도 →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 rot="16200000">
            <a:off x="-704088" y="417880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준비·관리 감소 지불 의향 →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47488" y="658368"/>
            <a:ext cx="6485839" cy="5541264"/>
          </a:xfrm>
          <a:prstGeom prst="roundRect">
            <a:avLst>
              <a:gd name="adj" fmla="val 1485"/>
            </a:avLst>
          </a:prstGeom>
          <a:solidFill>
            <a:srgbClr val="F5F5F7"/>
          </a:solidFill>
          <a:ln/>
        </p:spPr>
      </p:sp>
      <p:sp>
        <p:nvSpPr>
          <p:cNvPr id="19" name="Shape 17"/>
          <p:cNvSpPr/>
          <p:nvPr/>
        </p:nvSpPr>
        <p:spPr>
          <a:xfrm>
            <a:off x="5321808" y="932688"/>
            <a:ext cx="777240" cy="777240"/>
          </a:xfrm>
          <a:prstGeom prst="ellipse">
            <a:avLst/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76672" y="987552"/>
            <a:ext cx="6675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[인물]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81928" y="932688"/>
            <a:ext cx="52056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 타깃명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81928" y="1133856"/>
            <a:ext cx="5205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루틴러 · 2030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81928" y="1463040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27~34세 · 1~2인 가구 · 독립 1~5년차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21808" y="2029968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아이스커피 주 4회 이상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21808" y="2414016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생수 구매 경험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321808" y="2798064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운동·영양·수면 등 자기관리와 생산성에 소비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321808" y="3182112"/>
            <a:ext cx="5937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시간과 편의를 위해 비용을 지불한 경험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321808" y="5513832"/>
            <a:ext cx="5937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‘웰니스 2030’은 너무 넓다. 세대가 아니라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소비와 지불 의향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좁힌다.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마실 때마다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고민하지 않아도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된다는 것</a:t>
            </a:r>
            <a:endParaRPr lang="en-US" sz="2600" dirty="0"/>
          </a:p>
        </p:txBody>
      </p:sp>
      <p:pic>
        <p:nvPicPr>
          <p:cNvPr id="5" name="Image 0" descr="/home/user/CHAI-AI/assets/img/peng-hom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011680"/>
            <a:ext cx="3337560" cy="2194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658368" y="43159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커피는 하루에 여러 번 필요하다. 문제는 마시는 순간이 아니라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다시 정해야 하는 일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44568" y="1874520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8" name="Text 5"/>
          <p:cNvSpPr/>
          <p:nvPr/>
        </p:nvSpPr>
        <p:spPr>
          <a:xfrm>
            <a:off x="4745736" y="1874520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우리의 일상에서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물과 커피를 필요로 하는 순간은?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2545" y="2770632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3713" y="2770632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아침엔 물 한 잔, 출근길엔 테이크아웃 커피, 오후엔 아이스커피, 운동 후엔 냉수까지. 하루에도 여러 번 마주쳐요.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44568" y="3666744"/>
            <a:ext cx="4333031" cy="658368"/>
          </a:xfrm>
          <a:prstGeom prst="roundRect">
            <a:avLst>
              <a:gd name="adj" fmla="val 19444"/>
            </a:avLst>
          </a:prstGeom>
          <a:solidFill>
            <a:srgbClr val="0057FF"/>
          </a:solidFill>
          <a:ln/>
        </p:spPr>
      </p:sp>
      <p:sp>
        <p:nvSpPr>
          <p:cNvPr id="12" name="Text 9"/>
          <p:cNvSpPr/>
          <p:nvPr/>
        </p:nvSpPr>
        <p:spPr>
          <a:xfrm>
            <a:off x="4745736" y="3666744"/>
            <a:ext cx="39306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근데 이런 걸 다 챙기는 게,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가능할까요?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2545" y="4562856"/>
            <a:ext cx="5730783" cy="658368"/>
          </a:xfrm>
          <a:prstGeom prst="roundRect">
            <a:avLst>
              <a:gd name="adj" fmla="val 19444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03713" y="4562856"/>
            <a:ext cx="53284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하긴 하는데, 번거로울 땐 그냥 편의점에 가게 돼요. 생수를 사거나, 얼음을 사거나 하는거죠.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59618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발화를 옮긴 것으로, 실제 응답으로 교체 예정.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27087" y="5961888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 반복이 쌓이면 매달 나가는 비용과 시간이 된다.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모두에게 싸지는 않다.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쓰는 사람에게는 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합칠 이유</a:t>
            </a:r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있다.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423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‘더 싸게’를 무리하게 주장하기보다, 많이 쓰는 사람에게 합칠 이유가 있다고 말하는 편이 신뢰도가 높다.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58368" y="4937760"/>
            <a:ext cx="3566160" cy="914400"/>
          </a:xfrm>
          <a:prstGeom prst="roundRect">
            <a:avLst>
              <a:gd name="adj" fmla="val 9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0474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에스프레카페는 저빈도 소비자보다, 물과 아이스커피를 반복 구매하는 생활자에게 더 설득력 있는 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대안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36008" y="658368"/>
            <a:ext cx="68973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소비 시나리오의 월 지출 (개념 비교)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36008" y="3948379"/>
            <a:ext cx="822960" cy="395021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0" name="Shape 8"/>
          <p:cNvSpPr/>
          <p:nvPr/>
        </p:nvSpPr>
        <p:spPr>
          <a:xfrm>
            <a:off x="4636008" y="3602736"/>
            <a:ext cx="822960" cy="345643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36008" y="3355848"/>
            <a:ext cx="822960" cy="24688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98848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60794" y="3810122"/>
            <a:ext cx="822960" cy="53327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660794" y="3010205"/>
            <a:ext cx="822960" cy="799917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60794" y="2565806"/>
            <a:ext cx="822960" cy="44439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23634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타깃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5581" y="3679765"/>
            <a:ext cx="822960" cy="663635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5581" y="2542105"/>
            <a:ext cx="822960" cy="1137660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685581" y="1973275"/>
            <a:ext cx="822960" cy="568830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0" name="Text 18"/>
          <p:cNvSpPr/>
          <p:nvPr/>
        </p:nvSpPr>
        <p:spPr>
          <a:xfrm>
            <a:off x="8548421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고빈도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가구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710367" y="2862072"/>
            <a:ext cx="822960" cy="14813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573207" y="44531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008" y="5065776"/>
            <a:ext cx="109728" cy="109728"/>
          </a:xfrm>
          <a:prstGeom prst="rect">
            <a:avLst/>
          </a:prstGeom>
          <a:solidFill>
            <a:srgbClr val="9FC0FF"/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394960" y="5065776"/>
            <a:ext cx="109728" cy="109728"/>
          </a:xfrm>
          <a:prstGeom prst="rect">
            <a:avLst/>
          </a:prstGeom>
          <a:solidFill>
            <a:srgbClr val="5B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577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커피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37960" y="5065776"/>
            <a:ext cx="109728" cy="109728"/>
          </a:xfrm>
          <a:prstGeom prst="rect">
            <a:avLst/>
          </a:prstGeom>
          <a:solidFill>
            <a:srgbClr val="C9D8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얼음·캡슐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80960" y="5065776"/>
            <a:ext cx="109728" cy="109728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0" y="5029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렌탈료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36008" y="5413248"/>
            <a:ext cx="6897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금액은 누적 막대. 실제 금액은 시나리오별 계산(생수·카페 커피·얼음/캡슐·렌탈료·원료비·전기료·시간)으로 확정.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타깃 &amp; 인사이트 · 핵심 인사이트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루틴은 의지가 아니라,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준비에서</a:t>
            </a:r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무너진다.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5836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발화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86968" y="3803904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“막상 얼리는 게 귀찮아서 홈카페를 자주 포기해요.”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" y="4663440"/>
            <a:ext cx="479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응답으로 교체 예정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78728" y="3291840"/>
            <a:ext cx="525460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7328" y="3493008"/>
            <a:ext cx="479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결과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07328" y="3803904"/>
            <a:ext cx="479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홈카페를 자주 포기하는 이유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1위 얼음 준비 · 2위 세척 · 3위 시간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07328" y="455371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5875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7328" y="45537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후 수치 반영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숫자를 채우지 않고 조사 예정 위치만 정한다.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제품이 맡을 역할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왜 캐릭터인가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되살린 사례 · 두꺼비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왜 펭귄인가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· 펭귄의 역할 정의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· 펭귄 자산 검증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01 제품이 맡을 역할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‘기능이 많은 정수기’가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준비를 끝내주는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가전으로.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4688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Proposition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58368" y="274320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따로 준비하던</a:t>
            </a:r>
            <a:endParaRPr lang="en-US" sz="15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물·얼음·커피를 하나로.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5760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Brand Role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9319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신경 쓰기 전에, 생활의 기본을 준비하는 브랜드.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90488" y="3063240"/>
            <a:ext cx="1463040" cy="1463040"/>
          </a:xfrm>
          <a:prstGeom prst="ellipse">
            <a:avLst/>
          </a:prstGeom>
          <a:solidFill>
            <a:srgbClr val="0057FF"/>
          </a:solidFill>
          <a:ln/>
          <a:effectLst>
            <a:outerShdw sx="100000" sy="100000" kx="0" ky="0" algn="bl" rotWithShape="0" blurRad="177800" dist="50800" dir="5400000">
              <a:srgbClr val="191919">
                <a:alpha val="2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81928" y="3063240"/>
            <a:ext cx="1280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
</a:t>
            </a:r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얼음 · 커피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84448" y="2990088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4448" y="242316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 구매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19288" y="2990088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2423160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 · 냉수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84448" y="3557016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84448" y="29900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 준비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19288" y="3557016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19288" y="2990088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84448" y="4123944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84448" y="355701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구매·제조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19288" y="4123944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19288" y="3557016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84448" y="4690872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84448" y="41239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세척·위생 걱정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9288" y="4690872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19288" y="4123944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세척·관리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84448" y="5257800"/>
            <a:ext cx="2286000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84448" y="46908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제품의 공간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19288" y="5257800"/>
            <a:ext cx="3514039" cy="0"/>
          </a:xfrm>
          <a:prstGeom prst="line">
            <a:avLst/>
          </a:prstGeom>
          <a:noFill/>
          <a:ln w="12700">
            <a:solidFill>
              <a:srgbClr val="E8E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19288" y="4690872"/>
            <a:ext cx="35140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올인원 구조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0" y="594360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왼쪽은 줄어드는 일,  →  오른쪽은 제품이 제공하는 것. 제품을 가운데 두어 연결한다.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02 왜 캐릭터인가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캐릭터가 왜 통하는지는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연구되어 있다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08483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작동하는가 · 학술 근거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377440"/>
            <a:ext cx="4069080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487168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· 아무 캐릭터나 통하지는 않는다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2706624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사물에 사람 성격을 입히면 사람들은 그 대상을 더 좋게 본다. 다만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제품의 특징과 그 성격이 맞을 때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그렇다.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41248" y="3072384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McGill, Journal of Consumer Research (2007)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58368" y="3346704"/>
            <a:ext cx="4069080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456432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신뢰가 브랜드로 옮겨간다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1248" y="367588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캐릭터를 믿게 되면 그 호감이 브랜드로 넘어간다. 그 브랜드를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모르는 사람일수록 효과가 컸다.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청호나이스를 아직 모르는 2030이 여기 해당한다.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41248" y="4041648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Garretson &amp; Niedrich, Journal of Advertising (2004)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8368" y="4315968"/>
            <a:ext cx="4069080" cy="896112"/>
          </a:xfrm>
          <a:prstGeom prst="roundRect">
            <a:avLst>
              <a:gd name="adj" fmla="val 9184"/>
            </a:avLst>
          </a:prstGeom>
          <a:solidFill>
            <a:srgbClr val="F5F5F7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425696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반복하면 기억의 단서가 된다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" y="4645152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캐릭터를 오래 쓰면 브랜드를 떠올리게 하는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구별 자산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된다. 인지도와 고유성 두 축으로 관리한다.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1248" y="5010912"/>
            <a:ext cx="3703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Romaniuk, Ehrenberg-Bass. 16장 검증 설계가 이 두 축을 쓴다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230368" y="2084832"/>
            <a:ext cx="6302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효과가 있었는가 · 광고 효과 조사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30368" y="2377440"/>
            <a:ext cx="6302959" cy="749808"/>
          </a:xfrm>
          <a:prstGeom prst="roundRect">
            <a:avLst>
              <a:gd name="adj" fmla="val 10976"/>
            </a:avLst>
          </a:prstGeom>
          <a:solidFill>
            <a:srgbClr val="F5F5F7"/>
          </a:solidFill>
          <a:ln/>
        </p:spPr>
      </p:sp>
      <p:sp>
        <p:nvSpPr>
          <p:cNvPr id="20" name="Text 18"/>
          <p:cNvSpPr/>
          <p:nvPr/>
        </p:nvSpPr>
        <p:spPr>
          <a:xfrm>
            <a:off x="5413248" y="2487168"/>
            <a:ext cx="59371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조사기관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System1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미국 슈퍼볼 광고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2020~2023년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분을 분석했다. 시청자의 감정 반응을 측정해, 그 광고가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장기적으로 브랜드를 키울 가능성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1.0~5.9점으로 환산한 점수다.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30368" y="331012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연예인을 쓴 광고  37%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29984" y="334670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3" name="Shape 21"/>
          <p:cNvSpPr/>
          <p:nvPr/>
        </p:nvSpPr>
        <p:spPr>
          <a:xfrm>
            <a:off x="6729984" y="3346704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4" name="Text 22"/>
          <p:cNvSpPr/>
          <p:nvPr/>
        </p:nvSpPr>
        <p:spPr>
          <a:xfrm>
            <a:off x="11112703" y="334670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67588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 없는 광고  38%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29984" y="371246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9984" y="3712464"/>
            <a:ext cx="1589824" cy="237744"/>
          </a:xfrm>
          <a:prstGeom prst="roundRect">
            <a:avLst>
              <a:gd name="adj" fmla="val 19231"/>
            </a:avLst>
          </a:prstGeom>
          <a:solidFill>
            <a:srgbClr val="BFC0C4"/>
          </a:solidFill>
          <a:ln/>
        </p:spPr>
      </p:sp>
      <p:sp>
        <p:nvSpPr>
          <p:cNvPr id="28" name="Text 26"/>
          <p:cNvSpPr/>
          <p:nvPr/>
        </p:nvSpPr>
        <p:spPr>
          <a:xfrm>
            <a:off x="11112703" y="37124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4041648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소유한</a:t>
            </a:r>
            <a:endParaRPr lang="en-US" sz="9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캐릭터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29984" y="4078224"/>
            <a:ext cx="4327855" cy="237744"/>
          </a:xfrm>
          <a:prstGeom prst="roundRect">
            <a:avLst>
              <a:gd name="adj" fmla="val 19231"/>
            </a:avLst>
          </a:prstGeom>
          <a:solidFill>
            <a:srgbClr val="F0F0F0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4078224"/>
            <a:ext cx="2384737" cy="237744"/>
          </a:xfrm>
          <a:prstGeom prst="roundRect">
            <a:avLst>
              <a:gd name="adj" fmla="val 19231"/>
            </a:avLst>
          </a:prstGeom>
          <a:solidFill>
            <a:srgbClr val="0057FF"/>
          </a:solidFill>
          <a:ln/>
        </p:spPr>
      </p:sp>
      <p:sp>
        <p:nvSpPr>
          <p:cNvPr id="32" name="Text 30"/>
          <p:cNvSpPr/>
          <p:nvPr/>
        </p:nvSpPr>
        <p:spPr>
          <a:xfrm>
            <a:off x="11112703" y="40782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9984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12866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보통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495749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양호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8631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강함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0754889" y="43982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5.9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11538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5330952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이론에서도, 실제 광고 성적에서도 같은 쪽을 가리킨다.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58368" y="5623560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E6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연예인의 주목은 빌려 쓰는 것이고, 캐릭터는 브랜드에 남는다. 정수기 광고에는 아직 그런 캐릭터가 없다.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58368" y="603504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Aggarwal &amp; McGill(2007) · Garretson &amp; Niedrich(2004) · Romaniuk, Ehrenberg-Bass · System1 슈퍼볼 광고 2020~2023 분석.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7875727" y="60350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그런데 우리는 캐릭터를 새로 만들 필요가 없다.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03 되살린 사례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058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두꺼비를,</a:t>
            </a:r>
            <a:endParaRPr lang="en-US" sz="22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 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앉혔다</a:t>
            </a:r>
            <a:pPr indent="0" marL="0">
              <a:lnSpc>
                <a:spcPts val="2900"/>
              </a:lnSpc>
              <a:buNone/>
            </a:pPr>
            <a:r>
              <a:rPr lang="en-US" sz="2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10874959" cy="365760"/>
          </a:xfrm>
          <a:prstGeom prst="roundRect">
            <a:avLst>
              <a:gd name="adj" fmla="val 22500"/>
            </a:avLst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21408"/>
            <a:ext cx="10436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리트로 브랜딩 연구는 성공한 부활을 </a:t>
            </a:r>
            <a:pPr indent="0" marL="0">
              <a:buNone/>
            </a:pPr>
            <a:r>
              <a:rPr lang="en-US" sz="9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의미에 지금의 기능을 얹은 것</a:t>
            </a:r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설명한다. 두꺼비가 밟은 순서가 그대로다.  Brown, Kozinets &amp; Sherry, Journal of Marketing (2003)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26517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잠들어 있던 자산</a:t>
            </a:r>
            <a:endParaRPr lang="en-US" sz="1050" dirty="0"/>
          </a:p>
        </p:txBody>
      </p:sp>
      <p:pic>
        <p:nvPicPr>
          <p:cNvPr id="8" name="Image 0" descr="/home/user/CHAI-AI/assets/img/jinro-isba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926080"/>
            <a:ext cx="2788920" cy="146304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58368" y="4443984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1950년대 진로 상표의 두꺼비. 1990년대에 광고에서 사라졌다가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2019년 4월 ‘진로 이즈백’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돌아왔다.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뒷벽에 옛 두꺼비 그림이 걸려 있다.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3703320" y="2651760"/>
            <a:ext cx="60012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바꿨나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703320" y="2944368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67912" y="30358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4197096" y="3017520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외형은 복원하고, 타깃은 옮겼다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97096" y="3227832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70~80년대 라벨과 캐릭터는 그대로 살리되, 말을 거는 세대를 2030으로 바꿨다.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3703320" y="3566160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867912" y="36576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197096" y="3639312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캐릭터만 바꾸지 않았다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197096" y="3849624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도수를 16.9도로 낮춰 제품 자체를 젊은 층 입맛에 맞췄다. 캐릭터와 제품이 같은 말을 했다.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3703320" y="4187952"/>
            <a:ext cx="6001207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67912" y="4279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197096" y="4261104"/>
            <a:ext cx="5342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편으로 끝내지 않았다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197096" y="4471416"/>
            <a:ext cx="5342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‘두껍상회’·굿즈·인스타 숏폼·웹예능으로 같은 캐릭터를 반복해 쌓았다.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960559" y="2651760"/>
            <a:ext cx="15727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9960559" y="2944368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0559" y="300837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10015423" y="32552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출시 연간 판매 목표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달성까지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9960559" y="3566160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60559" y="3630168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15억 병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0015423" y="387705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4년 만의 누적 판매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(2023.4)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9960559" y="4187952"/>
            <a:ext cx="1572768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960559" y="4251960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45만 명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10015423" y="44988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캐릭터샵 ‘두껍상회’</a:t>
            </a:r>
            <a:endParaRPr lang="en-US" sz="750" dirty="0"/>
          </a:p>
          <a:p>
            <a:pPr algn="ctr" indent="0" marL="0">
              <a:lnSpc>
                <a:spcPts val="950"/>
              </a:lnSpc>
              <a:buNone/>
            </a:pPr>
            <a:r>
              <a:rPr lang="en-US" sz="7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방문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658368" y="493776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191919"/>
          </a:solidFill>
          <a:ln/>
        </p:spPr>
      </p:sp>
      <p:sp>
        <p:nvSpPr>
          <p:cNvPr id="35" name="Text 32"/>
          <p:cNvSpPr/>
          <p:nvPr/>
        </p:nvSpPr>
        <p:spPr>
          <a:xfrm>
            <a:off x="914400" y="513892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우리는 이렇게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적용한다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2395728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역할을 옮긴다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2395728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‘얼음정수기 광고 캐릭터’에서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집 준비 매니저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다시 정의한다.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447690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같은 말을 시킨다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447690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줄여주는 준비를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에스프레카페가 실제로 줄이는 일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일치시킨다.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499653" y="5074920"/>
            <a:ext cx="27776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축적한다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8499653" y="5303520"/>
            <a:ext cx="27776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 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숏폼·계산기·팝업·굿즈·CRM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같은 펭귄을 반복한다.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58368" y="588873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하이트진로 보도자료 및 언론 보도(누적 판매 15억 병 2023.4 기준, 두껍상회 누적 방문 45만 명), 이노션 캠페인 사례. 상세 링크는 부록.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04 왜 펭귄인가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그중에서도 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</a:t>
            </a:r>
            <a:pPr indent="0" marL="0">
              <a:lnSpc>
                <a:spcPts val="3328"/>
              </a:lnSpc>
              <a:buNone/>
            </a:pPr>
            <a:r>
              <a:rPr lang="en-US" sz="26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선택한 이유.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6187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가지고 있는 자산이다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81051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2464" y="19842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36512" y="196596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기능과 의미가 맞는다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6187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 기능을 하나의 역할로 번역한다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776472"/>
            <a:ext cx="5300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2464" y="395020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36512" y="3931920"/>
            <a:ext cx="447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이후에도 계속 쓸 수 있다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7824" y="2340864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캐릭터를 빌리거나 새로 만드는 것보다, 청호나이스의 얼음정수기 역사와 연결할 수 있다.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7824" y="2834640"/>
            <a:ext cx="4861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인지도는 조사 전이므로 “2030이 모두 기억하는 캐릭터”가 아니라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“청호나이스가 보유한 과거 광고 자산 후보”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말한다.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52464" y="2340864"/>
            <a:ext cx="486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펭귄은 설명 없이도 떠올리게 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52464" y="2651760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52464" y="2651760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91960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91960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차가움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45756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45756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시원함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99552" y="2651760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99552" y="2651760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깨끗함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52464" y="3035808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캐릭터를 가져온 것이 아니라, 얼음정수기의 핵심 기능과 자연스럽게 연결되는 캐릭터다.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77824" y="4306824"/>
            <a:ext cx="486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정수·얼음·커피·세척·관리를 기능별로 설명하면 복잡하다. 펭귄의 역할 하나로 압축한다.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77824" y="4745736"/>
            <a:ext cx="4861408" cy="329184"/>
          </a:xfrm>
          <a:prstGeom prst="roundRect">
            <a:avLst>
              <a:gd name="adj" fmla="val 16667"/>
            </a:avLst>
          </a:prstGeom>
          <a:solidFill>
            <a:srgbClr val="EA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877824" y="4745736"/>
            <a:ext cx="4861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" y="5129784"/>
            <a:ext cx="4861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제품과 별개인 장식이 아니라, 에스프레카페의 올인원 기능을 의인화한 존재다.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452464" y="4306824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연예인은 한 캠페인의 주목도를 만들지만, 마스코트는 여러 채널에 축적된다.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52464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52464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광고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334860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4860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SNS 숏폼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331556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31556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계산기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328252" y="4654296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328252" y="4654296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안내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10210648" y="4654296"/>
            <a:ext cx="9235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10648" y="4654296"/>
            <a:ext cx="923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가이드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52464" y="4965192"/>
            <a:ext cx="8092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52464" y="4965192"/>
            <a:ext cx="8092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4860" y="4965192"/>
            <a:ext cx="5806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34860" y="4965192"/>
            <a:ext cx="5806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CRM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988656" y="4965192"/>
            <a:ext cx="466344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88656" y="4965192"/>
            <a:ext cx="4663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굿즈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58368" y="5742432"/>
            <a:ext cx="10874959" cy="548640"/>
          </a:xfrm>
          <a:prstGeom prst="roundRect">
            <a:avLst>
              <a:gd name="adj" fmla="val 1500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" y="5742432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핵심 효과는 친근함이 아니라, </a:t>
            </a:r>
            <a:pPr algn="ctr" indent="0" marL="0">
              <a:buNone/>
            </a:pPr>
            <a:r>
              <a:rPr lang="en-US" sz="15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콘텐츠를 하나의 브랜드 인상으로 묶는 것</a:t>
            </a:r>
            <a:pPr algn="ctr"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05 역할 정의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펭귄을,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복원하지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않는다.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F5F5F7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</a:t>
            </a:r>
            <a:endParaRPr lang="en-US" sz="1000" dirty="0"/>
          </a:p>
        </p:txBody>
      </p:sp>
      <p:pic>
        <p:nvPicPr>
          <p:cNvPr id="7" name="Image 0" descr="/home/user/CHAI-AI/assets/img/peng-the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932688" y="4251960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9" name="Text 6"/>
          <p:cNvSpPr/>
          <p:nvPr/>
        </p:nvSpPr>
        <p:spPr>
          <a:xfrm>
            <a:off x="108813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얼음정수기를 알리는 광고 캐릭터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32688" y="4562856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1" name="Text 8"/>
          <p:cNvSpPr/>
          <p:nvPr/>
        </p:nvSpPr>
        <p:spPr>
          <a:xfrm>
            <a:off x="108813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귀엽고 활발한 표현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32688" y="4873752"/>
            <a:ext cx="50292" cy="50292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0"/>
          <p:cNvSpPr/>
          <p:nvPr/>
        </p:nvSpPr>
        <p:spPr>
          <a:xfrm>
            <a:off x="108813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 주방의 이미지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44388" y="342442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347308" y="2121408"/>
            <a:ext cx="5186020" cy="3063240"/>
          </a:xfrm>
          <a:prstGeom prst="roundRect">
            <a:avLst>
              <a:gd name="adj" fmla="val 2687"/>
            </a:avLst>
          </a:prstGeom>
          <a:solidFill>
            <a:srgbClr val="191919"/>
          </a:solidFill>
          <a:ln/>
        </p:spPr>
      </p:sp>
      <p:sp>
        <p:nvSpPr>
          <p:cNvPr id="16" name="Text 13"/>
          <p:cNvSpPr/>
          <p:nvPr/>
        </p:nvSpPr>
        <p:spPr>
          <a:xfrm>
            <a:off x="6603340" y="2304288"/>
            <a:ext cx="4673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</a:t>
            </a:r>
            <a:endParaRPr lang="en-US" sz="1000" dirty="0"/>
          </a:p>
        </p:txBody>
      </p:sp>
      <p:pic>
        <p:nvPicPr>
          <p:cNvPr id="17" name="Image 1" descr="/home/user/CHAI-AI/assets/img/peng-now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03340" y="2624328"/>
            <a:ext cx="4673956" cy="1371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91919">
                <a:alpha val="22000"/>
              </a:srgbClr>
            </a:outerShdw>
          </a:effectLst>
        </p:spPr>
      </p:pic>
      <p:sp>
        <p:nvSpPr>
          <p:cNvPr id="18" name="Shape 14"/>
          <p:cNvSpPr/>
          <p:nvPr/>
        </p:nvSpPr>
        <p:spPr>
          <a:xfrm>
            <a:off x="6621628" y="4251960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19" name="Text 15"/>
          <p:cNvSpPr/>
          <p:nvPr/>
        </p:nvSpPr>
        <p:spPr>
          <a:xfrm>
            <a:off x="6777076" y="4169664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생활의 준비를 먼저 끝내는 루틴 매니저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21628" y="4562856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1" name="Text 17"/>
          <p:cNvSpPr/>
          <p:nvPr/>
        </p:nvSpPr>
        <p:spPr>
          <a:xfrm>
            <a:off x="6777076" y="4480560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차분하고 능숙한 행동, 건조하고 짧은 유머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21628" y="4873752"/>
            <a:ext cx="50292" cy="50292"/>
          </a:xfrm>
          <a:prstGeom prst="ellipse">
            <a:avLst/>
          </a:prstGeom>
          <a:solidFill>
            <a:srgbClr val="2997FF"/>
          </a:solidFill>
          <a:ln/>
        </p:spPr>
      </p:sp>
      <p:sp>
        <p:nvSpPr>
          <p:cNvPr id="23" name="Text 19"/>
          <p:cNvSpPr/>
          <p:nvPr/>
        </p:nvSpPr>
        <p:spPr>
          <a:xfrm>
            <a:off x="6777076" y="4791456"/>
            <a:ext cx="448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dirty="0">
                <a:solidFill>
                  <a:srgbClr val="D6D7D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독립한 2030의 집, 제품과 항상 함께 등장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58368" y="5404104"/>
            <a:ext cx="10874959" cy="731520"/>
          </a:xfrm>
          <a:prstGeom prst="roundRect">
            <a:avLst>
              <a:gd name="adj" fmla="val 11250"/>
            </a:avLst>
          </a:prstGeom>
          <a:solidFill>
            <a:srgbClr val="EAF1FF"/>
          </a:solidFill>
          <a:ln w="15875">
            <a:solidFill>
              <a:srgbClr val="0057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0" y="5504688"/>
            <a:ext cx="12191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정의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0" y="5715000"/>
            <a:ext cx="121916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말보다 행동이 빠른, 우리 집 준비 매니저.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658368" y="624535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리런칭은 대표 펭귄 한 마리로 시작. 캐릭터군 확장은 마스코트가 정착한 뒤 단계.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브랜드 전략 · 06 자산 검증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기억되는가보다 중요한 건,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지금도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청호나이스답게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작동하는가.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쓰는 근거는 ‘기억’이 아니라 ‘적합’이다. 그래서 조사 결과가 어느 쪽이든 실행은 멈추지 않는다.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2542032"/>
            <a:ext cx="10874959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9050">
            <a:solidFill>
              <a:srgbClr val="0057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266090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조사에서 확인할 것 · 1문항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8895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2030은 청호나이스의 과거 펭귄 광고를 기억하는가?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0" y="340156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58368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3950208"/>
            <a:ext cx="1431036" cy="256032"/>
          </a:xfrm>
          <a:prstGeom prst="roundRect">
            <a:avLst>
              <a:gd name="adj" fmla="val 50000"/>
            </a:avLst>
          </a:prstGeom>
          <a:solidFill>
            <a:srgbClr val="EAF1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3950208"/>
            <a:ext cx="14310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A · 기억한다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77824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 리바이벌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77824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광고를 오마주로 전면에 세운다. ‘그 펭귄이 돌아왔다’를 캠페인 진입 후크로 쓴다.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42152" y="3767328"/>
            <a:ext cx="529117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1608" y="3950208"/>
            <a:ext cx="1851660" cy="256032"/>
          </a:xfrm>
          <a:prstGeom prst="roundRect">
            <a:avLst>
              <a:gd name="adj" fmla="val 50000"/>
            </a:avLst>
          </a:prstGeom>
          <a:solidFill>
            <a:srgbClr val="F0F0F0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1608" y="3950208"/>
            <a:ext cx="18516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B · 기억하지 못한다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61608" y="4297680"/>
            <a:ext cx="485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자산 기반 신규 마스코트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1608" y="4636008"/>
            <a:ext cx="48522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헤리티지는 브랜드 스토리로만 남기고, 지금의 역할(준비 매니저)로 처음 소개한다.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5321808"/>
            <a:ext cx="10874959" cy="749808"/>
          </a:xfrm>
          <a:prstGeom prst="roundRect">
            <a:avLst>
              <a:gd name="adj" fmla="val 10976"/>
            </a:avLst>
          </a:prstGeom>
          <a:solidFill>
            <a:srgbClr val="0057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54315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조사 결과는 표현 방식을 정할 뿐,</a:t>
            </a:r>
            <a:endParaRPr lang="en-US" sz="14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전략의 방향을 바꾸지 않는다.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13248" y="5541264"/>
            <a:ext cx="58457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E3E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경우 모두 그대로 간다 — 펭귄의 역할 정의 · 캠페인 구조(발견 → 관계) · 제품 메시지(준비를 끝내주는 가전)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6181344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측정은 구별 자산(Distinctive Brand Assets)의 두 축 — 인지도와 고유성 — 을 따른다(Romaniuk, Ehrenberg-Bass). 지표: 비보조 펭귄 회상률 · 청호나이스 연결률 · 얼음정수기 연상 · 현대화 시안 선호 · 노출 전후 제품 관심 · 프리미엄 이미지 훼손 우려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캠페인 전략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· 빅 아이디어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· 캠페인 구조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· 온라인 콘텐츠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· 팝업 캠페인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 · 빅 아이디어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BIG IDEA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8745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준비는 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58368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0D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준비까지 열심히 살 필요는 없으니까.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4480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2030의 일상에서 반복되는 준비를 발견하고, 청호나이스의 제품 기능으로 하나씩 줄여주는 캠페인.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5074920"/>
            <a:ext cx="1901952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5074920"/>
            <a:ext cx="19019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갓생을 강요하지 않는다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24912" y="5074920"/>
            <a:ext cx="2157984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24912" y="50749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바쁜 삶을 미화하지 않는다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47488" y="5074920"/>
            <a:ext cx="241401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47488" y="5074920"/>
            <a:ext cx="24140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인생을 해결하지 않는다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26096" y="5074920"/>
            <a:ext cx="3054096" cy="402336"/>
          </a:xfrm>
          <a:prstGeom prst="roundRect">
            <a:avLst>
              <a:gd name="adj" fmla="val 50000"/>
            </a:avLst>
          </a:prstGeom>
          <a:ln w="15875">
            <a:solidFill>
              <a:srgbClr val="5A5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50749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7E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물·얼음·커피, 구체적인 준비만 맡는다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한 편이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발견에서 렌탈까지 이어지는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58368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마스코트 리런칭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등장한다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9149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415997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489149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489149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89149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노동을 다룬 숏폼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9149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19930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46778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9" name="Text 17"/>
          <p:cNvSpPr/>
          <p:nvPr/>
        </p:nvSpPr>
        <p:spPr>
          <a:xfrm>
            <a:off x="4319930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19930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19930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기능·비용 진단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9930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설명한다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50712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77560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25" name="Text 23"/>
          <p:cNvSpPr/>
          <p:nvPr/>
        </p:nvSpPr>
        <p:spPr>
          <a:xfrm>
            <a:off x="6150712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50712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50712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 시음·제품 조작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50712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안내한다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981493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908341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1" name="Text 29"/>
          <p:cNvSpPr/>
          <p:nvPr/>
        </p:nvSpPr>
        <p:spPr>
          <a:xfrm>
            <a:off x="7981493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981493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고려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1493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상담·견적·리타게팅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981493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812274" y="2834640"/>
            <a:ext cx="1721053" cy="54864"/>
          </a:xfrm>
          <a:prstGeom prst="roundRect">
            <a:avLst>
              <a:gd name="adj" fmla="val 50000"/>
            </a:avLst>
          </a:prstGeom>
          <a:solidFill>
            <a:srgbClr val="DEE8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739122" y="2788920"/>
            <a:ext cx="146304" cy="146304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37" name="Text 35"/>
          <p:cNvSpPr/>
          <p:nvPr/>
        </p:nvSpPr>
        <p:spPr>
          <a:xfrm>
            <a:off x="9812274" y="3017520"/>
            <a:ext cx="1721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812274" y="3236976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812274" y="3547872"/>
            <a:ext cx="17210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알림·개인화 루틴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9812274" y="4133088"/>
            <a:ext cx="172105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산다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58368" y="4754880"/>
            <a:ext cx="10874959" cy="1051560"/>
          </a:xfrm>
          <a:prstGeom prst="roundRect">
            <a:avLst>
              <a:gd name="adj" fmla="val 7826"/>
            </a:avLst>
          </a:prstGeom>
          <a:solidFill>
            <a:srgbClr val="F5F5F7"/>
          </a:solidFill>
          <a:ln/>
        </p:spPr>
      </p:sp>
      <p:sp>
        <p:nvSpPr>
          <p:cNvPr id="42" name="Text 40"/>
          <p:cNvSpPr/>
          <p:nvPr/>
        </p:nvSpPr>
        <p:spPr>
          <a:xfrm>
            <a:off x="886968" y="4919472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펭귄이 맡는 역할이 달라진다. 관계 단계의 씨앗은 이미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휘카페 멤버십 라운지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있다. MY NICE ROUTINE 앱은 이 단계에서만 짧게 언급하고 상세는 부록으로.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콘텐츠마다 말은 달라도,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줄여주는 준비는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하나씩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인스타그램 릴스 목업 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펭귄이 미리 준비했습니다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출근·재택·운동 후·주말 홈카페 상황의 10~15초 숏폼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90034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44898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댓글 상담 콘텐츠 목업 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90034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90034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펭귄의 냉정한 루틴 상담소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390034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사연과 댓글에 건조하게 답한다. “아직 절반만 홈카페입니다.”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1701" y="2331720"/>
            <a:ext cx="3411626" cy="2468880"/>
          </a:xfrm>
          <a:prstGeom prst="roundRect">
            <a:avLst>
              <a:gd name="adj" fmla="val 3333"/>
            </a:avLst>
          </a:prstGeom>
          <a:solidFill>
            <a:srgbClr val="ECEEF2"/>
          </a:solidFill>
          <a:ln w="12700">
            <a:solidFill>
              <a:srgbClr val="E8E8E8"/>
            </a:solidFill>
            <a:prstDash val="solid"/>
          </a:ln>
          <a:effectLst>
            <a:outerShdw sx="100000" sy="100000" kx="0" ky="0" algn="bl" rotWithShape="0" blurRad="203200" dist="63500" dir="5400000">
              <a:srgbClr val="191919">
                <a:alpha val="2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76565" y="2386584"/>
            <a:ext cx="330189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계산기 랜딩페이지 목업 ]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21701" y="4928616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시리즈 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21701" y="5129784"/>
            <a:ext cx="34116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나의 준비 노동 계산기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21701" y="5367528"/>
            <a:ext cx="341162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생수·커피·얼음 구매 횟수와 시간을 넣으면 월간 준비 행동을 보여주고 상담으로 연결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캠페인 전략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24128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팝업은 캐릭터 전시가 아니라,</a:t>
            </a:r>
            <a:endParaRPr lang="en-US" sz="23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제품을 이해시키는 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실험실</a:t>
            </a:r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이다.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물·얼음·커피에 쓰는 비용과 행동 수 확인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27400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1" name="Shape 9"/>
          <p:cNvSpPr/>
          <p:nvPr/>
        </p:nvSpPr>
        <p:spPr>
          <a:xfrm>
            <a:off x="3564560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2" name="Text 10"/>
          <p:cNvSpPr/>
          <p:nvPr/>
        </p:nvSpPr>
        <p:spPr>
          <a:xfrm>
            <a:off x="3564560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0280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정수·얼음·커피를 직접 조작하고 시음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6432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F5F5F7"/>
          </a:solidFill>
          <a:ln/>
        </p:spPr>
      </p:sp>
      <p:sp>
        <p:nvSpPr>
          <p:cNvPr id="16" name="Shape 14"/>
          <p:cNvSpPr/>
          <p:nvPr/>
        </p:nvSpPr>
        <p:spPr>
          <a:xfrm>
            <a:off x="6333592" y="2532888"/>
            <a:ext cx="310896" cy="310896"/>
          </a:xfrm>
          <a:prstGeom prst="ellipse">
            <a:avLst/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33592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79312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79312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생활 방식과 렌탈 시나리오 비교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65463" y="2377440"/>
            <a:ext cx="2567864" cy="1280160"/>
          </a:xfrm>
          <a:prstGeom prst="roundRect">
            <a:avLst>
              <a:gd name="adj" fmla="val 6429"/>
            </a:avLst>
          </a:prstGeom>
          <a:solidFill>
            <a:srgbClr val="0057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02623" y="2532888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02623" y="2532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48343" y="2907792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8343" y="3218688"/>
            <a:ext cx="2202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가능 여부와 맞춤 견적 확인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83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/>
        </p:spPr>
      </p:sp>
      <p:sp>
        <p:nvSpPr>
          <p:cNvPr id="26" name="Text 24"/>
          <p:cNvSpPr/>
          <p:nvPr/>
        </p:nvSpPr>
        <p:spPr>
          <a:xfrm>
            <a:off x="8869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가칭 · 우리 집 루틴 매니저 연구소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6968" y="4434840"/>
            <a:ext cx="48202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 포토존과 굿즈는 동선 끝에 둔다. 캐릭터를 보러 와서 제품을 써보고 나가게 만드는 구조다.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977640"/>
            <a:ext cx="52774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057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4468" y="4160520"/>
            <a:ext cx="4820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KPI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84468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 완료율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894597" y="4453128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제품 조작률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84468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시음 완료율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94597" y="4745736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상담 QR 클릭률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84468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설치 상담률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894597" y="5038344"/>
            <a:ext cx="24101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체험 전후 이해도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8368" y="6291072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2025 팝업 3,077개, 성수 35.38% 집중, 8~14일 운영이 최고 효율.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dirty="0">
                <a:solidFill>
                  <a:srgbClr val="2B2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&amp; 효과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27087" y="397764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· 결과 검증</a:t>
            </a:r>
            <a:endParaRPr lang="en-US" sz="1200" dirty="0"/>
          </a:p>
          <a:p>
            <a:pPr algn="r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· 기대효과와 마무리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005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58368" y="10424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조회수보다,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청호나이스가 떠오르고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05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궁금해졌는지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본다.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가설을 여섯 개 나열하지 않는다. 브랜드 연결에서 관계까지 하나의 퍼널로 본다.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조사, 광고 노출자·비노출자 비교, 캠페인 후 조사를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항목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3C3C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설계한다.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64608" y="2103120"/>
            <a:ext cx="6668719" cy="914400"/>
          </a:xfrm>
          <a:prstGeom prst="roundRect">
            <a:avLst>
              <a:gd name="adj" fmla="val 9000"/>
            </a:avLst>
          </a:prstGeom>
          <a:solidFill>
            <a:srgbClr val="9FC0FF"/>
          </a:solidFill>
          <a:ln/>
        </p:spPr>
      </p:sp>
      <p:sp>
        <p:nvSpPr>
          <p:cNvPr id="8" name="Text 6"/>
          <p:cNvSpPr/>
          <p:nvPr/>
        </p:nvSpPr>
        <p:spPr>
          <a:xfrm>
            <a:off x="5047488" y="224028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연결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47488" y="2542032"/>
            <a:ext cx="630295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19191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펭귄을 보고 청호나이스를 떠올리는가 · 2030에게 적합하다 느끼는가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331418" y="3108960"/>
            <a:ext cx="5735099" cy="914400"/>
          </a:xfrm>
          <a:prstGeom prst="roundRect">
            <a:avLst>
              <a:gd name="adj" fmla="val 9000"/>
            </a:avLst>
          </a:prstGeom>
          <a:solidFill>
            <a:srgbClr val="5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5514298" y="3246120"/>
            <a:ext cx="53693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이해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14298" y="3547872"/>
            <a:ext cx="53693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정수·얼음·커피 통합을 이해하는가 · ‘준비 감소’ 편익을 기억하는가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98229" y="4114800"/>
            <a:ext cx="4801478" cy="914400"/>
          </a:xfrm>
          <a:prstGeom prst="roundRect">
            <a:avLst>
              <a:gd name="adj" fmla="val 9000"/>
            </a:avLst>
          </a:prstGeom>
          <a:solidFill>
            <a:srgbClr val="2F6BFF"/>
          </a:solidFill>
          <a:ln/>
        </p:spPr>
      </p:sp>
      <p:sp>
        <p:nvSpPr>
          <p:cNvPr id="14" name="Text 12"/>
          <p:cNvSpPr/>
          <p:nvPr/>
        </p:nvSpPr>
        <p:spPr>
          <a:xfrm>
            <a:off x="5981109" y="4251960"/>
            <a:ext cx="44357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변화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1109" y="4553712"/>
            <a:ext cx="44357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검색 · 비용 진단 · 팝업 체험 · 상담 신청 · 렌탈 고려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265039" y="5120640"/>
            <a:ext cx="3867857" cy="914400"/>
          </a:xfrm>
          <a:prstGeom prst="roundRect">
            <a:avLst>
              <a:gd name="adj" fmla="val 9000"/>
            </a:avLst>
          </a:prstGeom>
          <a:solidFill>
            <a:srgbClr val="0057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7919" y="5257800"/>
            <a:ext cx="35020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변화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7919" y="5559552"/>
            <a:ext cx="350209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앱·CRM 반응 · 동일 브랜드 재선택 의향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58368" y="64922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청호나이스 2030 브랜드 커뮤니케이션 전략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161727" y="6492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5959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" y="676656"/>
            <a:ext cx="256032" cy="27432"/>
          </a:xfrm>
          <a:prstGeom prst="rect">
            <a:avLst/>
          </a:prstGeom>
          <a:solidFill>
            <a:srgbClr val="2997FF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7863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검증 &amp; 효과 · 기대효과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 중심 정수기 브랜드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생활을 이해하는 브랜드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568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028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1028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기능이 많은 복합 제품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028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1028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준비를 줄이는 생활 기반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7600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커뮤니케이션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97600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그때마다 달라지는 콘텐츠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97600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97600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펭귄으로 축적되는 브랜드 언어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20327" y="1554480"/>
            <a:ext cx="2513000" cy="1920240"/>
          </a:xfrm>
          <a:prstGeom prst="roundRect">
            <a:avLst>
              <a:gd name="adj" fmla="val 3810"/>
            </a:avLst>
          </a:prstGeom>
          <a:solidFill>
            <a:srgbClr val="2A2A2D"/>
          </a:solidFill>
          <a:ln w="12700">
            <a:solidFill>
              <a:srgbClr val="3A3A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4919" y="1719072"/>
            <a:ext cx="218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84919" y="2011680"/>
            <a:ext cx="2183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노출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84919" y="2487168"/>
            <a:ext cx="2183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4919" y="2743200"/>
            <a:ext cx="2183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체험·상담·렌탈 고려로 이어지는 흐름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6A7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부모님 집의 정수기에서, 나의 첫 생활가전으로.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" y="4389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루틴은 내가, 준비는 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299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청호</a:t>
            </a:r>
            <a:pPr indent="0" marL="0">
              <a:lnSpc>
                <a:spcPts val="512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가.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58368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오준상 · 이민욱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90127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B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©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2026-07-27T07:16:08Z</dcterms:created>
  <dcterms:modified xsi:type="dcterms:W3CDTF">2026-07-27T07:16:08Z</dcterms:modified>
</cp:coreProperties>
</file>