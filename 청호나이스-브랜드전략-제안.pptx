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embedTrueType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embeddedFontLst>
    <p:embeddedFont>
      <p:font typeface="Pretendard"/>
      <p:regular r:id="rId35"/>
      <p:bold r:id="rId3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openxmlformats.org/officeDocument/2006/relationships/font" Target="fonts/font1.fntdata"/><Relationship Id="rId36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5.jpg"/><Relationship Id="rId6" Type="http://schemas.openxmlformats.org/officeDocument/2006/relationships/image" Target="../media/image-6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jpg"/><Relationship Id="rId6" Type="http://schemas.openxmlformats.org/officeDocument/2006/relationships/image" Target="../media/image-7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image" Target="../media/image-1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image" Target="../media/image-18-3.jpg"/><Relationship Id="rId4" Type="http://schemas.openxmlformats.org/officeDocument/2006/relationships/image" Target="../media/image-1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오준상 · 이민욱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61327" y="6583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· 브랜드 커뮤니케이션 전략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0" y="141732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0" y="1783080"/>
            <a:ext cx="12191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</a:t>
            </a:r>
            <a:endParaRPr lang="en-US" sz="4600" dirty="0"/>
          </a:p>
          <a:p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준비는 </a:t>
            </a:r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600" dirty="0"/>
          </a:p>
        </p:txBody>
      </p:sp>
      <p:pic>
        <p:nvPicPr>
          <p:cNvPr id="6" name="Image 0" descr="/home/user/CHAI-AI/assets/img/espre-produc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352648" y="3429000"/>
            <a:ext cx="5486400" cy="214884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658368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961327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Communication Strategy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정의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젊은 고객의 </a:t>
            </a:r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첫번째 정수기</a:t>
            </a:r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</a:t>
            </a:r>
            <a:endParaRPr lang="en-US" sz="27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되기 위해.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938528" y="2011680"/>
            <a:ext cx="83146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에스프레카페는 공식적으로 36개월과 60개월 의무사용기간을 운영하는 중이다.
</a:t>
            </a:r>
            <a:pPr algn="ctr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즉 구매 빈도가 낮고 사용 기간이 긴 제품</a:t>
            </a:r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이므로, 2030의 첫 렌탈 시점에 후보군으로 진입하는 것 자체가 중요하다.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58368" y="2788920"/>
            <a:ext cx="5254600" cy="1325880"/>
          </a:xfrm>
          <a:prstGeom prst="roundRect">
            <a:avLst>
              <a:gd name="adj" fmla="val 6207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990088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과제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3337560"/>
            <a:ext cx="4742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신제품과 브랜드를 2030에게 효과적으로 알리는 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78728" y="2788920"/>
            <a:ext cx="5254600" cy="1325880"/>
          </a:xfrm>
          <a:prstGeom prst="roundRect">
            <a:avLst>
              <a:gd name="adj" fmla="val 6207"/>
            </a:avLst>
          </a:prstGeom>
          <a:solidFill>
            <a:srgbClr val="EAF1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4760" y="2990088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우리의 재해석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34760" y="3337560"/>
            <a:ext cx="47425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청호나이스를 부모님 집에서 보던 정수기에서, 내가 처음 고려하는 생활가전으로 전환하는 것.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0" y="466344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 브랜드 커뮤니케이션 단계별 전략 제안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465680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5680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노출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4400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020160" y="5047488"/>
            <a:ext cx="148132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20160" y="50474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관련성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501488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867248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7248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이해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55968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421728" y="5047488"/>
            <a:ext cx="74980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21728" y="5047488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171536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537296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0057FF"/>
          </a:solidFill>
          <a:ln/>
        </p:spPr>
      </p:sp>
      <p:sp>
        <p:nvSpPr>
          <p:cNvPr id="26" name="Text 24"/>
          <p:cNvSpPr/>
          <p:nvPr/>
        </p:nvSpPr>
        <p:spPr>
          <a:xfrm>
            <a:off x="8537296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 고려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전략 수립 과정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‘지피지기 백전불태 (知彼知己 百戰不殆)’</a:t>
            </a:r>
            <a:endParaRPr lang="en-US" sz="24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상황 진단 및 </a:t>
            </a:r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커뮤니케이션 전략</a:t>
            </a:r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제시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58368" y="2331720"/>
            <a:ext cx="52088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569464"/>
            <a:ext cx="466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· 현재 브랜드 상황 진단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950976" y="3072384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8" name="Text 6"/>
          <p:cNvSpPr/>
          <p:nvPr/>
        </p:nvSpPr>
        <p:spPr>
          <a:xfrm>
            <a:off x="1106424" y="2990088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정수기 브랜드의 카피와 동향 분석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50976" y="3493008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0" name="Text 8"/>
          <p:cNvSpPr/>
          <p:nvPr/>
        </p:nvSpPr>
        <p:spPr>
          <a:xfrm>
            <a:off x="1106424" y="3410712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커뮤니케이션의 현 주소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50976" y="3913632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06424" y="3831336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청호나이스의 기존 자산 분석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24448" y="2331720"/>
            <a:ext cx="52088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98768" y="2569464"/>
            <a:ext cx="466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· 커뮤니케이션 전략 제시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617056" y="3072384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6" name="Text 14"/>
          <p:cNvSpPr/>
          <p:nvPr/>
        </p:nvSpPr>
        <p:spPr>
          <a:xfrm>
            <a:off x="6772504" y="2990088"/>
            <a:ext cx="4468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 설정과 포지셔닝 제안
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독립생활 중인 2030에게 청호 얼음정수기와 함께하는 차별적인 홈카페 경험 제공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17056" y="3803904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8" name="Text 16"/>
          <p:cNvSpPr/>
          <p:nvPr/>
        </p:nvSpPr>
        <p:spPr>
          <a:xfrm>
            <a:off x="6772504" y="3721608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커뮤니케이션 : 청호나이스의 펭귄 마스코트 캐릭터 전략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617056" y="4224528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20" name="Text 18"/>
          <p:cNvSpPr/>
          <p:nvPr/>
        </p:nvSpPr>
        <p:spPr>
          <a:xfrm>
            <a:off x="6772504" y="4142232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오프라인 커뮤니케이션 캠페인 : 캐릭터 + 팝업스토어 아이디어 제안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58368" y="5029200"/>
            <a:ext cx="10874959" cy="749808"/>
          </a:xfrm>
          <a:prstGeom prst="roundRect">
            <a:avLst>
              <a:gd name="adj" fmla="val 10976"/>
            </a:avLst>
          </a:prstGeom>
          <a:solidFill>
            <a:srgbClr val="0057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" y="5029200"/>
            <a:ext cx="1032631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: 경쟁사의 전략과 청호나이스만의 자산을 살펴본 뒤, 2030에게 차별점을 어필할 수 있는 커뮤니케이션 전략을 수립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진단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카테고리 커뮤니케이션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청호나이스의 현재 커뮤니케이션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· 청호나이스만의 자산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브랜드마다 광고를 다르게 하지만,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소비자의 기억에는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비슷하게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남는다.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42316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275234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84378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얼음정수기, 슬림한 크기와 풍부한 제빙, IoT 맞춤 기능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51376" y="242316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브랜드B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51376" y="275234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284378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크고 단단한 얼음, 쉽게 녹지 않는 빙질과 위생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8368" y="349758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58368" y="382676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91820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100도 물맛과 드립커피 기능, 끓인 물 위생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151376" y="349758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151376" y="382676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6" name="Text 14"/>
          <p:cNvSpPr/>
          <p:nvPr/>
        </p:nvSpPr>
        <p:spPr>
          <a:xfrm>
            <a:off x="4334256" y="391820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음성제어, 맞춤 출수, 전 구간 고온 살균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836408" y="2423160"/>
            <a:ext cx="36969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반복되는 공통 언어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836408" y="2752344"/>
            <a:ext cx="90525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36408" y="2752344"/>
            <a:ext cx="905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 용량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3104" y="2752344"/>
            <a:ext cx="126187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33104" y="2752344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제빙 속도·빙질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0186416" y="2752344"/>
            <a:ext cx="90525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186416" y="2752344"/>
            <a:ext cx="905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살균·위생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836408" y="3136392"/>
            <a:ext cx="10241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36408" y="3136392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슬림한 크기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951976" y="3136392"/>
            <a:ext cx="10241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51976" y="3136392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컬러·디자인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10067544" y="3136392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67544" y="313639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앱·AI 기능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836408" y="3666744"/>
            <a:ext cx="3696919" cy="996696"/>
          </a:xfrm>
          <a:prstGeom prst="roundRect">
            <a:avLst>
              <a:gd name="adj" fmla="val 8257"/>
            </a:avLst>
          </a:prstGeom>
          <a:solidFill>
            <a:srgbClr val="F5F5F7"/>
          </a:solidFill>
          <a:ln/>
        </p:spPr>
      </p:sp>
      <p:sp>
        <p:nvSpPr>
          <p:cNvPr id="31" name="Text 29"/>
          <p:cNvSpPr/>
          <p:nvPr/>
        </p:nvSpPr>
        <p:spPr>
          <a:xfrm>
            <a:off x="8037576" y="3831336"/>
            <a:ext cx="3294583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치열한 경쟁 속에서도 브랜드들의 카피는 여전히 기능에 치중되어 있다. 청호나이스의 카피 역시 비슷해서, 소비자 입장에서는 뾰족한 차별점을 느끼기 어렵다.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각 사 2025 공식 캠페인·제품 페이지 종합. 브랜드명은 비교 목적상 익명 처리.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청호나이스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방향</a:t>
            </a:r>
            <a:endParaRPr lang="en-US" sz="2600" dirty="0"/>
          </a:p>
        </p:txBody>
      </p:sp>
      <p:pic>
        <p:nvPicPr>
          <p:cNvPr id="5" name="Image 0" descr="/home/user/CHAI-AI/assets/img/ad-coolcoo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920240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658368" y="3947865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청호나이스┃The M 얼음정수기 ‘시원시원’편 광고 30s</a:t>
            </a:r>
            <a:endParaRPr lang="en-US" sz="850" dirty="0"/>
          </a:p>
        </p:txBody>
      </p:sp>
      <p:pic>
        <p:nvPicPr>
          <p:cNvPr id="7" name="Image 1" descr="/home/user/CHAI-AI/assets/img/ad-lovelytre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74794" y="1920240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8" name="Text 4"/>
          <p:cNvSpPr/>
          <p:nvPr/>
        </p:nvSpPr>
        <p:spPr>
          <a:xfrm>
            <a:off x="4374794" y="3947865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청호나이스┃뉴 러블리트리 ‘러블리한 일상의 시작(캐릭터 ver.)’편 CF</a:t>
            </a:r>
            <a:endParaRPr lang="en-US" sz="850" dirty="0"/>
          </a:p>
        </p:txBody>
      </p:sp>
      <p:pic>
        <p:nvPicPr>
          <p:cNvPr id="9" name="Image 2" descr="/home/user/CHAI-AI/assets/img/ad-seongeutda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91221" y="1920240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0" name="Text 5"/>
          <p:cNvSpPr/>
          <p:nvPr/>
        </p:nvSpPr>
        <p:spPr>
          <a:xfrm>
            <a:off x="8091221" y="3947865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청호나이스┃The M 얼음정수기 ‘선긋다’편 광고 30s</a:t>
            </a:r>
            <a:endParaRPr lang="en-US" sz="850" dirty="0"/>
          </a:p>
        </p:txBody>
      </p:sp>
      <p:pic>
        <p:nvPicPr>
          <p:cNvPr id="11" name="Image 3" descr="/home/user/CHAI-AI/assets/img/ad-blackedition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4478217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2" name="Text 6"/>
          <p:cNvSpPr/>
          <p:nvPr/>
        </p:nvSpPr>
        <p:spPr>
          <a:xfrm>
            <a:off x="658368" y="6505842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청호나이스┃‘에스프레카페 블랙 에디션’ AI 활용 콘텐츠</a:t>
            </a:r>
            <a:endParaRPr lang="en-US" sz="850" dirty="0"/>
          </a:p>
        </p:txBody>
      </p:sp>
      <p:pic>
        <p:nvPicPr>
          <p:cNvPr id="13" name="Image 4" descr="/home/user/CHAI-AI/assets/img/ad-yeouido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374794" y="4478217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4" name="Text 7"/>
          <p:cNvSpPr/>
          <p:nvPr/>
        </p:nvSpPr>
        <p:spPr>
          <a:xfrm>
            <a:off x="4374794" y="6505842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청호나이스┃The M 여의도 상륙 작전 (숏폼)</a:t>
            </a:r>
            <a:endParaRPr lang="en-US" sz="850" dirty="0"/>
          </a:p>
        </p:txBody>
      </p:sp>
      <p:pic>
        <p:nvPicPr>
          <p:cNvPr id="15" name="Image 5" descr="/home/user/CHAI-AI/assets/img/ad-summer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091221" y="4478217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6" name="Text 8"/>
          <p:cNvSpPr/>
          <p:nvPr/>
        </p:nvSpPr>
        <p:spPr>
          <a:xfrm>
            <a:off x="8091221" y="6505842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찾았다 무더운 여름 시원하게 보내는 방법 (숏폼)</a:t>
            </a:r>
            <a:endParaRPr lang="en-US" sz="850" dirty="0"/>
          </a:p>
        </p:txBody>
      </p:sp>
      <p:sp>
        <p:nvSpPr>
          <p:cNvPr id="17" name="Text 9"/>
          <p:cNvSpPr/>
          <p:nvPr/>
        </p:nvSpPr>
        <p:spPr>
          <a:xfrm>
            <a:off x="658368" y="6053328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청호나이스 공식 유튜브</a:t>
            </a:r>
            <a:endParaRPr lang="en-US" sz="800" dirty="0"/>
          </a:p>
        </p:txBody>
      </p:sp>
      <p:sp>
        <p:nvSpPr>
          <p:cNvPr id="18" name="Text 1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9" name="Text 1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HAI-AI/assets/img/ad-coolcool.jpg">    </p:cNvPr>
          <p:cNvPicPr>
            <a:picLocks noChangeAspect="1"/>
          </p:cNvPicPr>
          <p:nvPr/>
        </p:nvPicPr>
        <p:blipFill>
          <a:blip r:embed="rId1">
            <a:alphaModFix amt="28000"/>
          </a:blip>
          <a:srcRect l="0" r="0" t="0" b="0"/>
          <a:stretch/>
        </p:blipFill>
        <p:spPr>
          <a:xfrm>
            <a:off x="658368" y="1600200"/>
            <a:ext cx="3442106" cy="1936185"/>
          </a:xfrm>
          <a:prstGeom prst="rect">
            <a:avLst/>
          </a:prstGeom>
        </p:spPr>
      </p:pic>
      <p:pic>
        <p:nvPicPr>
          <p:cNvPr id="3" name="Image 1" descr="/home/user/CHAI-AI/assets/img/ad-lovelytree.jpg">    </p:cNvPr>
          <p:cNvPicPr>
            <a:picLocks noChangeAspect="1"/>
          </p:cNvPicPr>
          <p:nvPr/>
        </p:nvPicPr>
        <p:blipFill>
          <a:blip r:embed="rId2">
            <a:alphaModFix amt="28000"/>
          </a:blip>
          <a:srcRect l="0" r="0" t="0" b="0"/>
          <a:stretch/>
        </p:blipFill>
        <p:spPr>
          <a:xfrm>
            <a:off x="4374794" y="1600200"/>
            <a:ext cx="3442106" cy="1936185"/>
          </a:xfrm>
          <a:prstGeom prst="rect">
            <a:avLst/>
          </a:prstGeom>
        </p:spPr>
      </p:pic>
      <p:pic>
        <p:nvPicPr>
          <p:cNvPr id="4" name="Image 2" descr="/home/user/CHAI-AI/assets/img/ad-seongeutda.jpg">    </p:cNvPr>
          <p:cNvPicPr>
            <a:picLocks noChangeAspect="1"/>
          </p:cNvPicPr>
          <p:nvPr/>
        </p:nvPicPr>
        <p:blipFill>
          <a:blip r:embed="rId3">
            <a:alphaModFix amt="28000"/>
          </a:blip>
          <a:srcRect l="0" r="0" t="0" b="0"/>
          <a:stretch/>
        </p:blipFill>
        <p:spPr>
          <a:xfrm>
            <a:off x="8091221" y="1600200"/>
            <a:ext cx="3442106" cy="1936185"/>
          </a:xfrm>
          <a:prstGeom prst="rect">
            <a:avLst/>
          </a:prstGeom>
        </p:spPr>
      </p:pic>
      <p:pic>
        <p:nvPicPr>
          <p:cNvPr id="5" name="Image 3" descr="/home/user/CHAI-AI/assets/img/ad-blackedition.jpg">    </p:cNvPr>
          <p:cNvPicPr>
            <a:picLocks noChangeAspect="1"/>
          </p:cNvPicPr>
          <p:nvPr/>
        </p:nvPicPr>
        <p:blipFill>
          <a:blip r:embed="rId4">
            <a:alphaModFix amt="28000"/>
          </a:blip>
          <a:srcRect l="0" r="0" t="0" b="0"/>
          <a:stretch/>
        </p:blipFill>
        <p:spPr>
          <a:xfrm>
            <a:off x="658368" y="3856425"/>
            <a:ext cx="3442106" cy="1936185"/>
          </a:xfrm>
          <a:prstGeom prst="rect">
            <a:avLst/>
          </a:prstGeom>
        </p:spPr>
      </p:pic>
      <p:pic>
        <p:nvPicPr>
          <p:cNvPr id="6" name="Image 4" descr="/home/user/CHAI-AI/assets/img/ad-yeouido.jpg">    </p:cNvPr>
          <p:cNvPicPr>
            <a:picLocks noChangeAspect="1"/>
          </p:cNvPicPr>
          <p:nvPr/>
        </p:nvPicPr>
        <p:blipFill>
          <a:blip r:embed="rId5">
            <a:alphaModFix amt="28000"/>
          </a:blip>
          <a:srcRect l="0" r="0" t="0" b="0"/>
          <a:stretch/>
        </p:blipFill>
        <p:spPr>
          <a:xfrm>
            <a:off x="4374794" y="3856425"/>
            <a:ext cx="3442106" cy="1936185"/>
          </a:xfrm>
          <a:prstGeom prst="rect">
            <a:avLst/>
          </a:prstGeom>
        </p:spPr>
      </p:pic>
      <p:pic>
        <p:nvPicPr>
          <p:cNvPr id="7" name="Image 5" descr="/home/user/CHAI-AI/assets/img/ad-summer.jpg">    </p:cNvPr>
          <p:cNvPicPr>
            <a:picLocks noChangeAspect="1"/>
          </p:cNvPicPr>
          <p:nvPr/>
        </p:nvPicPr>
        <p:blipFill>
          <a:blip r:embed="rId6">
            <a:alphaModFix amt="28000"/>
          </a:blip>
          <a:srcRect l="0" r="0" t="0" b="0"/>
          <a:stretch/>
        </p:blipFill>
        <p:spPr>
          <a:xfrm>
            <a:off x="8091221" y="3856425"/>
            <a:ext cx="3442106" cy="1936185"/>
          </a:xfrm>
          <a:prstGeom prst="rect">
            <a:avLst/>
          </a:prstGeom>
        </p:spPr>
      </p:pic>
      <p:sp>
        <p:nvSpPr>
          <p:cNvPr id="8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>
              <a:alpha val="78000"/>
            </a:srgbClr>
          </a:solidFill>
          <a:ln/>
        </p:spPr>
      </p:sp>
      <p:sp>
        <p:nvSpPr>
          <p:cNvPr id="9" name="Text 1"/>
          <p:cNvSpPr/>
          <p:nvPr/>
        </p:nvSpPr>
        <p:spPr>
          <a:xfrm>
            <a:off x="0" y="24688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Insight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0" y="283464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2030이 제품을 선택할 이유가,</a:t>
            </a:r>
            <a:endParaRPr lang="en-US" sz="3000" dirty="0"/>
          </a:p>
          <a:p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하나의 브랜드 인상</a:t>
            </a:r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남지 않는다.</a:t>
            </a:r>
            <a:endParaRPr lang="en-US" sz="3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자산을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전략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</a:t>
            </a:r>
            <a:endParaRPr lang="en-US" sz="2600" dirty="0"/>
          </a:p>
        </p:txBody>
      </p:sp>
      <p:pic>
        <p:nvPicPr>
          <p:cNvPr id="5" name="Image 0" descr="/home/user/CHAI-AI/assets/img/peng-the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658368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펭귄 광고 캐릭터</a:t>
            </a:r>
            <a:endParaRPr lang="en-US" sz="850" dirty="0"/>
          </a:p>
        </p:txBody>
      </p:sp>
      <p:pic>
        <p:nvPicPr>
          <p:cNvPr id="7" name="Image 1" descr="/home/user/CHAI-AI/assets/img/asset-mini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77251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8" name="Text 4"/>
          <p:cNvSpPr/>
          <p:nvPr/>
        </p:nvSpPr>
        <p:spPr>
          <a:xfrm>
            <a:off x="2877251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얼음정수기의 기술과 역사</a:t>
            </a:r>
            <a:endParaRPr lang="en-US" sz="850" dirty="0"/>
          </a:p>
        </p:txBody>
      </p:sp>
      <p:pic>
        <p:nvPicPr>
          <p:cNvPr id="9" name="Image 2" descr="/home/user/CHAI-AI/assets/img/asset-espre-new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096134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0" name="Text 5"/>
          <p:cNvSpPr/>
          <p:nvPr/>
        </p:nvSpPr>
        <p:spPr>
          <a:xfrm>
            <a:off x="5096134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 최초 커피 얼음정수기</a:t>
            </a:r>
            <a:endParaRPr lang="en-US" sz="850" dirty="0"/>
          </a:p>
        </p:txBody>
      </p:sp>
      <p:pic>
        <p:nvPicPr>
          <p:cNvPr id="11" name="Image 3" descr="/home/user/CHAI-AI/assets/img/asset-whicafe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315017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2" name="Text 6"/>
          <p:cNvSpPr/>
          <p:nvPr/>
        </p:nvSpPr>
        <p:spPr>
          <a:xfrm>
            <a:off x="7315017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 콘텐츠·휘카페 멤버십</a:t>
            </a:r>
            <a:endParaRPr lang="en-US" sz="850" dirty="0"/>
          </a:p>
        </p:txBody>
      </p:sp>
      <p:pic>
        <p:nvPicPr>
          <p:cNvPr id="13" name="Image 4" descr="/home/user/CHAI-AI/assets/img/peng-now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533900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4" name="Text 7"/>
          <p:cNvSpPr/>
          <p:nvPr/>
        </p:nvSpPr>
        <p:spPr>
          <a:xfrm>
            <a:off x="9533900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새로운 마스코트 캐릭터</a:t>
            </a:r>
            <a:endParaRPr lang="en-US" sz="850" dirty="0"/>
          </a:p>
        </p:txBody>
      </p:sp>
      <p:sp>
        <p:nvSpPr>
          <p:cNvPr id="15" name="Shape 8"/>
          <p:cNvSpPr/>
          <p:nvPr/>
        </p:nvSpPr>
        <p:spPr>
          <a:xfrm>
            <a:off x="658368" y="4352498"/>
            <a:ext cx="10874959" cy="0"/>
          </a:xfrm>
          <a:prstGeom prst="line">
            <a:avLst/>
          </a:prstGeom>
          <a:noFill/>
          <a:ln w="19050">
            <a:solidFill>
              <a:srgbClr val="E8E8E8"/>
            </a:solidFill>
            <a:prstDash val="solid"/>
          </a:ln>
        </p:spPr>
      </p:sp>
      <p:sp>
        <p:nvSpPr>
          <p:cNvPr id="16" name="Text 9"/>
          <p:cNvSpPr/>
          <p:nvPr/>
        </p:nvSpPr>
        <p:spPr>
          <a:xfrm>
            <a:off x="658368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1603218" y="4297634"/>
            <a:ext cx="109728" cy="109728"/>
          </a:xfrm>
          <a:prstGeom prst="ellipse">
            <a:avLst/>
          </a:prstGeom>
          <a:solidFill>
            <a:srgbClr val="0057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1"/>
          <p:cNvSpPr/>
          <p:nvPr/>
        </p:nvSpPr>
        <p:spPr>
          <a:xfrm>
            <a:off x="2877251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</a:t>
            </a:r>
            <a:endParaRPr lang="en-US" sz="1050" dirty="0"/>
          </a:p>
        </p:txBody>
      </p:sp>
      <p:sp>
        <p:nvSpPr>
          <p:cNvPr id="19" name="Shape 12"/>
          <p:cNvSpPr/>
          <p:nvPr/>
        </p:nvSpPr>
        <p:spPr>
          <a:xfrm>
            <a:off x="3822101" y="4297634"/>
            <a:ext cx="109728" cy="109728"/>
          </a:xfrm>
          <a:prstGeom prst="ellipse">
            <a:avLst/>
          </a:prstGeom>
          <a:solidFill>
            <a:srgbClr val="0057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3"/>
          <p:cNvSpPr/>
          <p:nvPr/>
        </p:nvSpPr>
        <p:spPr>
          <a:xfrm>
            <a:off x="5096134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얼음정수기</a:t>
            </a:r>
            <a:endParaRPr lang="en-US" sz="1050" dirty="0"/>
          </a:p>
        </p:txBody>
      </p:sp>
      <p:sp>
        <p:nvSpPr>
          <p:cNvPr id="21" name="Shape 14"/>
          <p:cNvSpPr/>
          <p:nvPr/>
        </p:nvSpPr>
        <p:spPr>
          <a:xfrm>
            <a:off x="6040984" y="4297634"/>
            <a:ext cx="109728" cy="109728"/>
          </a:xfrm>
          <a:prstGeom prst="ellipse">
            <a:avLst/>
          </a:prstGeom>
          <a:solidFill>
            <a:srgbClr val="0057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5"/>
          <p:cNvSpPr/>
          <p:nvPr/>
        </p:nvSpPr>
        <p:spPr>
          <a:xfrm>
            <a:off x="7315017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8259867" y="4297634"/>
            <a:ext cx="109728" cy="109728"/>
          </a:xfrm>
          <a:prstGeom prst="ellipse">
            <a:avLst/>
          </a:prstGeom>
          <a:solidFill>
            <a:srgbClr val="0057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9533900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10478750" y="4297634"/>
            <a:ext cx="109728" cy="109728"/>
          </a:xfrm>
          <a:prstGeom prst="ellipse">
            <a:avLst/>
          </a:prstGeom>
          <a:solidFill>
            <a:srgbClr val="1E9BE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658368" y="594360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‘세계 최초’·판매량 표현은 최종 제출 전 공식 자료로 재확인.</a:t>
            </a:r>
            <a:endParaRPr lang="en-US" sz="800" dirty="0"/>
          </a:p>
        </p:txBody>
      </p:sp>
      <p:sp>
        <p:nvSpPr>
          <p:cNvPr id="27" name="Text 20"/>
          <p:cNvSpPr/>
          <p:nvPr/>
        </p:nvSpPr>
        <p:spPr>
          <a:xfrm>
            <a:off x="7327087" y="5943600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새로 만들 것이 아니라, 이미 있는 것을 다시 묶는다.</a:t>
            </a:r>
            <a:endParaRPr lang="en-US" sz="950" dirty="0"/>
          </a:p>
        </p:txBody>
      </p:sp>
      <p:sp>
        <p:nvSpPr>
          <p:cNvPr id="28" name="Text 2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9" name="Text 2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 &amp; 인사이트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· 핵심 타깃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· 생활 시나리오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· 현실적인 경제성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· 핵심 인사이트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우리의 타깃은 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소비가 큰 독립 ‘2030’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생활자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2286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타깃은 2030 중에서도 반복적인 소비가 큰 독립 1~2인 가구다.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978408" y="2926080"/>
            <a:ext cx="0" cy="2743200"/>
          </a:xfrm>
          <a:prstGeom prst="line">
            <a:avLst/>
          </a:prstGeom>
          <a:noFill/>
          <a:ln w="19050">
            <a:solidFill>
              <a:srgbClr val="19191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5669280"/>
            <a:ext cx="2743200" cy="0"/>
          </a:xfrm>
          <a:prstGeom prst="line">
            <a:avLst/>
          </a:prstGeom>
          <a:noFill/>
          <a:ln w="19050">
            <a:solidFill>
              <a:srgbClr val="19191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29992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1124712" y="29992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지불 의향은 높지만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 빈도 낮음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423160" y="29992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0057FF"/>
          </a:solidFill>
          <a:ln/>
        </p:spPr>
      </p:sp>
      <p:sp>
        <p:nvSpPr>
          <p:cNvPr id="11" name="Text 9"/>
          <p:cNvSpPr/>
          <p:nvPr/>
        </p:nvSpPr>
        <p:spPr>
          <a:xfrm>
            <a:off x="2496312" y="29992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타깃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 크고 지불 의향 높음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051560" y="43708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1124712" y="43708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저관여 소비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23160" y="43708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2496312" y="43708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소비는 많지만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지불 의향 낮음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78408" y="574243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커피·생수 소비 빈도 →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 rot="16200000">
            <a:off x="-704088" y="417880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준비·관리 감소 지불 의향 →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47488" y="658368"/>
            <a:ext cx="6485839" cy="5541264"/>
          </a:xfrm>
          <a:prstGeom prst="roundRect">
            <a:avLst>
              <a:gd name="adj" fmla="val 1485"/>
            </a:avLst>
          </a:prstGeom>
          <a:solidFill>
            <a:srgbClr val="F5F5F7"/>
          </a:solidFill>
          <a:ln/>
        </p:spPr>
      </p:sp>
      <p:sp>
        <p:nvSpPr>
          <p:cNvPr id="19" name="Shape 17"/>
          <p:cNvSpPr/>
          <p:nvPr/>
        </p:nvSpPr>
        <p:spPr>
          <a:xfrm>
            <a:off x="5321808" y="932688"/>
            <a:ext cx="777240" cy="777240"/>
          </a:xfrm>
          <a:prstGeom prst="ellipse">
            <a:avLst/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376672" y="987552"/>
            <a:ext cx="66751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[인물]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81928" y="932688"/>
            <a:ext cx="52056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내부 타깃명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81928" y="1133856"/>
            <a:ext cx="5205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 루틴러 · 2030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281928" y="1463040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27~34세 · 1~2인 가구 · 독립 1~5년차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321808" y="2029968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아이스커피 주 4회 이상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321808" y="2414016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생수 구매 경험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321808" y="2798064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운동·영양·수면 등 자기관리와 생산성에 소비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321808" y="3182112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시간과 편의를 위해 비용을 지불한 경험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321808" y="5513832"/>
            <a:ext cx="59371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‘웰니스 2030’은 너무 넓다. 세대가 아니라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소비와 지불 의향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좁힌다.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마실 때마다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고민하지 않아도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된다는 것</a:t>
            </a:r>
            <a:endParaRPr lang="en-US" sz="2600" dirty="0"/>
          </a:p>
        </p:txBody>
      </p:sp>
      <p:pic>
        <p:nvPicPr>
          <p:cNvPr id="5" name="Image 0" descr="/home/user/CHAI-AI/assets/img/peng-hom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011680"/>
            <a:ext cx="3337560" cy="2194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658368" y="431596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물과 커피는 하루에 여러 번 필요하다. 문제는 마시는 순간이 아니라 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그때마다 다시 정해야 하는 일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544568" y="1874520"/>
            <a:ext cx="4333031" cy="658368"/>
          </a:xfrm>
          <a:prstGeom prst="roundRect">
            <a:avLst>
              <a:gd name="adj" fmla="val 19444"/>
            </a:avLst>
          </a:prstGeom>
          <a:solidFill>
            <a:srgbClr val="0057FF"/>
          </a:solidFill>
          <a:ln/>
        </p:spPr>
      </p:sp>
      <p:sp>
        <p:nvSpPr>
          <p:cNvPr id="8" name="Text 5"/>
          <p:cNvSpPr/>
          <p:nvPr/>
        </p:nvSpPr>
        <p:spPr>
          <a:xfrm>
            <a:off x="4745736" y="1874520"/>
            <a:ext cx="39306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우리의 일상에서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물과 커피를 필요로 하는 순간은?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802545" y="2770632"/>
            <a:ext cx="5730783" cy="658368"/>
          </a:xfrm>
          <a:prstGeom prst="roundRect">
            <a:avLst>
              <a:gd name="adj" fmla="val 19444"/>
            </a:avLst>
          </a:prstGeom>
          <a:solidFill>
            <a:srgbClr val="F5F5F7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03713" y="2770632"/>
            <a:ext cx="532844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아침엔 물 한 잔, 출근길엔 테이크아웃 커피, 오후엔 아이스커피, 운동 후엔 냉수까지. 하루에도 여러 번 마주쳐요.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44568" y="3666744"/>
            <a:ext cx="4333031" cy="658368"/>
          </a:xfrm>
          <a:prstGeom prst="roundRect">
            <a:avLst>
              <a:gd name="adj" fmla="val 19444"/>
            </a:avLst>
          </a:prstGeom>
          <a:solidFill>
            <a:srgbClr val="0057FF"/>
          </a:solidFill>
          <a:ln/>
        </p:spPr>
      </p:sp>
      <p:sp>
        <p:nvSpPr>
          <p:cNvPr id="12" name="Text 9"/>
          <p:cNvSpPr/>
          <p:nvPr/>
        </p:nvSpPr>
        <p:spPr>
          <a:xfrm>
            <a:off x="4745736" y="3666744"/>
            <a:ext cx="39306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근데 이런 걸 다 챙기는 게,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매번 가능할까요?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802545" y="4562856"/>
            <a:ext cx="5730783" cy="658368"/>
          </a:xfrm>
          <a:prstGeom prst="roundRect">
            <a:avLst>
              <a:gd name="adj" fmla="val 19444"/>
            </a:avLst>
          </a:prstGeom>
          <a:solidFill>
            <a:srgbClr val="F5F5F7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03713" y="4562856"/>
            <a:ext cx="532844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하긴 하는데, 번거로울 땐 그냥 편의점에 가게 돼요. 생수를 사거나, 얼음을 사거나 하는거죠.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58368" y="5961888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발화를 옮긴 것으로, 실제 응답으로 교체 예정.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7327087" y="5961888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이 반복이 쌓이면 매달 나가는 비용과 시간이 된다.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모두에게 싸지는 않다.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쓰는 사람에게는 </a:t>
            </a:r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합칠 이유</a:t>
            </a:r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 있다.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2423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‘더 싸게’를 무리하게 주장하기보다, 많이 쓰는 사람에게 합칠 이유가 있다고 말하는 편이 신뢰도가 높다.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58368" y="4937760"/>
            <a:ext cx="3566160" cy="914400"/>
          </a:xfrm>
          <a:prstGeom prst="roundRect">
            <a:avLst>
              <a:gd name="adj" fmla="val 900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50474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에스프레카페는 저빈도 소비자보다, 물과 아이스커피를 반복 구매하는 생활자에게 더 설득력 있는 </a:t>
            </a:r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대안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636008" y="658368"/>
            <a:ext cx="68973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3가지 소비 시나리오의 월 지출 (개념 비교)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36008" y="3948379"/>
            <a:ext cx="822960" cy="395021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10" name="Shape 8"/>
          <p:cNvSpPr/>
          <p:nvPr/>
        </p:nvSpPr>
        <p:spPr>
          <a:xfrm>
            <a:off x="4636008" y="3602736"/>
            <a:ext cx="822960" cy="345643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1" name="Shape 9"/>
          <p:cNvSpPr/>
          <p:nvPr/>
        </p:nvSpPr>
        <p:spPr>
          <a:xfrm>
            <a:off x="4636008" y="3355848"/>
            <a:ext cx="822960" cy="246888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12" name="Text 10"/>
          <p:cNvSpPr/>
          <p:nvPr/>
        </p:nvSpPr>
        <p:spPr>
          <a:xfrm>
            <a:off x="4498848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저빈도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가구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60794" y="3810122"/>
            <a:ext cx="822960" cy="533278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660794" y="3010205"/>
            <a:ext cx="822960" cy="799917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60794" y="2565806"/>
            <a:ext cx="822960" cy="444398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16" name="Text 14"/>
          <p:cNvSpPr/>
          <p:nvPr/>
        </p:nvSpPr>
        <p:spPr>
          <a:xfrm>
            <a:off x="6523634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타깃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가구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85581" y="3679765"/>
            <a:ext cx="822960" cy="663635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18" name="Shape 16"/>
          <p:cNvSpPr/>
          <p:nvPr/>
        </p:nvSpPr>
        <p:spPr>
          <a:xfrm>
            <a:off x="8685581" y="2542105"/>
            <a:ext cx="822960" cy="1137660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9" name="Shape 17"/>
          <p:cNvSpPr/>
          <p:nvPr/>
        </p:nvSpPr>
        <p:spPr>
          <a:xfrm>
            <a:off x="8685581" y="1973275"/>
            <a:ext cx="822960" cy="568830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20" name="Text 18"/>
          <p:cNvSpPr/>
          <p:nvPr/>
        </p:nvSpPr>
        <p:spPr>
          <a:xfrm>
            <a:off x="8548421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고빈도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가구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710367" y="2862072"/>
            <a:ext cx="822960" cy="1481328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573207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36008" y="5065776"/>
            <a:ext cx="109728" cy="109728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24" name="Text 22"/>
          <p:cNvSpPr/>
          <p:nvPr/>
        </p:nvSpPr>
        <p:spPr>
          <a:xfrm>
            <a:off x="4818888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394960" y="5065776"/>
            <a:ext cx="109728" cy="109728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26" name="Text 24"/>
          <p:cNvSpPr/>
          <p:nvPr/>
        </p:nvSpPr>
        <p:spPr>
          <a:xfrm>
            <a:off x="5577840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카페 커피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37960" y="5065776"/>
            <a:ext cx="109728" cy="109728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28" name="Text 26"/>
          <p:cNvSpPr/>
          <p:nvPr/>
        </p:nvSpPr>
        <p:spPr>
          <a:xfrm>
            <a:off x="6720840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얼음·캡슐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680960" y="5065776"/>
            <a:ext cx="109728" cy="109728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0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렌탈료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36008" y="5413248"/>
            <a:ext cx="68973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금액은 누적 막대. 실제 금액은 시나리오별 계산(생수·카페 커피·얼음/캡슐·렌탈료·원료비·전기료·시간)으로 확정.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 · 핵심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60020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루틴은 의지가 아니라,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준비에서</a:t>
            </a:r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무너진다.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58368" y="3291840"/>
            <a:ext cx="52546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3493008"/>
            <a:ext cx="479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발화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3803904"/>
            <a:ext cx="479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“막상 얼리는 게 귀찮아서 홈카페를 자주 포기해요.”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86968" y="4663440"/>
            <a:ext cx="479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응답으로 교체 예정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278728" y="3291840"/>
            <a:ext cx="52546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3493008"/>
            <a:ext cx="479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설문 결과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07328" y="3803904"/>
            <a:ext cx="479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홈카페를 자주 포기하는 이유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1위 얼음 준비 · 2위 세척 · 3위 시간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07328" y="4553712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0F0F0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07328" y="455371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 후 수치 반영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지금은 숫자를 채우지 않고 조사 예정 위치만 정한다.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전략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· 제품이 맡을 역할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· 왜 캐릭터인가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· 되살린 사례 · 두꺼비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· 왜 펭귄인가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· 펭귄의 역할 정의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· 펭귄 자산 검증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01 제품이 맡을 역할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‘기능이 많은 정수기’가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준비를 끝내주는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가전으로.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46888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Proposition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274320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따로 준비하던</a:t>
            </a:r>
            <a:endParaRPr lang="en-US" sz="15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물·얼음·커피를 하나로.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365760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Role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9319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사용자가 신경 쓰기 전에, 생활의 기본을 준비하는 브랜드.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90488" y="3063240"/>
            <a:ext cx="1463040" cy="1463040"/>
          </a:xfrm>
          <a:prstGeom prst="ellipse">
            <a:avLst/>
          </a:prstGeom>
          <a:solidFill>
            <a:srgbClr val="0057FF"/>
          </a:solidFill>
          <a:ln/>
          <a:effectLst>
            <a:outerShdw sx="100000" sy="100000" kx="0" ky="0" algn="bl" rotWithShape="0" blurRad="177800" dist="50800" dir="5400000">
              <a:srgbClr val="191919">
                <a:alpha val="2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81928" y="3063240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
</a:t>
            </a:r>
            <a:pPr algn="ctr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 · 얼음 · 커피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84448" y="2990088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4448" y="242316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 구매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19288" y="2990088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19288" y="2423160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 · 냉수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84448" y="3557016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84448" y="299008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 준비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19288" y="3557016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19288" y="2990088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584448" y="4123944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84448" y="3557016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구매·제조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19288" y="4123944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19288" y="3557016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추출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584448" y="4690872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84448" y="412394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세척·위생 걱정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19288" y="4690872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19288" y="4123944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세척·관리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84448" y="5257800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84448" y="469087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제품의 공간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019288" y="5257800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19288" y="4690872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올인원 구조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0" y="594360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왼쪽은 줄어드는 일,  →  오른쪽은 제품이 제공하는 것. 제품을 가운데 두어 연결한다.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02 왜 캐릭터인가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987552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캐릭터가 왜 통하는지는 이미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연구되어 있다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210312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작동하는가 · 학술 근거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58368" y="2359152"/>
            <a:ext cx="4069080" cy="82296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46888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아무 캐릭터나 통하지는 않는다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" y="2688336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사물에 사람 성격을 입히면 사람들은 그 대상을 더 좋게 본다. 다만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제품의 특징과 그 성격이 맞을 때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 그렇다.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41248" y="2999232"/>
            <a:ext cx="3703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Aggarwal &amp; McGill, Journal of Consumer Research (2007)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658368" y="3255264"/>
            <a:ext cx="4069080" cy="82296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3364992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신뢰가 브랜드로 옮겨간다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1248" y="358444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캐릭터를 믿게 되면 그 호감이 브랜드로 넘어간다. 그 브랜드를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모르는 사람일수록 효과가 컸다.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청호나이스를 아직 모르는 2030이 여기 해당한다.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41248" y="3895344"/>
            <a:ext cx="3703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Garretson &amp; Niedrich, Journal of Advertising (2004)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58368" y="4151376"/>
            <a:ext cx="4069080" cy="82296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" y="4261104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반복하면 기억의 단서가 된다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41248" y="448056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캐릭터를 오래 쓰면 브랜드를 떠올리게 하는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구별 자산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된다. 인지도와 고유성 두 축으로 관리한다.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41248" y="4791456"/>
            <a:ext cx="3703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Romaniuk, Ehrenberg-Bass. 16장 검증 설계가 이 두 축을 쓴다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230368" y="2103120"/>
            <a:ext cx="6302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효과가 있었는가 · 광고 효과 조사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230368" y="2359152"/>
            <a:ext cx="6302959" cy="713232"/>
          </a:xfrm>
          <a:prstGeom prst="roundRect">
            <a:avLst>
              <a:gd name="adj" fmla="val 11538"/>
            </a:avLst>
          </a:prstGeom>
          <a:solidFill>
            <a:srgbClr val="F5F5F7"/>
          </a:solidFill>
          <a:ln/>
        </p:spPr>
      </p:sp>
      <p:sp>
        <p:nvSpPr>
          <p:cNvPr id="20" name="Text 18"/>
          <p:cNvSpPr/>
          <p:nvPr/>
        </p:nvSpPr>
        <p:spPr>
          <a:xfrm>
            <a:off x="5413248" y="2450592"/>
            <a:ext cx="59371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조사기관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System1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미국 슈퍼볼 광고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2020~2023년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분을 분석했다. 시청자의 감정 반응을 측정해, 그 광고가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장기적으로 브랜드를 키울 가능성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1.0~5.9점으로 환산한 점수다.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30368" y="316382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연예인을 쓴 광고  37%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729984" y="3200400"/>
            <a:ext cx="4327855" cy="237744"/>
          </a:xfrm>
          <a:prstGeom prst="roundRect">
            <a:avLst>
              <a:gd name="adj" fmla="val 19231"/>
            </a:avLst>
          </a:prstGeom>
          <a:solidFill>
            <a:srgbClr val="F0F0F0"/>
          </a:solidFill>
          <a:ln/>
        </p:spPr>
      </p:sp>
      <p:sp>
        <p:nvSpPr>
          <p:cNvPr id="23" name="Shape 21"/>
          <p:cNvSpPr/>
          <p:nvPr/>
        </p:nvSpPr>
        <p:spPr>
          <a:xfrm>
            <a:off x="6729984" y="3200400"/>
            <a:ext cx="1589824" cy="237744"/>
          </a:xfrm>
          <a:prstGeom prst="roundRect">
            <a:avLst>
              <a:gd name="adj" fmla="val 19231"/>
            </a:avLst>
          </a:prstGeom>
          <a:solidFill>
            <a:srgbClr val="BFC0C4"/>
          </a:solidFill>
          <a:ln/>
        </p:spPr>
      </p:sp>
      <p:sp>
        <p:nvSpPr>
          <p:cNvPr id="24" name="Text 22"/>
          <p:cNvSpPr/>
          <p:nvPr/>
        </p:nvSpPr>
        <p:spPr>
          <a:xfrm>
            <a:off x="11112703" y="32004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230368" y="3511296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 없는 광고  38%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729984" y="3547872"/>
            <a:ext cx="4327855" cy="237744"/>
          </a:xfrm>
          <a:prstGeom prst="roundRect">
            <a:avLst>
              <a:gd name="adj" fmla="val 19231"/>
            </a:avLst>
          </a:prstGeom>
          <a:solidFill>
            <a:srgbClr val="F0F0F0"/>
          </a:solidFill>
          <a:ln/>
        </p:spPr>
      </p:sp>
      <p:sp>
        <p:nvSpPr>
          <p:cNvPr id="27" name="Shape 25"/>
          <p:cNvSpPr/>
          <p:nvPr/>
        </p:nvSpPr>
        <p:spPr>
          <a:xfrm>
            <a:off x="6729984" y="3547872"/>
            <a:ext cx="1589824" cy="237744"/>
          </a:xfrm>
          <a:prstGeom prst="roundRect">
            <a:avLst>
              <a:gd name="adj" fmla="val 19231"/>
            </a:avLst>
          </a:prstGeom>
          <a:solidFill>
            <a:srgbClr val="BFC0C4"/>
          </a:solidFill>
          <a:ln/>
        </p:spPr>
      </p:sp>
      <p:sp>
        <p:nvSpPr>
          <p:cNvPr id="28" name="Text 26"/>
          <p:cNvSpPr/>
          <p:nvPr/>
        </p:nvSpPr>
        <p:spPr>
          <a:xfrm>
            <a:off x="11112703" y="35478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230368" y="3858768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브랜드가 소유한</a:t>
            </a:r>
            <a:endParaRPr lang="en-US" sz="9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캐릭터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729984" y="3895344"/>
            <a:ext cx="4327855" cy="237744"/>
          </a:xfrm>
          <a:prstGeom prst="roundRect">
            <a:avLst>
              <a:gd name="adj" fmla="val 19231"/>
            </a:avLst>
          </a:prstGeom>
          <a:solidFill>
            <a:srgbClr val="F0F0F0"/>
          </a:solidFill>
          <a:ln/>
        </p:spPr>
      </p:sp>
      <p:sp>
        <p:nvSpPr>
          <p:cNvPr id="31" name="Shape 29"/>
          <p:cNvSpPr/>
          <p:nvPr/>
        </p:nvSpPr>
        <p:spPr>
          <a:xfrm>
            <a:off x="6729984" y="3895344"/>
            <a:ext cx="2384737" cy="237744"/>
          </a:xfrm>
          <a:prstGeom prst="roundRect">
            <a:avLst>
              <a:gd name="adj" fmla="val 19231"/>
            </a:avLst>
          </a:prstGeom>
          <a:solidFill>
            <a:srgbClr val="0057FF"/>
          </a:solidFill>
          <a:ln/>
        </p:spPr>
      </p:sp>
      <p:sp>
        <p:nvSpPr>
          <p:cNvPr id="32" name="Text 30"/>
          <p:cNvSpPr/>
          <p:nvPr/>
        </p:nvSpPr>
        <p:spPr>
          <a:xfrm>
            <a:off x="11112703" y="389534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729984" y="419709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1.0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7612866" y="419709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보통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8495749" y="419709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양호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9378631" y="419709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강함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0754889" y="419709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5.9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5230368" y="4425696"/>
            <a:ext cx="63029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수십 년째 같은 캐릭터를 쓰는 브랜드들</a:t>
            </a:r>
            <a:endParaRPr lang="en-US" sz="950" dirty="0"/>
          </a:p>
        </p:txBody>
      </p:sp>
      <p:pic>
        <p:nvPicPr>
          <p:cNvPr id="39" name="Image 0" descr="/home/user/CHAI-AI/assets/img/mascot-micheli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30368" y="4663440"/>
            <a:ext cx="1991258" cy="51206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40" name="Text 37"/>
          <p:cNvSpPr/>
          <p:nvPr/>
        </p:nvSpPr>
        <p:spPr>
          <a:xfrm>
            <a:off x="5230368" y="5212080"/>
            <a:ext cx="19912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미쉐린 비벤덤 1898~</a:t>
            </a:r>
            <a:endParaRPr lang="en-US" sz="700" dirty="0"/>
          </a:p>
        </p:txBody>
      </p:sp>
      <p:pic>
        <p:nvPicPr>
          <p:cNvPr id="41" name="Image 1" descr="/home/user/CHAI-AI/assets/img/mascot-ronald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86218" y="4663440"/>
            <a:ext cx="1991258" cy="51206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42" name="Text 38"/>
          <p:cNvSpPr/>
          <p:nvPr/>
        </p:nvSpPr>
        <p:spPr>
          <a:xfrm>
            <a:off x="7386218" y="5212080"/>
            <a:ext cx="19912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맥도날드 로날드 1963~</a:t>
            </a:r>
            <a:endParaRPr lang="en-US" sz="700" dirty="0"/>
          </a:p>
        </p:txBody>
      </p:sp>
      <p:pic>
        <p:nvPicPr>
          <p:cNvPr id="43" name="Image 2" descr="/home/user/CHAI-AI/assets/img/mascot-doughboy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542069" y="4663440"/>
            <a:ext cx="1991258" cy="51206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44" name="Text 39"/>
          <p:cNvSpPr/>
          <p:nvPr/>
        </p:nvSpPr>
        <p:spPr>
          <a:xfrm>
            <a:off x="9542069" y="5212080"/>
            <a:ext cx="19912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필즈베리 도우보이 1965~</a:t>
            </a:r>
            <a:endParaRPr lang="en-US" sz="700" dirty="0"/>
          </a:p>
        </p:txBody>
      </p:sp>
      <p:sp>
        <p:nvSpPr>
          <p:cNvPr id="45" name="Shape 40"/>
          <p:cNvSpPr/>
          <p:nvPr/>
        </p:nvSpPr>
        <p:spPr>
          <a:xfrm>
            <a:off x="658368" y="5468112"/>
            <a:ext cx="10874959" cy="658368"/>
          </a:xfrm>
          <a:prstGeom prst="roundRect">
            <a:avLst>
              <a:gd name="adj" fmla="val 12500"/>
            </a:avLst>
          </a:prstGeom>
          <a:solidFill>
            <a:srgbClr val="0057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658368" y="555040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이론에서도, 실제 광고 성적에서도 같은 쪽을 가리킨다.</a:t>
            </a:r>
            <a:endParaRPr lang="en-US" sz="1450" dirty="0"/>
          </a:p>
        </p:txBody>
      </p:sp>
      <p:sp>
        <p:nvSpPr>
          <p:cNvPr id="47" name="Text 42"/>
          <p:cNvSpPr/>
          <p:nvPr/>
        </p:nvSpPr>
        <p:spPr>
          <a:xfrm>
            <a:off x="658368" y="58338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DCE6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연예인의 주목은 빌려 쓰는 것이고, 캐릭터는 브랜드에 남는다. 정수기 광고에는 아직 그런 캐릭터가 없다.</a:t>
            </a:r>
            <a:endParaRPr lang="en-US" sz="950" dirty="0"/>
          </a:p>
        </p:txBody>
      </p:sp>
      <p:sp>
        <p:nvSpPr>
          <p:cNvPr id="48" name="Text 43"/>
          <p:cNvSpPr/>
          <p:nvPr/>
        </p:nvSpPr>
        <p:spPr>
          <a:xfrm>
            <a:off x="658368" y="6236208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Aggarwal &amp; McGill(2007) · Garretson &amp; Niedrich(2004) · Romaniuk, Ehrenberg-Bass · System1 슈퍼볼 광고 2020~2023 분석.</a:t>
            </a:r>
            <a:endParaRPr lang="en-US" sz="750" dirty="0"/>
          </a:p>
        </p:txBody>
      </p:sp>
      <p:sp>
        <p:nvSpPr>
          <p:cNvPr id="49" name="Text 44"/>
          <p:cNvSpPr/>
          <p:nvPr/>
        </p:nvSpPr>
        <p:spPr>
          <a:xfrm>
            <a:off x="7875727" y="62179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그런데 우리는 캐릭터를 새로 만들 필요가 없다.</a:t>
            </a:r>
            <a:endParaRPr lang="en-US" sz="900" dirty="0"/>
          </a:p>
        </p:txBody>
      </p:sp>
      <p:sp>
        <p:nvSpPr>
          <p:cNvPr id="50" name="Text 4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51" name="Text 4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03 되살린 사례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05840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잠들어 있던 두꺼비를,</a:t>
            </a:r>
            <a:endParaRPr lang="en-US" sz="2200" dirty="0"/>
          </a:p>
          <a:p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자리에 </a:t>
            </a:r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앉혔다</a:t>
            </a:r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58368" y="2121408"/>
            <a:ext cx="10874959" cy="365760"/>
          </a:xfrm>
          <a:prstGeom prst="roundRect">
            <a:avLst>
              <a:gd name="adj" fmla="val 22500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2121408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리트로 브랜딩 연구는 성공한 부활을 </a:t>
            </a:r>
            <a:pPr indent="0" marL="0">
              <a:buNone/>
            </a:pPr>
            <a:r>
              <a:rPr lang="en-US" sz="9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과거의 의미에 지금의 기능을 얹은 것</a:t>
            </a:r>
            <a:pPr indent="0" marL="0">
              <a:buNone/>
            </a:pPr>
            <a:r>
              <a:rPr lang="en-US" sz="9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설명한다. 두꺼비가 밟은 순서가 그대로다.  Brown, Kozinets &amp; Sherry, Journal of Marketing (2003)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58368" y="2651760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잠들어 있던 자산</a:t>
            </a:r>
            <a:endParaRPr lang="en-US" sz="1050" dirty="0"/>
          </a:p>
        </p:txBody>
      </p:sp>
      <p:pic>
        <p:nvPicPr>
          <p:cNvPr id="8" name="Image 0" descr="/home/user/CHAI-AI/assets/img/jinro-isbac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926080"/>
            <a:ext cx="2788920" cy="146304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9" name="Text 6"/>
          <p:cNvSpPr/>
          <p:nvPr/>
        </p:nvSpPr>
        <p:spPr>
          <a:xfrm>
            <a:off x="658368" y="4443984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1950년대 진로 상표의 두꺼비. 1990년대에 광고에서 사라졌다가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2019년 4월 ‘진로 이즈백’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돌아왔다.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658368" y="484632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뒷벽에 옛 두꺼비 그림이 걸려 있다.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3703320" y="2651760"/>
            <a:ext cx="60012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바꿨나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703320" y="2944368"/>
            <a:ext cx="6001207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867912" y="30358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4197096" y="3017520"/>
            <a:ext cx="5342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외형은 복원하고, 타깃은 옮겼다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197096" y="3227832"/>
            <a:ext cx="5342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70~80년대 라벨과 캐릭터는 그대로 살리되, 말을 거는 세대를 2030으로 바꿨다.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3703320" y="3566160"/>
            <a:ext cx="6001207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867912" y="365760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197096" y="3639312"/>
            <a:ext cx="5342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캐릭터만 바꾸지 않았다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197096" y="3849624"/>
            <a:ext cx="5342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도수를 16.9도로 낮춰 제품 자체를 젊은 층 입맛에 맞췄다. 캐릭터와 제품이 같은 말을 했다.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703320" y="4187952"/>
            <a:ext cx="6001207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67912" y="4279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4197096" y="4261104"/>
            <a:ext cx="5342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편으로 끝내지 않았다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197096" y="4471416"/>
            <a:ext cx="5342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 ‘두껍상회’·굿즈·인스타 숏폼·웹예능으로 같은 캐릭터를 반복해 쌓았다.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9960559" y="2651760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960559" y="2944368"/>
            <a:ext cx="1572768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960559" y="3008376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10015423" y="325526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출시 연간 판매 목표</a:t>
            </a:r>
            <a:endParaRPr lang="en-US" sz="75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달성까지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9960559" y="3566160"/>
            <a:ext cx="1572768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960559" y="3630168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15억 병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0015423" y="387705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4년 만의 누적 판매</a:t>
            </a:r>
            <a:endParaRPr lang="en-US" sz="75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(2023.4)</a:t>
            </a:r>
            <a:endParaRPr lang="en-US" sz="750" dirty="0"/>
          </a:p>
        </p:txBody>
      </p:sp>
      <p:sp>
        <p:nvSpPr>
          <p:cNvPr id="31" name="Shape 28"/>
          <p:cNvSpPr/>
          <p:nvPr/>
        </p:nvSpPr>
        <p:spPr>
          <a:xfrm>
            <a:off x="9960559" y="4187952"/>
            <a:ext cx="1572768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960559" y="425196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45만 명</a:t>
            </a:r>
            <a:endParaRPr lang="en-US" sz="1500" dirty="0"/>
          </a:p>
        </p:txBody>
      </p:sp>
      <p:sp>
        <p:nvSpPr>
          <p:cNvPr id="33" name="Text 30"/>
          <p:cNvSpPr/>
          <p:nvPr/>
        </p:nvSpPr>
        <p:spPr>
          <a:xfrm>
            <a:off x="10015423" y="449884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캐릭터샵 ‘두껍상회’</a:t>
            </a:r>
            <a:endParaRPr lang="en-US" sz="75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방문</a:t>
            </a:r>
            <a:endParaRPr lang="en-US" sz="750" dirty="0"/>
          </a:p>
        </p:txBody>
      </p:sp>
      <p:sp>
        <p:nvSpPr>
          <p:cNvPr id="34" name="Shape 31"/>
          <p:cNvSpPr/>
          <p:nvPr/>
        </p:nvSpPr>
        <p:spPr>
          <a:xfrm>
            <a:off x="658368" y="4937760"/>
            <a:ext cx="10874959" cy="822960"/>
          </a:xfrm>
          <a:prstGeom prst="roundRect">
            <a:avLst>
              <a:gd name="adj" fmla="val 10000"/>
            </a:avLst>
          </a:prstGeom>
          <a:solidFill>
            <a:srgbClr val="191919"/>
          </a:solidFill>
          <a:ln/>
        </p:spPr>
      </p:sp>
      <p:sp>
        <p:nvSpPr>
          <p:cNvPr id="35" name="Text 32"/>
          <p:cNvSpPr/>
          <p:nvPr/>
        </p:nvSpPr>
        <p:spPr>
          <a:xfrm>
            <a:off x="914400" y="51389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우리는 이렇게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적용한다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2395728" y="5074920"/>
            <a:ext cx="2777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역할을 옮긴다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2395728" y="5303520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펭귄을 ‘얼음정수기 광고 캐릭터’에서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집 준비 매니저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다시 정의한다.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5447690" y="5074920"/>
            <a:ext cx="2777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제품과 같은 말을 시킨다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5447690" y="5303520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줄여주는 준비를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에스프레카페가 실제로 줄이는 일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 일치시킨다.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8499653" y="5074920"/>
            <a:ext cx="2777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축적한다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8499653" y="5303520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편이 아니라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숏폼·계산기·팝업·굿즈·CRM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같은 펭귄을 반복한다.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658368" y="588873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하이트진로 보도자료 및 언론 보도(누적 판매 15억 병 2023.4 기준, 두껍상회 누적 방문 45만 명), 이노션 캠페인 사례. 상세 링크는 부록.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04 왜 펭귄인가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그중에서도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선택한 이유.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1920240"/>
            <a:ext cx="2540432" cy="3063240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pic>
        <p:nvPicPr>
          <p:cNvPr id="6" name="Image 0" descr="/home/user/CHAI-AI/assets/img/peng-the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920240"/>
            <a:ext cx="2540432" cy="11704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41248" y="3236976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170432" y="3218688"/>
            <a:ext cx="184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가진 자산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41248" y="3511296"/>
            <a:ext cx="2174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 만들거나 빌리는 것보다, 청호나이스의 얼음정수기 역사와 연결할 수 있다.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41248" y="4023360"/>
            <a:ext cx="217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인지도는 조사 전이므로 ‘보유한 과거 광고 자산 후보’로 말한다.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3436544" y="1920240"/>
            <a:ext cx="2540432" cy="3063240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pic>
        <p:nvPicPr>
          <p:cNvPr id="12" name="Image 1" descr="/home/user/CHAI-AI/assets/img/asset-mini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36544" y="1920240"/>
            <a:ext cx="2540432" cy="11704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3" name="Text 9"/>
          <p:cNvSpPr/>
          <p:nvPr/>
        </p:nvSpPr>
        <p:spPr>
          <a:xfrm>
            <a:off x="3619424" y="3236976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3948608" y="3218688"/>
            <a:ext cx="184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제품과 의미가 맞는다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3619424" y="3511296"/>
            <a:ext cx="2174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펭귄은 설명 없이도 떠올리게 한다.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3619424" y="4023360"/>
            <a:ext cx="4297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619424" y="4023360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</a:t>
            </a:r>
            <a:endParaRPr lang="en-US" sz="800" dirty="0"/>
          </a:p>
        </p:txBody>
      </p:sp>
      <p:sp>
        <p:nvSpPr>
          <p:cNvPr id="18" name="Shape 14"/>
          <p:cNvSpPr/>
          <p:nvPr/>
        </p:nvSpPr>
        <p:spPr>
          <a:xfrm>
            <a:off x="4122344" y="4023360"/>
            <a:ext cx="5257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122344" y="4023360"/>
            <a:ext cx="525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차가움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721276" y="4023360"/>
            <a:ext cx="5257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721276" y="4023360"/>
            <a:ext cx="525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시원함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3619424" y="4288536"/>
            <a:ext cx="5257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3619424" y="4288536"/>
            <a:ext cx="525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깨끗함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6214720" y="1920240"/>
            <a:ext cx="2540432" cy="3063240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pic>
        <p:nvPicPr>
          <p:cNvPr id="25" name="Image 2" descr="/home/user/CHAI-AI/assets/img/peng-now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4720" y="1920240"/>
            <a:ext cx="2540432" cy="11704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26" name="Text 21"/>
          <p:cNvSpPr/>
          <p:nvPr/>
        </p:nvSpPr>
        <p:spPr>
          <a:xfrm>
            <a:off x="6397600" y="3236976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50" dirty="0"/>
          </a:p>
        </p:txBody>
      </p:sp>
      <p:sp>
        <p:nvSpPr>
          <p:cNvPr id="27" name="Text 22"/>
          <p:cNvSpPr/>
          <p:nvPr/>
        </p:nvSpPr>
        <p:spPr>
          <a:xfrm>
            <a:off x="6726784" y="3218688"/>
            <a:ext cx="184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 하나로 압축</a:t>
            </a:r>
            <a:endParaRPr lang="en-US" sz="1150" dirty="0"/>
          </a:p>
        </p:txBody>
      </p:sp>
      <p:sp>
        <p:nvSpPr>
          <p:cNvPr id="28" name="Text 23"/>
          <p:cNvSpPr/>
          <p:nvPr/>
        </p:nvSpPr>
        <p:spPr>
          <a:xfrm>
            <a:off x="6397600" y="3511296"/>
            <a:ext cx="2174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정수·얼음·커피·세척·관리를 따로 설명하면 복잡하다.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6397600" y="4023360"/>
            <a:ext cx="2174672" cy="457200"/>
          </a:xfrm>
          <a:prstGeom prst="roundRect">
            <a:avLst>
              <a:gd name="adj" fmla="val 12000"/>
            </a:avLst>
          </a:prstGeom>
          <a:solidFill>
            <a:srgbClr val="EAF1FF"/>
          </a:solidFill>
          <a:ln/>
        </p:spPr>
      </p:sp>
      <p:sp>
        <p:nvSpPr>
          <p:cNvPr id="30" name="Text 25"/>
          <p:cNvSpPr/>
          <p:nvPr/>
        </p:nvSpPr>
        <p:spPr>
          <a:xfrm>
            <a:off x="6470752" y="4023360"/>
            <a:ext cx="202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말보다 행동이 빠른,</a:t>
            </a:r>
            <a:endParaRPr lang="en-US" sz="900" dirty="0"/>
          </a:p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집 준비 매니저</a:t>
            </a:r>
            <a:endParaRPr lang="en-US" sz="900" dirty="0"/>
          </a:p>
        </p:txBody>
      </p:sp>
      <p:sp>
        <p:nvSpPr>
          <p:cNvPr id="31" name="Shape 26"/>
          <p:cNvSpPr/>
          <p:nvPr/>
        </p:nvSpPr>
        <p:spPr>
          <a:xfrm>
            <a:off x="8992895" y="1920240"/>
            <a:ext cx="2540432" cy="3063240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pic>
        <p:nvPicPr>
          <p:cNvPr id="32" name="Image 3" descr="/home/user/CHAI-AI/assets/img/peng-home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992895" y="1920240"/>
            <a:ext cx="2540432" cy="11704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33" name="Text 27"/>
          <p:cNvSpPr/>
          <p:nvPr/>
        </p:nvSpPr>
        <p:spPr>
          <a:xfrm>
            <a:off x="9175775" y="3236976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50" dirty="0"/>
          </a:p>
        </p:txBody>
      </p:sp>
      <p:sp>
        <p:nvSpPr>
          <p:cNvPr id="34" name="Text 28"/>
          <p:cNvSpPr/>
          <p:nvPr/>
        </p:nvSpPr>
        <p:spPr>
          <a:xfrm>
            <a:off x="9504959" y="3218688"/>
            <a:ext cx="184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뒤에도 계속</a:t>
            </a:r>
            <a:endParaRPr lang="en-US" sz="1150" dirty="0"/>
          </a:p>
        </p:txBody>
      </p:sp>
      <p:sp>
        <p:nvSpPr>
          <p:cNvPr id="35" name="Text 29"/>
          <p:cNvSpPr/>
          <p:nvPr/>
        </p:nvSpPr>
        <p:spPr>
          <a:xfrm>
            <a:off x="9175775" y="3511296"/>
            <a:ext cx="2174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연예인은 한 캠페인의 주목을 만들고, 마스코트는 채널마다 쌓인다.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9175775" y="4023360"/>
            <a:ext cx="4297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9175775" y="4023360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숏폼</a:t>
            </a:r>
            <a:endParaRPr lang="en-US" sz="800" dirty="0"/>
          </a:p>
        </p:txBody>
      </p:sp>
      <p:sp>
        <p:nvSpPr>
          <p:cNvPr id="38" name="Shape 32"/>
          <p:cNvSpPr/>
          <p:nvPr/>
        </p:nvSpPr>
        <p:spPr>
          <a:xfrm>
            <a:off x="9678695" y="4023360"/>
            <a:ext cx="5257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9678695" y="4023360"/>
            <a:ext cx="525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계산기</a:t>
            </a:r>
            <a:endParaRPr lang="en-US" sz="800" dirty="0"/>
          </a:p>
        </p:txBody>
      </p:sp>
      <p:sp>
        <p:nvSpPr>
          <p:cNvPr id="40" name="Shape 34"/>
          <p:cNvSpPr/>
          <p:nvPr/>
        </p:nvSpPr>
        <p:spPr>
          <a:xfrm>
            <a:off x="10277627" y="4023360"/>
            <a:ext cx="4297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10277627" y="4023360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</a:t>
            </a:r>
            <a:endParaRPr lang="en-US" sz="800" dirty="0"/>
          </a:p>
        </p:txBody>
      </p:sp>
      <p:sp>
        <p:nvSpPr>
          <p:cNvPr id="42" name="Shape 36"/>
          <p:cNvSpPr/>
          <p:nvPr/>
        </p:nvSpPr>
        <p:spPr>
          <a:xfrm>
            <a:off x="9175775" y="4288536"/>
            <a:ext cx="7178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9175775" y="4288536"/>
            <a:ext cx="7178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알림</a:t>
            </a:r>
            <a:endParaRPr lang="en-US" sz="800" dirty="0"/>
          </a:p>
        </p:txBody>
      </p:sp>
      <p:sp>
        <p:nvSpPr>
          <p:cNvPr id="44" name="Shape 38"/>
          <p:cNvSpPr/>
          <p:nvPr/>
        </p:nvSpPr>
        <p:spPr>
          <a:xfrm>
            <a:off x="9966731" y="4288536"/>
            <a:ext cx="5257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9966731" y="4288536"/>
            <a:ext cx="5257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CRM</a:t>
            </a:r>
            <a:endParaRPr lang="en-US" sz="800" dirty="0"/>
          </a:p>
        </p:txBody>
      </p:sp>
      <p:sp>
        <p:nvSpPr>
          <p:cNvPr id="46" name="Shape 40"/>
          <p:cNvSpPr/>
          <p:nvPr/>
        </p:nvSpPr>
        <p:spPr>
          <a:xfrm>
            <a:off x="10565663" y="4288536"/>
            <a:ext cx="4297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10565663" y="4288536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굿즈</a:t>
            </a:r>
            <a:endParaRPr lang="en-US" sz="800" dirty="0"/>
          </a:p>
        </p:txBody>
      </p:sp>
      <p:sp>
        <p:nvSpPr>
          <p:cNvPr id="48" name="Shape 42"/>
          <p:cNvSpPr/>
          <p:nvPr/>
        </p:nvSpPr>
        <p:spPr>
          <a:xfrm>
            <a:off x="658368" y="5202936"/>
            <a:ext cx="10874959" cy="548640"/>
          </a:xfrm>
          <a:prstGeom prst="roundRect">
            <a:avLst>
              <a:gd name="adj" fmla="val 1500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49" name="Text 43"/>
          <p:cNvSpPr/>
          <p:nvPr/>
        </p:nvSpPr>
        <p:spPr>
          <a:xfrm>
            <a:off x="658368" y="5202936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펭귄의 핵심 효과는 친근함이 아니라, </a:t>
            </a:r>
            <a:pPr algn="ctr" indent="0" marL="0">
              <a:buNone/>
            </a:pPr>
            <a:r>
              <a:rPr lang="en-US" sz="14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각기 다른 콘텐츠를 하나의 브랜드 인상으로 묶는 것</a:t>
            </a:r>
            <a:pPr algn="ctr" indent="0" marL="0">
              <a:buNone/>
            </a:pPr>
            <a:r>
              <a:rPr lang="en-US" sz="14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1450" dirty="0"/>
          </a:p>
        </p:txBody>
      </p:sp>
      <p:sp>
        <p:nvSpPr>
          <p:cNvPr id="50" name="Text 44"/>
          <p:cNvSpPr/>
          <p:nvPr/>
        </p:nvSpPr>
        <p:spPr>
          <a:xfrm>
            <a:off x="7327087" y="586130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 펭귄을 그때 모습 그대로 쓸 수는 없다.</a:t>
            </a:r>
            <a:endParaRPr lang="en-US" sz="950" dirty="0"/>
          </a:p>
        </p:txBody>
      </p:sp>
      <p:sp>
        <p:nvSpPr>
          <p:cNvPr id="51" name="Text 4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52" name="Text 4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05 역할 정의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그때의 펭귄을,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복원하지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않는다.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121408"/>
            <a:ext cx="5186020" cy="3063240"/>
          </a:xfrm>
          <a:prstGeom prst="roundRect">
            <a:avLst>
              <a:gd name="adj" fmla="val 2687"/>
            </a:avLst>
          </a:prstGeom>
          <a:solidFill>
            <a:srgbClr val="F5F5F7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304288"/>
            <a:ext cx="4673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</a:t>
            </a:r>
            <a:endParaRPr lang="en-US" sz="1000" dirty="0"/>
          </a:p>
        </p:txBody>
      </p:sp>
      <p:pic>
        <p:nvPicPr>
          <p:cNvPr id="7" name="Image 0" descr="/home/user/CHAI-AI/assets/img/peng-the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2624328"/>
            <a:ext cx="4673956" cy="13716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8" name="Shape 5"/>
          <p:cNvSpPr/>
          <p:nvPr/>
        </p:nvSpPr>
        <p:spPr>
          <a:xfrm>
            <a:off x="932688" y="4251960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9" name="Text 6"/>
          <p:cNvSpPr/>
          <p:nvPr/>
        </p:nvSpPr>
        <p:spPr>
          <a:xfrm>
            <a:off x="1088136" y="4169664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얼음정수기를 알리는 광고 캐릭터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32688" y="4562856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1" name="Text 8"/>
          <p:cNvSpPr/>
          <p:nvPr/>
        </p:nvSpPr>
        <p:spPr>
          <a:xfrm>
            <a:off x="1088136" y="4480560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귀엽고 활발한 표현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32688" y="4873752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3" name="Text 10"/>
          <p:cNvSpPr/>
          <p:nvPr/>
        </p:nvSpPr>
        <p:spPr>
          <a:xfrm>
            <a:off x="1088136" y="4791456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가족 주방의 이미지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844388" y="342442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347308" y="2121408"/>
            <a:ext cx="5186020" cy="3063240"/>
          </a:xfrm>
          <a:prstGeom prst="roundRect">
            <a:avLst>
              <a:gd name="adj" fmla="val 2687"/>
            </a:avLst>
          </a:prstGeom>
          <a:solidFill>
            <a:srgbClr val="191919"/>
          </a:solidFill>
          <a:ln/>
        </p:spPr>
      </p:sp>
      <p:sp>
        <p:nvSpPr>
          <p:cNvPr id="16" name="Text 13"/>
          <p:cNvSpPr/>
          <p:nvPr/>
        </p:nvSpPr>
        <p:spPr>
          <a:xfrm>
            <a:off x="6603340" y="2304288"/>
            <a:ext cx="4673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</a:t>
            </a:r>
            <a:endParaRPr lang="en-US" sz="1000" dirty="0"/>
          </a:p>
        </p:txBody>
      </p:sp>
      <p:pic>
        <p:nvPicPr>
          <p:cNvPr id="17" name="Image 1" descr="/home/user/CHAI-AI/assets/img/peng-now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03340" y="2624328"/>
            <a:ext cx="4673956" cy="13716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8" name="Shape 14"/>
          <p:cNvSpPr/>
          <p:nvPr/>
        </p:nvSpPr>
        <p:spPr>
          <a:xfrm>
            <a:off x="6621628" y="4251960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19" name="Text 15"/>
          <p:cNvSpPr/>
          <p:nvPr/>
        </p:nvSpPr>
        <p:spPr>
          <a:xfrm>
            <a:off x="6777076" y="4169664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생활의 준비를 먼저 끝내는 루틴 매니저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21628" y="4562856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21" name="Text 17"/>
          <p:cNvSpPr/>
          <p:nvPr/>
        </p:nvSpPr>
        <p:spPr>
          <a:xfrm>
            <a:off x="6777076" y="4480560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차분하고 능숙한 행동, 건조하고 짧은 유머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621628" y="4873752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23" name="Text 19"/>
          <p:cNvSpPr/>
          <p:nvPr/>
        </p:nvSpPr>
        <p:spPr>
          <a:xfrm>
            <a:off x="6777076" y="4791456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독립한 2030의 집, 제품과 항상 함께 등장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658368" y="5404104"/>
            <a:ext cx="10874959" cy="731520"/>
          </a:xfrm>
          <a:prstGeom prst="roundRect">
            <a:avLst>
              <a:gd name="adj" fmla="val 1125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0" y="5504688"/>
            <a:ext cx="121916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줄 정의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0" y="5715000"/>
            <a:ext cx="121916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말보다 행동이 빠른, 우리 집 준비 매니저.</a:t>
            </a: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658368" y="624535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리런칭은 대표 펭귄 한 마리로 시작. 캐릭터군 확장은 마스코트가 정착한 뒤 단계.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06 자산 검증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05840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72"/>
              </a:lnSpc>
              <a:buNone/>
            </a:pPr>
            <a:r>
              <a:rPr lang="en-US" sz="2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펭귄의 현재 가치를 검증해, </a:t>
            </a:r>
            <a:pPr indent="0" marL="0">
              <a:lnSpc>
                <a:spcPts val="3072"/>
              </a:lnSpc>
              <a:buNone/>
            </a:pPr>
            <a:r>
              <a:rPr lang="en-US" sz="24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활용 수준</a:t>
            </a:r>
            <a:pPr indent="0" marL="0">
              <a:lnSpc>
                <a:spcPts val="3072"/>
              </a:lnSpc>
              <a:buNone/>
            </a:pPr>
            <a:r>
              <a:rPr lang="en-US" sz="2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결정한다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1700784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과거의 기억보다 중요한 것은, 지금의 청호나이스를 더 잘 기억시키는가이다.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펭귄을 되살린다는 결론을 먼저 정하지 않는다. 과거 광고의 기억과 현재의 브랜드 효과를 검증한 뒤, 캠페인에서의 역할을 결정한다.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58368" y="2651760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1E9BE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265176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기억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16736" y="263347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광고를 알고 있는가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2960" y="290779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58368" y="3090672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1E9BE6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309067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적합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316736" y="30723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지금의 청호나이스·얼음정수기와 어울리는가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2960" y="3346704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" y="3529584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0057FF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35295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316736" y="351129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관심과 브랜드 기억을 실제로 높이는가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58368" y="4005072"/>
            <a:ext cx="3401568" cy="137160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/>
        </p:spPr>
      </p:sp>
      <p:sp>
        <p:nvSpPr>
          <p:cNvPr id="19" name="Text 17"/>
          <p:cNvSpPr/>
          <p:nvPr/>
        </p:nvSpPr>
        <p:spPr>
          <a:xfrm>
            <a:off x="859536" y="4133088"/>
            <a:ext cx="2999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방식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59536" y="4352544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비보조·보조 인지 조사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59536" y="4517136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광고 기억, 청호나이스 연결률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59536" y="4681728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A/B/C 콘셉트 테스트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59536" y="4846320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원형 / 현대화 펭귄 / 캐릭터 없는 제품형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59536" y="5010912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노출 전후 효과 비교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59536" y="5175504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친근도, 제품 이해도, 제품 관심도, 렌탈 고려도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 rot="16200000">
            <a:off x="3511296" y="341985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브랜드 효과 →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791456" y="2084832"/>
            <a:ext cx="3288640" cy="1371600"/>
          </a:xfrm>
          <a:prstGeom prst="roundRect">
            <a:avLst>
              <a:gd name="adj" fmla="val 4667"/>
            </a:avLst>
          </a:prstGeom>
          <a:solidFill>
            <a:srgbClr val="EAF1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74336" y="2212848"/>
            <a:ext cx="292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인지 낮음 · 효과 높음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974336" y="2414016"/>
            <a:ext cx="292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자산 기반 신규 마스코트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974336" y="2688336"/>
            <a:ext cx="2922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추억 마케팅은 빼고, 얼음정수기 역사에서 출발한 새 캐릭터로 소개한다. 제품과 함께 반복 노출해 브랜드 연결을 만든다.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8244688" y="2084832"/>
            <a:ext cx="3288640" cy="1371600"/>
          </a:xfrm>
          <a:prstGeom prst="roundRect">
            <a:avLst>
              <a:gd name="adj" fmla="val 4667"/>
            </a:avLst>
          </a:prstGeom>
          <a:solidFill>
            <a:srgbClr val="0057FF"/>
          </a:solidFill>
          <a:ln/>
        </p:spPr>
      </p:sp>
      <p:sp>
        <p:nvSpPr>
          <p:cNvPr id="32" name="Text 30"/>
          <p:cNvSpPr/>
          <p:nvPr/>
        </p:nvSpPr>
        <p:spPr>
          <a:xfrm>
            <a:off x="8427568" y="2212848"/>
            <a:ext cx="292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CFE0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인지 높음 · 효과 높음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427568" y="2414016"/>
            <a:ext cx="292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헤리티지 리바이벌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427568" y="2688336"/>
            <a:ext cx="2922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E3E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광고를 오마주로 전면에 세운다. ‘그때 그 펭귄’ 메시지로 청호나이스 헤리티지를 적극 활용한다.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791456" y="3621024"/>
            <a:ext cx="328864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4974336" y="3749040"/>
            <a:ext cx="292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인지 낮음 · 효과 낮음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974336" y="3950208"/>
            <a:ext cx="292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 전략에서 제외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974336" y="4224528"/>
            <a:ext cx="2922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중심 캠페인은 접고, 제품 편익 중심 커뮤니케이션으로 전환한다.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244688" y="3621024"/>
            <a:ext cx="328864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8427568" y="3749040"/>
            <a:ext cx="292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인지 높음 · 효과 낮음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8427568" y="3950208"/>
            <a:ext cx="2922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아카이브로 제한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8427568" y="4224528"/>
            <a:ext cx="2922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역사 콘텐츠, 팝업 아카이브 존, 오마주 영상의 짧은 장면에만 쓴다.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974336" y="3127248"/>
            <a:ext cx="137160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74336" y="312724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가능성이 높은 영역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4791456" y="5102352"/>
            <a:ext cx="67418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광고 인지도 →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58368" y="5504688"/>
            <a:ext cx="10874959" cy="658368"/>
          </a:xfrm>
          <a:prstGeom prst="roundRect">
            <a:avLst>
              <a:gd name="adj" fmla="val 12500"/>
            </a:avLst>
          </a:prstGeom>
          <a:solidFill>
            <a:srgbClr val="191919"/>
          </a:solidFill>
          <a:ln/>
        </p:spPr>
      </p:sp>
      <p:sp>
        <p:nvSpPr>
          <p:cNvPr id="47" name="Text 45"/>
          <p:cNvSpPr/>
          <p:nvPr/>
        </p:nvSpPr>
        <p:spPr>
          <a:xfrm>
            <a:off x="950976" y="5504688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인지도가 낮아도 현재 효과가 높다면, 신규 마스코트로 활용한다.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6595567" y="5504688"/>
            <a:ext cx="4645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펭귄은 전제가 아니라, 검증을 통과해야 하는 브랜드 자산 후보다.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캠페인 전략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· 빅 아이디어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 · 캠페인 구조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 · 온라인 콘텐츠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 · 팝업 캠페인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299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 · 빅 아이디어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BIG IDEA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8745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준비는 </a:t>
            </a:r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58368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0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준비까지 열심히 살 필요는 없으니까.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4480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2030의 일상에서 반복되는 준비를 발견하고, 청호나이스의 제품 기능으로 하나씩 줄여주는 캠페인.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" y="5074920"/>
            <a:ext cx="1901952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5074920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갓생을 강요하지 않는다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24912" y="5074920"/>
            <a:ext cx="2157984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24912" y="5074920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바쁜 삶을 미화하지 않는다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47488" y="5074920"/>
            <a:ext cx="2414016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47488" y="5074920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인생을 해결하지 않는다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626096" y="5074920"/>
            <a:ext cx="3054096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26096" y="5074920"/>
            <a:ext cx="3054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물·얼음·커피, 구체적인 준비만 맡는다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편이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발견에서 렌탈까지 이어지는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6" name="Shape 4"/>
          <p:cNvSpPr/>
          <p:nvPr/>
        </p:nvSpPr>
        <p:spPr>
          <a:xfrm>
            <a:off x="585216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마스코트 리런칭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등장한다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89149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415997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3" name="Text 11"/>
          <p:cNvSpPr/>
          <p:nvPr/>
        </p:nvSpPr>
        <p:spPr>
          <a:xfrm>
            <a:off x="2489149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489149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공감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489149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노동을 다룬 숏폼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489149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관찰한다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19930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18" name="Shape 16"/>
          <p:cNvSpPr/>
          <p:nvPr/>
        </p:nvSpPr>
        <p:spPr>
          <a:xfrm>
            <a:off x="4246778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9" name="Text 17"/>
          <p:cNvSpPr/>
          <p:nvPr/>
        </p:nvSpPr>
        <p:spPr>
          <a:xfrm>
            <a:off x="4319930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19930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이해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319930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기능·비용 진단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319930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설명한다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50712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77560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25" name="Text 23"/>
          <p:cNvSpPr/>
          <p:nvPr/>
        </p:nvSpPr>
        <p:spPr>
          <a:xfrm>
            <a:off x="6150712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150712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150712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 시음·제품 조작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50712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안내한다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981493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30" name="Shape 28"/>
          <p:cNvSpPr/>
          <p:nvPr/>
        </p:nvSpPr>
        <p:spPr>
          <a:xfrm>
            <a:off x="7908341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31" name="Text 29"/>
          <p:cNvSpPr/>
          <p:nvPr/>
        </p:nvSpPr>
        <p:spPr>
          <a:xfrm>
            <a:off x="7981493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981493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고려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981493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상담·견적·리타게팅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981493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권한다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812274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36" name="Shape 34"/>
          <p:cNvSpPr/>
          <p:nvPr/>
        </p:nvSpPr>
        <p:spPr>
          <a:xfrm>
            <a:off x="9739122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37" name="Text 35"/>
          <p:cNvSpPr/>
          <p:nvPr/>
        </p:nvSpPr>
        <p:spPr>
          <a:xfrm>
            <a:off x="9812274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812274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관계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9812274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알림·개인화 루틴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9812274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산다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58368" y="4754880"/>
            <a:ext cx="10874959" cy="1051560"/>
          </a:xfrm>
          <a:prstGeom prst="roundRect">
            <a:avLst>
              <a:gd name="adj" fmla="val 7826"/>
            </a:avLst>
          </a:prstGeom>
          <a:solidFill>
            <a:srgbClr val="F5F5F7"/>
          </a:solidFill>
          <a:ln/>
        </p:spPr>
      </p:sp>
      <p:sp>
        <p:nvSpPr>
          <p:cNvPr id="42" name="Text 40"/>
          <p:cNvSpPr/>
          <p:nvPr/>
        </p:nvSpPr>
        <p:spPr>
          <a:xfrm>
            <a:off x="886968" y="4919472"/>
            <a:ext cx="104177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단계에서 펭귄이 맡는 역할이 달라진다. 관계 단계의 씨앗은 이미 </a:t>
            </a:r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휘카페 멤버십 라운지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있다. MY NICE ROUTINE 앱은 이 단계에서만 짧게 언급하고 상세는 부록으로.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콘텐츠마다 말은 달라도,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줄여주는 준비는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하나씩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인스타그램 릴스 목업 ]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미리 준비했습니다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8368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출근·재택·운동 후·주말 홈카페 상황의 10~15초 숏폼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90034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44898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댓글 상담 콘텐츠 목업 ]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90034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B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90034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펭귄의 냉정한 루틴 상담소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90034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사연과 댓글에 건조하게 답한다. “아직 절반만 홈카페입니다.”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1701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176565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계산기 랜딩페이지 목업 ]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121701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C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21701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나의 준비 노동 계산기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121701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생수·커피·얼음 구매 횟수와 시간을 넣으면 월간 준비 행동을 보여주고 상담으로 연결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팝업은 캐릭터 전시가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제품을 이해시키는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실험실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95528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물·얼음·커피에 쓰는 비용과 행동 수 확인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27400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11" name="Shape 9"/>
          <p:cNvSpPr/>
          <p:nvPr/>
        </p:nvSpPr>
        <p:spPr>
          <a:xfrm>
            <a:off x="3564560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3564560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10280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10280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정수·얼음·커피를 직접 조작하고 시음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6432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16" name="Shape 14"/>
          <p:cNvSpPr/>
          <p:nvPr/>
        </p:nvSpPr>
        <p:spPr>
          <a:xfrm>
            <a:off x="6333592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7" name="Text 15"/>
          <p:cNvSpPr/>
          <p:nvPr/>
        </p:nvSpPr>
        <p:spPr>
          <a:xfrm>
            <a:off x="6333592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79312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79312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생활 방식과 렌탈 시나리오 비교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965463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0057FF"/>
          </a:solidFill>
          <a:ln/>
        </p:spPr>
      </p:sp>
      <p:sp>
        <p:nvSpPr>
          <p:cNvPr id="21" name="Shape 19"/>
          <p:cNvSpPr/>
          <p:nvPr/>
        </p:nvSpPr>
        <p:spPr>
          <a:xfrm>
            <a:off x="9102623" y="2532888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102623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48343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8343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가능 여부와 맞춤 견적 확인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58368" y="3977640"/>
            <a:ext cx="5277460" cy="137160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/>
        </p:spPr>
      </p:sp>
      <p:sp>
        <p:nvSpPr>
          <p:cNvPr id="26" name="Text 24"/>
          <p:cNvSpPr/>
          <p:nvPr/>
        </p:nvSpPr>
        <p:spPr>
          <a:xfrm>
            <a:off x="886968" y="4160520"/>
            <a:ext cx="4820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가칭 · 우리 집 루틴 매니저 연구소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86968" y="4434840"/>
            <a:ext cx="48202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포토존과 굿즈는 동선 끝에 둔다. 캐릭터를 보러 와서 제품을 써보고 나가게 만드는 구조다.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55868" y="3977640"/>
            <a:ext cx="52774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84468" y="4160520"/>
            <a:ext cx="4820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KPI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84468" y="4453128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진단 완료율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894597" y="4453128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제품 조작률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84468" y="4745736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시음 완료율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94597" y="4745736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상담 QR 클릭률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84468" y="5038344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설치 상담률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894597" y="5038344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체험 전후 이해도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2025 팝업 3,077개, 성수 35.38% 집중, 8~14일 운영이 최고 효율.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&amp; 효과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 · 결과 검증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 · 기대효과와 마무리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검증 &amp; 효과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조회수보다,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청호나이스가 떠오르고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제품이 </a:t>
            </a:r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궁금해졌는지</a:t>
            </a:r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본다.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30175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가설을 여섯 개 나열하지 않는다. 브랜드 연결에서 관계까지 하나의 퍼널로 본다.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37490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조사, 광고 노출자·비노출자 비교, 캠페인 후 조사를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항목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설계한다.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64608" y="2103120"/>
            <a:ext cx="6668719" cy="914400"/>
          </a:xfrm>
          <a:prstGeom prst="roundRect">
            <a:avLst>
              <a:gd name="adj" fmla="val 9000"/>
            </a:avLst>
          </a:prstGeom>
          <a:solidFill>
            <a:srgbClr val="9FC0FF"/>
          </a:solidFill>
          <a:ln/>
        </p:spPr>
      </p:sp>
      <p:sp>
        <p:nvSpPr>
          <p:cNvPr id="8" name="Text 6"/>
          <p:cNvSpPr/>
          <p:nvPr/>
        </p:nvSpPr>
        <p:spPr>
          <a:xfrm>
            <a:off x="5047488" y="2240280"/>
            <a:ext cx="6302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연결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47488" y="2542032"/>
            <a:ext cx="630295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펭귄을 보고 청호나이스를 떠올리는가 · 2030에게 적합하다 느끼는가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331418" y="3108960"/>
            <a:ext cx="5735099" cy="914400"/>
          </a:xfrm>
          <a:prstGeom prst="roundRect">
            <a:avLst>
              <a:gd name="adj" fmla="val 9000"/>
            </a:avLst>
          </a:prstGeom>
          <a:solidFill>
            <a:srgbClr val="5B8CFF"/>
          </a:solidFill>
          <a:ln/>
        </p:spPr>
      </p:sp>
      <p:sp>
        <p:nvSpPr>
          <p:cNvPr id="11" name="Text 9"/>
          <p:cNvSpPr/>
          <p:nvPr/>
        </p:nvSpPr>
        <p:spPr>
          <a:xfrm>
            <a:off x="5514298" y="3246120"/>
            <a:ext cx="53693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이해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14298" y="3547872"/>
            <a:ext cx="53693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 통합을 이해하는가 · ‘준비 감소’ 편익을 기억하는가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798229" y="4114800"/>
            <a:ext cx="4801478" cy="914400"/>
          </a:xfrm>
          <a:prstGeom prst="roundRect">
            <a:avLst>
              <a:gd name="adj" fmla="val 9000"/>
            </a:avLst>
          </a:prstGeom>
          <a:solidFill>
            <a:srgbClr val="2F6BFF"/>
          </a:solidFill>
          <a:ln/>
        </p:spPr>
      </p:sp>
      <p:sp>
        <p:nvSpPr>
          <p:cNvPr id="14" name="Text 12"/>
          <p:cNvSpPr/>
          <p:nvPr/>
        </p:nvSpPr>
        <p:spPr>
          <a:xfrm>
            <a:off x="5981109" y="4251960"/>
            <a:ext cx="44357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 변화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81109" y="4553712"/>
            <a:ext cx="44357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검색 · 비용 진단 · 팝업 체험 · 상담 신청 · 렌탈 고려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265039" y="5120640"/>
            <a:ext cx="3867857" cy="914400"/>
          </a:xfrm>
          <a:prstGeom prst="roundRect">
            <a:avLst>
              <a:gd name="adj" fmla="val 9000"/>
            </a:avLst>
          </a:prstGeom>
          <a:solidFill>
            <a:srgbClr val="0057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47919" y="5257800"/>
            <a:ext cx="35020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관계 변화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47919" y="5559552"/>
            <a:ext cx="350209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앱·CRM 반응 · 동일 브랜드 재선택 의향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299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검증 &amp; 효과 · 기대효과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5836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중심 정수기 브랜드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생활을 이해하는 브랜드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568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028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61028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기능이 많은 복합 제품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1028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1028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준비를 줄이는 생활 기반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9760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커뮤니케이션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9760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그때마다 달라지는 콘텐츠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9760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9760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펭귄으로 축적되는 브랜드 언어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20327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84919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비즈니스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184919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노출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84919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4919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체험·상담·렌탈 고려로 이어지는 흐름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부모님 집의 정수기에서, 나의 첫 생활가전으로.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8368" y="43891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 준비는 </a:t>
            </a:r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658368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오준상 · 이민욱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790127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2026-07-28T04:47:09Z</dcterms:created>
  <dcterms:modified xsi:type="dcterms:W3CDTF">2026-07-28T04:47:09Z</dcterms:modified>
</cp:coreProperties>
</file>