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embeddedFontLst>
    <p:embeddedFont>
      <p:font typeface="Pretendard"/>
      <p:regular r:id="rId36"/>
      <p:bold r:id="rId3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font" Target="fonts/font1.fntdata"/><Relationship Id="rId37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pic>
        <p:nvPicPr>
          <p:cNvPr id="6" name="Image 0" descr="/home/user/CHAI-AI/assets/img/espre-produ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52648" y="3429000"/>
            <a:ext cx="5486400" cy="21488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938528" y="2011680"/>
            <a:ext cx="83146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에스프레카페는 공식적으로 36개월과 60개월 의무사용기간을 운영하는 중이다.
</a:t>
            </a:r>
            <a:pPr algn="ctr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구매 빈도가 낮고 사용 기간이 긴 제품</a:t>
            </a:r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이므로, 2030의 첫 렌탈 시점에 후보군으로 진입하는 것 자체가 중요하다.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 브랜드 커뮤니케이션 단계별 전략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수립 과정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‘지피지기 백전불태 (知彼知己 百戰不殆)’</a:t>
            </a:r>
            <a:endParaRPr lang="en-US" sz="24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상황 진단 및 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 전략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· 현재 브랜드 상황 진단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5097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06424" y="299008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브랜드의 카피와 동향 분석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50976" y="349300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06424" y="341071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커뮤니케이션의 현 주소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0976" y="391363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06424" y="3831336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청호나이스의 기존 자산 분석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2444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9876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· 커뮤니케이션 전략 제시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1705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72504" y="2990088"/>
            <a:ext cx="4468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설정과 포지셔닝 제안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독립생활 중인 2030에게 청호 얼음정수기와 함께하는 차별적인 홈카페 경험 제공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17056" y="380390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72504" y="372160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커뮤니케이션 : 청호나이스의 펭귄 마스코트 캐릭터 전략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17056" y="422452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72504" y="414223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오프라인 커뮤니케이션 캠페인 : 캐릭터 + 팝업스토어 아이디어 제안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5029200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029200"/>
            <a:ext cx="103263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: 경쟁사의 전략과 청호나이스만의 자산을 살펴본 뒤, 2030에게 차별점을 어필할 수 있는 커뮤니케이션 전략을 수립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진단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브랜드마다 광고를 다르게 하지만,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소비자의 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청호나이스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방향</a:t>
            </a:r>
            <a:endParaRPr lang="en-US" sz="2600" dirty="0"/>
          </a:p>
        </p:txBody>
      </p:sp>
      <p:pic>
        <p:nvPicPr>
          <p:cNvPr id="5" name="Image 0" descr="/home/user/CHAI-AI/assets/img/ad-coolcoo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‘시원시원’편 광고 30s</a:t>
            </a:r>
            <a:endParaRPr lang="en-US" sz="850" dirty="0"/>
          </a:p>
        </p:txBody>
      </p:sp>
      <p:pic>
        <p:nvPicPr>
          <p:cNvPr id="7" name="Image 1" descr="/home/user/CHAI-AI/assets/img/ad-lovelytre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74794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4374794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청호나이스┃뉴 러블리트리 ‘러블리한 일상의 시작(캐릭터 ver.)’편 CF</a:t>
            </a:r>
            <a:endParaRPr lang="en-US" sz="850" dirty="0"/>
          </a:p>
        </p:txBody>
      </p:sp>
      <p:pic>
        <p:nvPicPr>
          <p:cNvPr id="9" name="Image 2" descr="/home/user/CHAI-AI/assets/img/ad-seongeutd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1221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8091221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‘선긋다’편 광고 30s</a:t>
            </a:r>
            <a:endParaRPr lang="en-US" sz="850" dirty="0"/>
          </a:p>
        </p:txBody>
      </p:sp>
      <p:pic>
        <p:nvPicPr>
          <p:cNvPr id="11" name="Image 3" descr="/home/user/CHAI-AI/assets/img/ad-blackedition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658368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청호나이스┃‘에스프레카페 블랙 에디션’ AI 활용 콘텐츠</a:t>
            </a:r>
            <a:endParaRPr lang="en-US" sz="850" dirty="0"/>
          </a:p>
        </p:txBody>
      </p:sp>
      <p:pic>
        <p:nvPicPr>
          <p:cNvPr id="13" name="Image 4" descr="/home/user/CHAI-AI/assets/img/ad-yeouid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74794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4374794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여의도 상륙 작전 (숏폼)</a:t>
            </a:r>
            <a:endParaRPr lang="en-US" sz="850" dirty="0"/>
          </a:p>
        </p:txBody>
      </p:sp>
      <p:pic>
        <p:nvPicPr>
          <p:cNvPr id="15" name="Image 5" descr="/home/user/CHAI-AI/assets/img/ad-summer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91221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6" name="Text 8"/>
          <p:cNvSpPr/>
          <p:nvPr/>
        </p:nvSpPr>
        <p:spPr>
          <a:xfrm>
            <a:off x="8091221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찾았다 무더운 여름 시원하게 보내는 방법 (숏폼)</a:t>
            </a:r>
            <a:endParaRPr lang="en-US" sz="850" dirty="0"/>
          </a:p>
        </p:txBody>
      </p:sp>
      <p:sp>
        <p:nvSpPr>
          <p:cNvPr id="17" name="Text 9"/>
          <p:cNvSpPr/>
          <p:nvPr/>
        </p:nvSpPr>
        <p:spPr>
          <a:xfrm>
            <a:off x="658368" y="6053328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청호나이스 공식 유튜브</a:t>
            </a:r>
            <a:endParaRPr lang="en-US" sz="800" dirty="0"/>
          </a:p>
        </p:txBody>
      </p:sp>
      <p:sp>
        <p:nvSpPr>
          <p:cNvPr id="18" name="Text 1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9" name="Text 1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I-AI/assets/img/ad-coolcool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658368" y="1600200"/>
            <a:ext cx="3442106" cy="1936185"/>
          </a:xfrm>
          <a:prstGeom prst="rect">
            <a:avLst/>
          </a:prstGeom>
        </p:spPr>
      </p:pic>
      <p:pic>
        <p:nvPicPr>
          <p:cNvPr id="3" name="Image 1" descr="/home/user/CHAI-AI/assets/img/ad-lovelytree.jpg">    </p:cNvPr>
          <p:cNvPicPr>
            <a:picLocks noChangeAspect="1"/>
          </p:cNvPicPr>
          <p:nvPr/>
        </p:nvPicPr>
        <p:blipFill>
          <a:blip r:embed="rId2">
            <a:alphaModFix amt="28000"/>
          </a:blip>
          <a:srcRect l="0" r="0" t="0" b="0"/>
          <a:stretch/>
        </p:blipFill>
        <p:spPr>
          <a:xfrm>
            <a:off x="4374794" y="1600200"/>
            <a:ext cx="3442106" cy="1936185"/>
          </a:xfrm>
          <a:prstGeom prst="rect">
            <a:avLst/>
          </a:prstGeom>
        </p:spPr>
      </p:pic>
      <p:pic>
        <p:nvPicPr>
          <p:cNvPr id="4" name="Image 2" descr="/home/user/CHAI-AI/assets/img/ad-seongeutda.jpg">    </p:cNvPr>
          <p:cNvPicPr>
            <a:picLocks noChangeAspect="1"/>
          </p:cNvPicPr>
          <p:nvPr/>
        </p:nvPicPr>
        <p:blipFill>
          <a:blip r:embed="rId3">
            <a:alphaModFix amt="28000"/>
          </a:blip>
          <a:srcRect l="0" r="0" t="0" b="0"/>
          <a:stretch/>
        </p:blipFill>
        <p:spPr>
          <a:xfrm>
            <a:off x="8091221" y="1600200"/>
            <a:ext cx="3442106" cy="1936185"/>
          </a:xfrm>
          <a:prstGeom prst="rect">
            <a:avLst/>
          </a:prstGeom>
        </p:spPr>
      </p:pic>
      <p:pic>
        <p:nvPicPr>
          <p:cNvPr id="5" name="Image 3" descr="/home/user/CHAI-AI/assets/img/ad-blackedition.jpg">    </p:cNvPr>
          <p:cNvPicPr>
            <a:picLocks noChangeAspect="1"/>
          </p:cNvPicPr>
          <p:nvPr/>
        </p:nvPicPr>
        <p:blipFill>
          <a:blip r:embed="rId4">
            <a:alphaModFix amt="28000"/>
          </a:blip>
          <a:srcRect l="0" r="0" t="0" b="0"/>
          <a:stretch/>
        </p:blipFill>
        <p:spPr>
          <a:xfrm>
            <a:off x="658368" y="3856425"/>
            <a:ext cx="3442106" cy="1936185"/>
          </a:xfrm>
          <a:prstGeom prst="rect">
            <a:avLst/>
          </a:prstGeom>
        </p:spPr>
      </p:pic>
      <p:pic>
        <p:nvPicPr>
          <p:cNvPr id="6" name="Image 4" descr="/home/user/CHAI-AI/assets/img/ad-yeouido.jpg">    </p:cNvPr>
          <p:cNvPicPr>
            <a:picLocks noChangeAspect="1"/>
          </p:cNvPicPr>
          <p:nvPr/>
        </p:nvPicPr>
        <p:blipFill>
          <a:blip r:embed="rId5">
            <a:alphaModFix amt="28000"/>
          </a:blip>
          <a:srcRect l="0" r="0" t="0" b="0"/>
          <a:stretch/>
        </p:blipFill>
        <p:spPr>
          <a:xfrm>
            <a:off x="4374794" y="3856425"/>
            <a:ext cx="3442106" cy="1936185"/>
          </a:xfrm>
          <a:prstGeom prst="rect">
            <a:avLst/>
          </a:prstGeom>
        </p:spPr>
      </p:pic>
      <p:pic>
        <p:nvPicPr>
          <p:cNvPr id="7" name="Image 5" descr="/home/user/CHAI-AI/assets/img/ad-summer.jpg">    </p:cNvPr>
          <p:cNvPicPr>
            <a:picLocks noChangeAspect="1"/>
          </p:cNvPicPr>
          <p:nvPr/>
        </p:nvPicPr>
        <p:blipFill>
          <a:blip r:embed="rId6">
            <a:alphaModFix amt="28000"/>
          </a:blip>
          <a:srcRect l="0" r="0" t="0" b="0"/>
          <a:stretch/>
        </p:blipFill>
        <p:spPr>
          <a:xfrm>
            <a:off x="8091221" y="3856425"/>
            <a:ext cx="3442106" cy="1936185"/>
          </a:xfrm>
          <a:prstGeom prst="rect">
            <a:avLst/>
          </a:prstGeom>
        </p:spPr>
      </p:pic>
      <p:sp>
        <p:nvSpPr>
          <p:cNvPr id="8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8000"/>
            </a:srgbClr>
          </a:solidFill>
          <a:ln/>
        </p:spPr>
      </p:sp>
      <p:sp>
        <p:nvSpPr>
          <p:cNvPr id="9" name="Text 1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자산을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</a:t>
            </a:r>
            <a:endParaRPr lang="en-US" sz="2600" dirty="0"/>
          </a:p>
        </p:txBody>
      </p:sp>
      <p:pic>
        <p:nvPicPr>
          <p:cNvPr id="5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펭귄 광고 캐릭터</a:t>
            </a:r>
            <a:endParaRPr lang="en-US" sz="850" dirty="0"/>
          </a:p>
        </p:txBody>
      </p:sp>
      <p:pic>
        <p:nvPicPr>
          <p:cNvPr id="7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77251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2877251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얼음정수기의 기술과 역사</a:t>
            </a:r>
            <a:endParaRPr lang="en-US" sz="850" dirty="0"/>
          </a:p>
        </p:txBody>
      </p:sp>
      <p:pic>
        <p:nvPicPr>
          <p:cNvPr id="9" name="Image 2" descr="/home/user/CHAI-AI/assets/img/asset-espre-ne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96134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5096134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최초 커피 얼음정수기</a:t>
            </a:r>
            <a:endParaRPr lang="en-US" sz="850" dirty="0"/>
          </a:p>
        </p:txBody>
      </p:sp>
      <p:pic>
        <p:nvPicPr>
          <p:cNvPr id="11" name="Image 3" descr="/home/user/CHAI-AI/assets/img/asset-whicaf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15017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7315017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콘텐츠·휘카페 멤버십</a:t>
            </a:r>
            <a:endParaRPr lang="en-US" sz="850" dirty="0"/>
          </a:p>
        </p:txBody>
      </p:sp>
      <p:pic>
        <p:nvPicPr>
          <p:cNvPr id="13" name="Image 4" descr="/home/user/CHAI-AI/assets/img/peng-now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33900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9533900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 마스코트 캐릭터</a:t>
            </a:r>
            <a:endParaRPr lang="en-US" sz="850" dirty="0"/>
          </a:p>
        </p:txBody>
      </p:sp>
      <p:sp>
        <p:nvSpPr>
          <p:cNvPr id="15" name="Shape 8"/>
          <p:cNvSpPr/>
          <p:nvPr/>
        </p:nvSpPr>
        <p:spPr>
          <a:xfrm>
            <a:off x="658368" y="4352498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16" name="Text 9"/>
          <p:cNvSpPr/>
          <p:nvPr/>
        </p:nvSpPr>
        <p:spPr>
          <a:xfrm>
            <a:off x="658368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1603218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877251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3822101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5096134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얼음정수기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6040984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7315017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8259867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9533900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10478750" y="4297634"/>
            <a:ext cx="109728" cy="109728"/>
          </a:xfrm>
          <a:prstGeom prst="ellipse">
            <a:avLst/>
          </a:prstGeom>
          <a:solidFill>
            <a:srgbClr val="1E9B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658368" y="594360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 표현은 최종 제출 전 공식 자료로 재확인.</a:t>
            </a:r>
            <a:endParaRPr lang="en-US" sz="800" dirty="0"/>
          </a:p>
        </p:txBody>
      </p:sp>
      <p:sp>
        <p:nvSpPr>
          <p:cNvPr id="27" name="Text 20"/>
          <p:cNvSpPr/>
          <p:nvPr/>
        </p:nvSpPr>
        <p:spPr>
          <a:xfrm>
            <a:off x="7327087" y="594360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새로 만들 것이 아니라, 이미 있는 것을 다시 묶는다.</a:t>
            </a:r>
            <a:endParaRPr lang="en-US" sz="950" dirty="0"/>
          </a:p>
        </p:txBody>
      </p:sp>
      <p:sp>
        <p:nvSpPr>
          <p:cNvPr id="28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&amp; 인사이트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커피 소비와 홈카페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커피는 더 마시고,</a:t>
            </a:r>
            <a:endParaRPr lang="en-US" sz="24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마시는 곳은 </a:t>
            </a:r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집으로</a:t>
            </a:r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옮겨간다.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212848"/>
            <a:ext cx="5254600" cy="2670048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414016"/>
            <a:ext cx="470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마시나 · 국내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2670048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405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75688" y="2743200"/>
            <a:ext cx="356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 · 1인당 연간 커피 소비량
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2023년 · 프랑스에 이은 세계 2위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32688" y="331012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54480" y="3337560"/>
            <a:ext cx="3553816" cy="155448"/>
          </a:xfrm>
          <a:prstGeom prst="roundRect">
            <a:avLst>
              <a:gd name="adj" fmla="val 23529"/>
            </a:avLst>
          </a:prstGeom>
          <a:solidFill>
            <a:srgbClr val="F0F0F0"/>
          </a:solidFill>
          <a:ln/>
        </p:spPr>
      </p:sp>
      <p:sp>
        <p:nvSpPr>
          <p:cNvPr id="11" name="Shape 9"/>
          <p:cNvSpPr/>
          <p:nvPr/>
        </p:nvSpPr>
        <p:spPr>
          <a:xfrm>
            <a:off x="1554480" y="3337560"/>
            <a:ext cx="2612054" cy="155448"/>
          </a:xfrm>
          <a:prstGeom prst="roundRect">
            <a:avLst>
              <a:gd name="adj" fmla="val 23529"/>
            </a:avLst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5154016" y="33101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405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32688" y="3602736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세계 평균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554480" y="3630168"/>
            <a:ext cx="3553816" cy="155448"/>
          </a:xfrm>
          <a:prstGeom prst="roundRect">
            <a:avLst>
              <a:gd name="adj" fmla="val 23529"/>
            </a:avLst>
          </a:prstGeom>
          <a:solidFill>
            <a:srgbClr val="F0F0F0"/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3630168"/>
            <a:ext cx="980853" cy="155448"/>
          </a:xfrm>
          <a:prstGeom prst="roundRect">
            <a:avLst>
              <a:gd name="adj" fmla="val 23529"/>
            </a:avLst>
          </a:prstGeom>
          <a:solidFill>
            <a:srgbClr val="BFC0C4"/>
          </a:solidFill>
          <a:ln/>
        </p:spPr>
      </p:sp>
      <p:sp>
        <p:nvSpPr>
          <p:cNvPr id="16" name="Text 14"/>
          <p:cNvSpPr/>
          <p:nvPr/>
        </p:nvSpPr>
        <p:spPr>
          <a:xfrm>
            <a:off x="5154016" y="360273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32688" y="3968496"/>
            <a:ext cx="470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2018년 363잔에서 </a:t>
            </a:r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연평균 2.8%씩</a:t>
            </a:r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늘었다. 세계 평균의 2.7배를 마신다.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32688" y="4572000"/>
            <a:ext cx="470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유로모니터 · 2023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78728" y="2212848"/>
            <a:ext cx="5254600" cy="2670048"/>
          </a:xfrm>
          <a:prstGeom prst="roundRect">
            <a:avLst>
              <a:gd name="adj" fmla="val 3082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53048" y="2414016"/>
            <a:ext cx="470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집에서 내려 마시는 쪽으로 · 국내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53048" y="2670048"/>
            <a:ext cx="470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가정용 커피머신 보유율은 홈카페 확산을 보는 대표 지표다.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553048" y="3200400"/>
            <a:ext cx="14467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53048" y="3438144"/>
            <a:ext cx="1446733" cy="475488"/>
          </a:xfrm>
          <a:prstGeom prst="rect">
            <a:avLst/>
          </a:prstGeom>
          <a:solidFill>
            <a:srgbClr val="C9CBD0"/>
          </a:solidFill>
          <a:ln/>
        </p:spPr>
      </p:sp>
      <p:sp>
        <p:nvSpPr>
          <p:cNvPr id="24" name="Text 22"/>
          <p:cNvSpPr/>
          <p:nvPr/>
        </p:nvSpPr>
        <p:spPr>
          <a:xfrm>
            <a:off x="6553048" y="3959352"/>
            <a:ext cx="14467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82661" y="3072384"/>
            <a:ext cx="14467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182661" y="3310128"/>
            <a:ext cx="1446733" cy="603504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27" name="Text 25"/>
          <p:cNvSpPr/>
          <p:nvPr/>
        </p:nvSpPr>
        <p:spPr>
          <a:xfrm>
            <a:off x="8182661" y="3959352"/>
            <a:ext cx="14467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812274" y="2944368"/>
            <a:ext cx="14467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812274" y="3182112"/>
            <a:ext cx="1446733" cy="731520"/>
          </a:xfrm>
          <a:prstGeom prst="rect">
            <a:avLst/>
          </a:prstGeom>
          <a:solidFill>
            <a:srgbClr val="A9CCEC"/>
          </a:solidFill>
          <a:ln/>
        </p:spPr>
      </p:sp>
      <p:sp>
        <p:nvSpPr>
          <p:cNvPr id="30" name="Text 28"/>
          <p:cNvSpPr/>
          <p:nvPr/>
        </p:nvSpPr>
        <p:spPr>
          <a:xfrm>
            <a:off x="9812274" y="3959352"/>
            <a:ext cx="14467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2025년 전망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553048" y="4315968"/>
            <a:ext cx="470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볶은 커피 시장도 </a:t>
            </a:r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2018년 이후 연평균 두 자릿수</a:t>
            </a:r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커지고 있다.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553048" y="4572000"/>
            <a:ext cx="470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한국갤럽 가전 보유율 조사 · 언론 보도 재인용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58368" y="5065776"/>
            <a:ext cx="10874959" cy="475488"/>
          </a:xfrm>
          <a:prstGeom prst="roundRect">
            <a:avLst>
              <a:gd name="adj" fmla="val 17308"/>
            </a:avLst>
          </a:prstGeom>
          <a:solidFill>
            <a:srgbClr val="F5F5F7"/>
          </a:solidFill>
          <a:ln/>
        </p:spPr>
      </p:sp>
      <p:sp>
        <p:nvSpPr>
          <p:cNvPr id="34" name="Shape 32"/>
          <p:cNvSpPr/>
          <p:nvPr/>
        </p:nvSpPr>
        <p:spPr>
          <a:xfrm>
            <a:off x="877824" y="5193792"/>
            <a:ext cx="1051560" cy="219456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877824" y="51937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해외 기준 · 참고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075688" y="5065776"/>
            <a:ext cx="92290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가격이 오르자 커피는 집으로 옮겨갔다. 13개국 조사에서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70%가 매일 집에서 커피를 내리고, 55%가 가격 때문에 카페 소비를 줄였다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 답했다.  딜로이트 글로벌 커피 조사 2024 · 7,000명 · 국내 응답만 분리한 값은 아니다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8368" y="6035040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‘집에서 마시는 비율’ 자체를 직접 측정한 공식 통계는 확보 전이며, 보유율·시장 성장률로 대신했다.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509967" y="603504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그렇다면 집에서 마시는 사람은 누구인가.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타깃은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‘2030’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생활자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루틴러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마실 때마다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고민하지 않아도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된다는 것</a:t>
            </a:r>
            <a:endParaRPr lang="en-US" sz="2600" dirty="0"/>
          </a:p>
        </p:txBody>
      </p:sp>
      <p:pic>
        <p:nvPicPr>
          <p:cNvPr id="5" name="Image 0" descr="/home/user/CHAI-AI/assets/img/peng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3337560" cy="2194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43159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커피는 하루에 여러 번 필요하다. 문제는 마시는 순간이 아니라 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다시 정해야 하는 일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44568" y="1874520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8" name="Text 5"/>
          <p:cNvSpPr/>
          <p:nvPr/>
        </p:nvSpPr>
        <p:spPr>
          <a:xfrm>
            <a:off x="4745736" y="1874520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일상에서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커피를 필요로 하는 순간은?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2545" y="2770632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3713" y="2770632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아침엔 물 한 잔, 출근길엔 테이크아웃 커피, 오후엔 아이스커피, 운동 후엔 냉수까지. 하루에도 여러 번 마주쳐요.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44568" y="3666744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12" name="Text 9"/>
          <p:cNvSpPr/>
          <p:nvPr/>
        </p:nvSpPr>
        <p:spPr>
          <a:xfrm>
            <a:off x="4745736" y="3666744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근데 이런 걸 다 챙기는 게,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가능할까요?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2545" y="4562856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03713" y="4562856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하긴 하는데, 번거로울 땐 그냥 편의점에 가게 돼요. 생수를 사거나, 얼음을 사거나 하는거죠.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8368" y="59618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발화를 옮긴 것으로, 실제 응답으로 교체 예정.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327087" y="596188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 반복이 쌓이면 매달 나가는 비용과 시간이 된다.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경제성은 모두에게 같지 않다. 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어디서 마시느냐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달렸다.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084832"/>
            <a:ext cx="10874959" cy="402336"/>
          </a:xfrm>
          <a:prstGeom prst="roundRect">
            <a:avLst>
              <a:gd name="adj" fmla="val 20455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84832"/>
            <a:ext cx="103628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 전제      </a:t>
            </a:r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 렌탈 </a:t>
            </a:r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53,900원</a:t>
            </a:r>
            <a:pPr indent="0" marL="0">
              <a:buNone/>
            </a:pPr>
            <a:r>
              <a:rPr lang="en-US" sz="9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(5년 약정)      </a:t>
            </a:r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 캡슐 </a:t>
            </a:r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544원/잔</a:t>
            </a:r>
            <a:pPr indent="0" marL="0">
              <a:buNone/>
            </a:pPr>
            <a:r>
              <a:rPr lang="en-US" sz="9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(16개입 8,700원)      </a:t>
            </a:r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아이스아메리카노 </a:t>
            </a:r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저가 2,000 · 중가 3,500 · 프리미엄 4,700원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" y="2688336"/>
            <a:ext cx="346649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7824" y="2871216"/>
            <a:ext cx="3027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카페에서 사 마시던 사람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77824" y="314553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렌탈료를 커피값 절약만으로 회수하려면 </a:t>
            </a:r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이만큼 마셔야 한다.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7824" y="3602736"/>
            <a:ext cx="2277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저가 2,000원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91002" y="36027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37잔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77824" y="3913632"/>
            <a:ext cx="2277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중가 3,500원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91002" y="39136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18잔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77824" y="4224528"/>
            <a:ext cx="2277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프리미엄 4,700원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991002" y="42245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13잔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77824" y="4590288"/>
            <a:ext cx="30275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저가 커피만 마시면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8~9잔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은 되어야 한다. 매일 카페에 가는 사람이 아니면 회수가 쉽지 않다.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62602" y="2688336"/>
            <a:ext cx="3466490" cy="2377440"/>
          </a:xfrm>
          <a:prstGeom prst="roundRect">
            <a:avLst>
              <a:gd name="adj" fmla="val 3462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82058" y="2871216"/>
            <a:ext cx="3027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얼음정수기를 이미 고려 중인 사람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82058" y="314553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렌탈은 어차피 낼 돈이다. </a:t>
            </a:r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차액만 회수하면 된다.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82058" y="35844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4잔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145682" y="38039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이면 회수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82058" y="4151376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얼음정수기와의 렌탈료 차액이 약 5,000원. 저가 커피 기준으로도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1잔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집에서 마시면 상쇄된다.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82058" y="4681728"/>
            <a:ext cx="16916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82058" y="468172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설득력 있는 대상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066837" y="2688336"/>
            <a:ext cx="346649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6293" y="2871216"/>
            <a:ext cx="3027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집에서 드립·믹스를 마시던 사람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86293" y="3145536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잔당 원가가 </a:t>
            </a:r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비슷하다.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86293" y="3602736"/>
            <a:ext cx="22320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드립 1잔 (원두+필터)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353751" y="360273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650~950원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86293" y="3913632"/>
            <a:ext cx="22320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 캡슐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353751" y="391363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544원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86293" y="4315968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비용으로는 설득되지 않는다. 이들에게 파는 것은 값이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갈고 내리고 씻는 시간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58368" y="5248656"/>
            <a:ext cx="10874959" cy="566928"/>
          </a:xfrm>
          <a:prstGeom prst="roundRect">
            <a:avLst>
              <a:gd name="adj" fmla="val 1451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" y="5248656"/>
            <a:ext cx="103263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싸다’고 넓게 말하지 않는다. 카페를 자주 가는 사람과 정수기를 이미 고려하는 사람에게 </a:t>
            </a:r>
            <a:pPr algn="ctr" indent="0" marL="0">
              <a:buNone/>
            </a:pPr>
            <a:r>
              <a:rPr lang="en-US" sz="1300" b="1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숫자로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드립 사용자에게는 </a:t>
            </a:r>
            <a:pPr algn="ctr" indent="0" marL="0">
              <a:buNone/>
            </a:pPr>
            <a:r>
              <a:rPr lang="en-US" sz="1300" b="1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시간으로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말한다.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58368" y="594360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렌탈료·캡슐가는 공식몰 및 판매처 기준. 드립 원가와 카페 중가·프리미엄 단가는 가정치.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509967" y="594360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그런데 돈보다 먼저 무너지는 건 따로 있다.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제품이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왜 캐릭터인가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되살린 사례 · 두꺼비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왜 펭귄인가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펭귄의 역할 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01 제품이 맡을 역할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02 왜 캐릭터인가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캐릭터가 왜 통하는지는 이미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연구되어 있다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210312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작동하는가 · 학술 근거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359152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46888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아무 캐릭터나 통하지는 않는다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68833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사물에 사람 성격을 입히면 사람들은 그 대상을 더 좋게 본다. 다만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제품의 특징과 그 성격이 맞을 때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그렇다.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1248" y="2999232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McGill, Journal of Consumer Research (2007)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3255264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36499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신뢰가 브랜드로 옮겨간다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358444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캐릭터를 믿게 되면 그 호감이 브랜드로 넘어간다. 그 브랜드를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모르는 사람일수록 효과가 컸다.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청호나이스를 아직 모르는 2030이 여기 해당한다.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41248" y="3895344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Garretson &amp; Niedrich, Journal of Advertising (2004)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58368" y="4151376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261104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반복하면 기억의 단서가 된다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" y="44805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캐릭터를 오래 쓰면 브랜드를 떠올리게 하는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구별 자산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된다. 인지도와 고유성 두 축으로 관리한다.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41248" y="4791456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Romaniuk, Ehrenberg-Bass. 17장 검증 설계가 이 두 축을 쓴다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230368" y="2103120"/>
            <a:ext cx="6302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효과가 있었는가 · 광고 효과 조사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30368" y="2359152"/>
            <a:ext cx="6302959" cy="713232"/>
          </a:xfrm>
          <a:prstGeom prst="roundRect">
            <a:avLst>
              <a:gd name="adj" fmla="val 11538"/>
            </a:avLst>
          </a:prstGeom>
          <a:solidFill>
            <a:srgbClr val="F5F5F7"/>
          </a:solidFill>
          <a:ln/>
        </p:spPr>
      </p:sp>
      <p:sp>
        <p:nvSpPr>
          <p:cNvPr id="20" name="Text 18"/>
          <p:cNvSpPr/>
          <p:nvPr/>
        </p:nvSpPr>
        <p:spPr>
          <a:xfrm>
            <a:off x="5413248" y="2450592"/>
            <a:ext cx="5937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조사기관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미국 슈퍼볼 광고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2020~2023년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분을 분석했다. 시청자의 감정 반응을 측정해, 그 광고가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장기적으로 브랜드를 키울 가능성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1.0~5.9점으로 환산한 점수다.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30368" y="316382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 광고  37%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29984" y="3200400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9984" y="3200400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4" name="Text 22"/>
          <p:cNvSpPr/>
          <p:nvPr/>
        </p:nvSpPr>
        <p:spPr>
          <a:xfrm>
            <a:off x="11112703" y="32004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51129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없는 광고  38%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29984" y="3547872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9984" y="3547872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8" name="Text 26"/>
          <p:cNvSpPr/>
          <p:nvPr/>
        </p:nvSpPr>
        <p:spPr>
          <a:xfrm>
            <a:off x="11112703" y="35478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30368" y="385876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소유한</a:t>
            </a:r>
            <a:endParaRPr lang="en-US" sz="9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캐릭터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29984" y="389534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9984" y="3895344"/>
            <a:ext cx="2384737" cy="237744"/>
          </a:xfrm>
          <a:prstGeom prst="roundRect">
            <a:avLst>
              <a:gd name="adj" fmla="val 19231"/>
            </a:avLst>
          </a:prstGeom>
          <a:solidFill>
            <a:srgbClr val="0057FF"/>
          </a:solidFill>
          <a:ln/>
        </p:spPr>
      </p:sp>
      <p:sp>
        <p:nvSpPr>
          <p:cNvPr id="32" name="Text 30"/>
          <p:cNvSpPr/>
          <p:nvPr/>
        </p:nvSpPr>
        <p:spPr>
          <a:xfrm>
            <a:off x="11112703" y="389534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9984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612866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보통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495749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양호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9378631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강함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0754889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5.9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230368" y="4425696"/>
            <a:ext cx="63029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수십 년째 같은 캐릭터를 쓰는 브랜드들</a:t>
            </a:r>
            <a:endParaRPr lang="en-US" sz="950" dirty="0"/>
          </a:p>
        </p:txBody>
      </p:sp>
      <p:pic>
        <p:nvPicPr>
          <p:cNvPr id="39" name="Image 0" descr="/home/user/CHAI-AI/assets/img/mascot-michel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0368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0" name="Text 37"/>
          <p:cNvSpPr/>
          <p:nvPr/>
        </p:nvSpPr>
        <p:spPr>
          <a:xfrm>
            <a:off x="5230368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미쉐린 비벤덤 1898~</a:t>
            </a:r>
            <a:endParaRPr lang="en-US" sz="700" dirty="0"/>
          </a:p>
        </p:txBody>
      </p:sp>
      <p:pic>
        <p:nvPicPr>
          <p:cNvPr id="41" name="Image 1" descr="/home/user/CHAI-AI/assets/img/mascot-ronal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86218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2" name="Text 38"/>
          <p:cNvSpPr/>
          <p:nvPr/>
        </p:nvSpPr>
        <p:spPr>
          <a:xfrm>
            <a:off x="7386218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맥도날드 로날드 1963~</a:t>
            </a:r>
            <a:endParaRPr lang="en-US" sz="700" dirty="0"/>
          </a:p>
        </p:txBody>
      </p:sp>
      <p:pic>
        <p:nvPicPr>
          <p:cNvPr id="43" name="Image 2" descr="/home/user/CHAI-AI/assets/img/mascot-doughbo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42069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4" name="Text 39"/>
          <p:cNvSpPr/>
          <p:nvPr/>
        </p:nvSpPr>
        <p:spPr>
          <a:xfrm>
            <a:off x="9542069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필즈베리 도우보이 1965~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658368" y="5468112"/>
            <a:ext cx="10874959" cy="658368"/>
          </a:xfrm>
          <a:prstGeom prst="roundRect">
            <a:avLst>
              <a:gd name="adj" fmla="val 12500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658368" y="555040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이론에서도, 실제 광고 성적에서도 같은 쪽을 가리킨다.</a:t>
            </a:r>
            <a:endParaRPr lang="en-US" sz="1450" dirty="0"/>
          </a:p>
        </p:txBody>
      </p:sp>
      <p:sp>
        <p:nvSpPr>
          <p:cNvPr id="47" name="Text 42"/>
          <p:cNvSpPr/>
          <p:nvPr/>
        </p:nvSpPr>
        <p:spPr>
          <a:xfrm>
            <a:off x="658368" y="58338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CE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연예인의 주목은 빌려 쓰는 것이고, 캐릭터는 브랜드에 남는다. 정수기 광고에는 아직 그런 캐릭터가 없다.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658368" y="6236208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McGill(2007) · Garretson &amp; Niedrich(2004) · Romaniuk, Ehrenberg-Bass · System1 슈퍼볼 광고 2020~2023 분석.</a:t>
            </a:r>
            <a:endParaRPr lang="en-US" sz="750" dirty="0"/>
          </a:p>
        </p:txBody>
      </p:sp>
      <p:sp>
        <p:nvSpPr>
          <p:cNvPr id="49" name="Text 44"/>
          <p:cNvSpPr/>
          <p:nvPr/>
        </p:nvSpPr>
        <p:spPr>
          <a:xfrm>
            <a:off x="7875727" y="62179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그런데 우리는 캐릭터를 새로 만들 필요가 없다.</a:t>
            </a:r>
            <a:endParaRPr lang="en-US" sz="900" dirty="0"/>
          </a:p>
        </p:txBody>
      </p:sp>
      <p:sp>
        <p:nvSpPr>
          <p:cNvPr id="50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1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03 되살린 사례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두꺼비를,</a:t>
            </a:r>
            <a:endParaRPr lang="en-US" sz="22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자리에 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앉혔다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10874959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2140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리트로 브랜딩 연구는 성공한 부활을 </a:t>
            </a:r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의미에 지금의 기능을 얹은 것</a:t>
            </a:r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설명한다. 두꺼비가 밟은 순서가 그대로다.  Brown, Kozinets &amp; Sherry, Journal of Marketing (2003)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자산</a:t>
            </a:r>
            <a:endParaRPr lang="en-US" sz="1050" dirty="0"/>
          </a:p>
        </p:txBody>
      </p:sp>
      <p:pic>
        <p:nvPicPr>
          <p:cNvPr id="8" name="Image 0" descr="/home/user/CHAI-AI/assets/img/jinro-isba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926080"/>
            <a:ext cx="2788920" cy="14630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58368" y="4443984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1950년대 진로 상표의 두꺼비. 1990년대에 광고에서 사라졌다가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2019년 4월 ‘진로 이즈백’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돌아왔다.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뒷벽에 옛 두꺼비 그림이 걸려 있다.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3703320" y="2651760"/>
            <a:ext cx="60012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바꿨나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03320" y="2944368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30358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197096" y="3017520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외형은 복원하고, 타깃은 옮겼다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197096" y="3227832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70~80년대 라벨과 캐릭터는 그대로 살리되, 말을 거는 세대를 2030으로 바꿨다.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703320" y="3566160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67912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197096" y="3639312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캐릭터만 바꾸지 않았다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197096" y="3849624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도수를 16.9도로 낮춰 제품 자체를 젊은 층 입맛에 맞췄다. 캐릭터와 제품이 같은 말을 했다.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703320" y="4187952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67912" y="4279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97096" y="4261104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편으로 끝내지 않았다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197096" y="4471416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‘두껍상회’·굿즈·인스타 숏폼·웹예능으로 같은 캐릭터를 반복해 쌓았다.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960559" y="265176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960559" y="2944368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0559" y="300837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0015423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연간 판매 목표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달성까지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9960559" y="3566160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60559" y="363016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15억 병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0015423" y="38770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4년 만의 누적 판매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(2023.4)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9960559" y="4187952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960559" y="425196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45만 명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10015423" y="44988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캐릭터샵 ‘두껍상회’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방문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658368" y="493776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191919"/>
          </a:solidFill>
          <a:ln/>
        </p:spPr>
      </p:sp>
      <p:sp>
        <p:nvSpPr>
          <p:cNvPr id="35" name="Text 32"/>
          <p:cNvSpPr/>
          <p:nvPr/>
        </p:nvSpPr>
        <p:spPr>
          <a:xfrm>
            <a:off x="914400" y="5138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이렇게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적용한다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2395728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옮긴다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2395728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‘얼음정수기 광고 캐릭터’에서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다시 정의한다.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447690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같은 말을 시킨다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447690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줄여주는 준비를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에스프레카페가 실제로 줄이는 일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일치시킨다.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499653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축적한다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8499653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숏폼·계산기·팝업·굿즈·CRM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같은 펭귄을 반복한다.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658368" y="588873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하이트진로 보도자료 및 언론 보도(누적 판매 15억 병 2023.4 기준, 두껍상회 누적 방문 45만 명), 이노션 캠페인 사례. 상세 링크는 부록.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04 왜 펭귄인가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그중에서도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선택한 이유.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6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41248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70432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가진 자산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만들거나 빌리는 것보다, 청호나이스의 얼음정수기 역사와 연결할 수 있다.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41248" y="4023360"/>
            <a:ext cx="217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인지도는 조사 전이므로 ‘보유한 과거 광고 자산 후보’로 말한다.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436544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12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36544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3" name="Text 9"/>
          <p:cNvSpPr/>
          <p:nvPr/>
        </p:nvSpPr>
        <p:spPr>
          <a:xfrm>
            <a:off x="3619424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948608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의미가 맞는다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3619424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설명 없이도 떠올리게 한다.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619424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619424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4122344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122344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차가움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721276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721276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시원함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3619424" y="4288536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619424" y="4288536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깨끗함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6214720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25" name="Image 2" descr="/home/user/CHAI-AI/assets/img/peng-no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4720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26" name="Text 21"/>
          <p:cNvSpPr/>
          <p:nvPr/>
        </p:nvSpPr>
        <p:spPr>
          <a:xfrm>
            <a:off x="6397600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6726784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하나로 압축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397600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정수·얼음·커피·세척·관리를 따로 설명하면 복잡하다.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6397600" y="4023360"/>
            <a:ext cx="2174672" cy="4572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/>
        </p:spPr>
      </p:sp>
      <p:sp>
        <p:nvSpPr>
          <p:cNvPr id="30" name="Text 25"/>
          <p:cNvSpPr/>
          <p:nvPr/>
        </p:nvSpPr>
        <p:spPr>
          <a:xfrm>
            <a:off x="6470752" y="4023360"/>
            <a:ext cx="202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</a:t>
            </a:r>
            <a:endParaRPr lang="en-US" sz="9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8992895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32" name="Image 3" descr="/home/user/CHAI-AI/assets/img/peng-hom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92895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33" name="Text 27"/>
          <p:cNvSpPr/>
          <p:nvPr/>
        </p:nvSpPr>
        <p:spPr>
          <a:xfrm>
            <a:off x="9175775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9504959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뒤에도 계속</a:t>
            </a:r>
            <a:endParaRPr lang="en-US" sz="1150" dirty="0"/>
          </a:p>
        </p:txBody>
      </p:sp>
      <p:sp>
        <p:nvSpPr>
          <p:cNvPr id="35" name="Text 29"/>
          <p:cNvSpPr/>
          <p:nvPr/>
        </p:nvSpPr>
        <p:spPr>
          <a:xfrm>
            <a:off x="9175775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한 캠페인의 주목을 만들고, 마스코트는 채널마다 쌓인다.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9175775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9175775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9678695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9678695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계산기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10277627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10277627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9175775" y="4288536"/>
            <a:ext cx="7178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9175775" y="4288536"/>
            <a:ext cx="7178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</a:t>
            </a:r>
            <a:endParaRPr lang="en-US" sz="800" dirty="0"/>
          </a:p>
        </p:txBody>
      </p:sp>
      <p:sp>
        <p:nvSpPr>
          <p:cNvPr id="44" name="Shape 38"/>
          <p:cNvSpPr/>
          <p:nvPr/>
        </p:nvSpPr>
        <p:spPr>
          <a:xfrm>
            <a:off x="9966731" y="4288536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9966731" y="4288536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</a:t>
            </a:r>
            <a:endParaRPr lang="en-US" sz="800" dirty="0"/>
          </a:p>
        </p:txBody>
      </p:sp>
      <p:sp>
        <p:nvSpPr>
          <p:cNvPr id="46" name="Shape 40"/>
          <p:cNvSpPr/>
          <p:nvPr/>
        </p:nvSpPr>
        <p:spPr>
          <a:xfrm>
            <a:off x="10565663" y="4288536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10565663" y="428853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굿즈</a:t>
            </a:r>
            <a:endParaRPr lang="en-US" sz="800" dirty="0"/>
          </a:p>
        </p:txBody>
      </p:sp>
      <p:sp>
        <p:nvSpPr>
          <p:cNvPr id="48" name="Shape 42"/>
          <p:cNvSpPr/>
          <p:nvPr/>
        </p:nvSpPr>
        <p:spPr>
          <a:xfrm>
            <a:off x="658368" y="5202936"/>
            <a:ext cx="10874959" cy="548640"/>
          </a:xfrm>
          <a:prstGeom prst="roundRect">
            <a:avLst>
              <a:gd name="adj" fmla="val 15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658368" y="5202936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핵심 효과는 친근함이 아니라, </a:t>
            </a:r>
            <a:pPr algn="ctr" indent="0" marL="0">
              <a:buNone/>
            </a:pPr>
            <a:r>
              <a:rPr lang="en-US" sz="14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콘텐츠를 하나의 브랜드 인상으로 묶는 것</a:t>
            </a:r>
            <a:pPr algn="ctr" indent="0" marL="0">
              <a:buNone/>
            </a:pPr>
            <a:r>
              <a:rPr lang="en-US" sz="14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450" dirty="0"/>
          </a:p>
        </p:txBody>
      </p:sp>
      <p:sp>
        <p:nvSpPr>
          <p:cNvPr id="50" name="Text 44"/>
          <p:cNvSpPr/>
          <p:nvPr/>
        </p:nvSpPr>
        <p:spPr>
          <a:xfrm>
            <a:off x="7327087" y="58613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 펭귄을 그때 모습 그대로 쓸 수는 없다.</a:t>
            </a:r>
            <a:endParaRPr lang="en-US" sz="950" dirty="0"/>
          </a:p>
        </p:txBody>
      </p:sp>
      <p:sp>
        <p:nvSpPr>
          <p:cNvPr id="51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2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05 역할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pic>
        <p:nvPicPr>
          <p:cNvPr id="7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932688" y="4251960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9" name="Text 6"/>
          <p:cNvSpPr/>
          <p:nvPr/>
        </p:nvSpPr>
        <p:spPr>
          <a:xfrm>
            <a:off x="108813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" y="4562856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1" name="Text 8"/>
          <p:cNvSpPr/>
          <p:nvPr/>
        </p:nvSpPr>
        <p:spPr>
          <a:xfrm>
            <a:off x="108813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32688" y="487375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0"/>
          <p:cNvSpPr/>
          <p:nvPr/>
        </p:nvSpPr>
        <p:spPr>
          <a:xfrm>
            <a:off x="108813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844388" y="342442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34730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191919"/>
          </a:solidFill>
          <a:ln/>
        </p:spPr>
      </p:sp>
      <p:sp>
        <p:nvSpPr>
          <p:cNvPr id="16" name="Text 13"/>
          <p:cNvSpPr/>
          <p:nvPr/>
        </p:nvSpPr>
        <p:spPr>
          <a:xfrm>
            <a:off x="660334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pic>
        <p:nvPicPr>
          <p:cNvPr id="17" name="Image 1" descr="/home/user/CHAI-AI/assets/img/peng-now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0334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8" name="Shape 14"/>
          <p:cNvSpPr/>
          <p:nvPr/>
        </p:nvSpPr>
        <p:spPr>
          <a:xfrm>
            <a:off x="6621628" y="4251960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19" name="Text 15"/>
          <p:cNvSpPr/>
          <p:nvPr/>
        </p:nvSpPr>
        <p:spPr>
          <a:xfrm>
            <a:off x="677707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21628" y="4562856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7"/>
          <p:cNvSpPr/>
          <p:nvPr/>
        </p:nvSpPr>
        <p:spPr>
          <a:xfrm>
            <a:off x="677707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21628" y="4873752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3" name="Text 19"/>
          <p:cNvSpPr/>
          <p:nvPr/>
        </p:nvSpPr>
        <p:spPr>
          <a:xfrm>
            <a:off x="677707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58368" y="5404104"/>
            <a:ext cx="10874959" cy="731520"/>
          </a:xfrm>
          <a:prstGeom prst="roundRect">
            <a:avLst>
              <a:gd name="adj" fmla="val 1125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0" y="5504688"/>
            <a:ext cx="12191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0" y="5715000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658368" y="624535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리런칭은 대표 펭귄 한 마리로 시작. 캐릭터군 확장은 마스코트가 정착한 뒤 단계.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06 자산 검증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현재 가치를 검증해, 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수준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결정한다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기억보다 중요한 것은, 지금의 청호나이스를 더 잘 기억시키는가이다.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1975104"/>
            <a:ext cx="5355184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19751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 1 · 기억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709928" y="1975104"/>
            <a:ext cx="412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광고가 지금도 기억되는가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78144" y="1975104"/>
            <a:ext cx="5355184" cy="365760"/>
          </a:xfrm>
          <a:prstGeom prst="roundRect">
            <a:avLst>
              <a:gd name="adj" fmla="val 225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9312" y="19751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 2 · 효과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229704" y="1975104"/>
            <a:ext cx="412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현대화된 펭귄이 캐릭터 없는 안보다 나은가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2487168"/>
            <a:ext cx="255414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633472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심층 인터뷰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41248" y="2889504"/>
            <a:ext cx="918972" cy="20116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2889504"/>
            <a:ext cx="9189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IDI 8~12명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" y="3163824"/>
            <a:ext cx="21883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펭귄에 대한 답이 아니라, 판단 기준을 찾는다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1248" y="35478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1~2인 가구 · 아이스커피 주 3~4회 이상 · 정수기 사용/비사용 혼합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41248" y="40050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노출 순서  생활 행동 → 제품 → 브랜드 → 과거 광고 → 현대화 펭귄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41248" y="4480560"/>
            <a:ext cx="2188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펭귄을 보여주면 우호적으로 편향된다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431972" y="2487168"/>
            <a:ext cx="255414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14852" y="2633472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인지도 조사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14852" y="2889504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14852" y="2889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설문 N=150~200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614852" y="3163824"/>
            <a:ext cx="21883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광고가 기억되는지 숫자로 본다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14852" y="35478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비보조 회상 → 광고 보조 인지 → 청호나이스 정확 연결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614852" y="40050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‘본 적 있다’와 ‘브랜드를 맞혔다’를 분리해 집계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614852" y="4480560"/>
            <a:ext cx="2188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광고만 기억하고 브랜드를 모르면 자산으로 보기 어렵다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205576" y="2487168"/>
            <a:ext cx="255414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8456" y="2633472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콘셉트 실험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388456" y="2889504"/>
            <a:ext cx="918972" cy="201168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88456" y="2889504"/>
            <a:ext cx="9189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A/B/C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388456" y="3163824"/>
            <a:ext cx="21883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현대화 펭귄이 실제로 더 나은가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88456" y="35478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과거 원형 · B 현대화 펭귄 · C 캐릭터 없음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388456" y="40050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1안만 무작위 노출, B와 C의 차이를 본다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88456" y="4480560"/>
            <a:ext cx="2188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나란히 보여주면 취향 투표가 된다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8979179" y="2487168"/>
            <a:ext cx="255414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62059" y="2633472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효과 검증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162059" y="2889504"/>
            <a:ext cx="1307592" cy="20116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62059" y="2889504"/>
            <a:ext cx="1307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지연 회상 · 캠페인 전후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9162059" y="3163824"/>
            <a:ext cx="21883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기억이 브랜드와 제품까지 갔는가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162059" y="35478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기억 · 제품 이해 · 관심 · 렌탈 고려 · 프리미엄 이미지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162059" y="40050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4~5개 뒤에 브랜드를 되묻는다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9162059" y="4480560"/>
            <a:ext cx="2188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펭귄만 남고 제품이 남지 않는 비율을 본다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58368" y="51023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결과에 따른 활용 수준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121408" y="5065776"/>
            <a:ext cx="2263826" cy="310896"/>
          </a:xfrm>
          <a:prstGeom prst="roundRect">
            <a:avLst>
              <a:gd name="adj" fmla="val 20588"/>
            </a:avLst>
          </a:prstGeom>
          <a:solidFill>
            <a:srgbClr val="0057FF"/>
          </a:solidFill>
          <a:ln/>
        </p:spPr>
      </p:sp>
      <p:sp>
        <p:nvSpPr>
          <p:cNvPr id="46" name="Text 44"/>
          <p:cNvSpPr/>
          <p:nvPr/>
        </p:nvSpPr>
        <p:spPr>
          <a:xfrm>
            <a:off x="2267712" y="5065776"/>
            <a:ext cx="19712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적극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504106" y="5065776"/>
            <a:ext cx="2263826" cy="310896"/>
          </a:xfrm>
          <a:prstGeom prst="roundRect">
            <a:avLst>
              <a:gd name="adj" fmla="val 20588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50410" y="5065776"/>
            <a:ext cx="19712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 </a:t>
            </a:r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 마스코트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886804" y="5065776"/>
            <a:ext cx="2263826" cy="310896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7033108" y="5065776"/>
            <a:ext cx="19712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 </a:t>
            </a:r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아카이브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9269501" y="5065776"/>
            <a:ext cx="2263826" cy="310896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9415805" y="5065776"/>
            <a:ext cx="19712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  </a:t>
            </a:r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전략에서 제외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58368" y="5705856"/>
            <a:ext cx="10874959" cy="457200"/>
          </a:xfrm>
          <a:prstGeom prst="roundRect">
            <a:avLst>
              <a:gd name="adj" fmla="val 18000"/>
            </a:avLst>
          </a:prstGeom>
          <a:solidFill>
            <a:srgbClr val="191919"/>
          </a:solidFill>
          <a:ln/>
        </p:spPr>
      </p:sp>
      <p:sp>
        <p:nvSpPr>
          <p:cNvPr id="54" name="Text 52"/>
          <p:cNvSpPr/>
          <p:nvPr/>
        </p:nvSpPr>
        <p:spPr>
          <a:xfrm>
            <a:off x="658368" y="5705856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인지도를 묻는 데서 끝나지 않고, 현대화된 펭귄이 </a:t>
            </a:r>
            <a:pPr algn="ctr" indent="0" marL="0">
              <a:buNone/>
            </a:pPr>
            <a:r>
              <a:rPr lang="en-US" sz="1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 없는 커뮤니케이션보다 더 나은 브랜드·제품 효과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만드는지 검증한다.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&amp; 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2026-07-28T07:00:21Z</dcterms:created>
  <dcterms:modified xsi:type="dcterms:W3CDTF">2026-07-28T07:00:21Z</dcterms:modified>
</cp:coreProperties>
</file>